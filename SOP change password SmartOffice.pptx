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6.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Layouts/slideLayout8.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5.xml" ContentType="application/vnd.openxmlformats-officedocument.presentationml.slide+xml"/>
  <Override PartName="/ppt/slideLayouts/slideLayout2.xml" ContentType="application/vnd.openxmlformats-officedocument.presentationml.slideLayout+xml"/>
  <Override PartName="/ppt/slides/slide3.xml" ContentType="application/vnd.openxmlformats-officedocument.presentationml.slide+xml"/>
  <Override PartName="/ppt/notesMasters/notesMaster1.xml" ContentType="application/vnd.openxmlformats-officedocument.presentationml.notesMaster+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notesSlides/notesSlide3.xml" ContentType="application/vnd.openxmlformats-officedocument.presentationml.notesSlide+xml"/>
  <Override PartName="/ppt/presProps.xml" ContentType="application/vnd.openxmlformats-officedocument.presentationml.presProps+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12192000" cy="6858000"/>
  <p:notesSz cx="12192000" cy="6858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94AD9CDA-BDD7-5A1A-8191-5F3719DA3A3E}">
  <a:tblStyle styleId="{94AD9CDA-BDD7-5A1A-8191-5F3719DA3A3E}"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pos="2160" orient="horz"/>
        <p:guide pos="2880"/>
      </p:guideLst>
    </p:cSldViewPr>
  </p:slideViewPr>
  <p:notesTextViewPr>
    <p:cViewPr>
      <p:scale>
        <a:sx n="100" d="100"/>
        <a:sy n="100" d="100"/>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hidden="0"/>
        <p:cNvGrpSpPr/>
        <p:nvPr isPhoto="0" userDrawn="0"/>
      </p:nvGrpSpPr>
      <p:grpSpPr bwMode="auto">
        <a:xfrm>
          <a:off x="0" y="0"/>
          <a:ext cx="0" cy="0"/>
          <a:chOff x="0" y="0"/>
          <a:chExt cx="0" cy="0"/>
        </a:xfrm>
      </p:grpSpPr>
      <p:sp>
        <p:nvSpPr>
          <p:cNvPr id="2" name="Header Placeholder 1" hidden="0"/>
          <p:cNvSpPr>
            <a:spLocks noGrp="1"/>
          </p:cNvSpPr>
          <p:nvPr isPhoto="0" userDrawn="0">
            <p:ph type="hdr" sz="quarter" hasCustomPrompt="0"/>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hidden="0"/>
          <p:cNvSpPr>
            <a:spLocks noGrp="1"/>
          </p:cNvSpPr>
          <p:nvPr isPhoto="0" userDrawn="0">
            <p:ph type="dt" idx="1" hasCustomPrompt="0"/>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A16D3F73-4B6A-460F-A6CC-403554D8B1C4}" type="datetimeFigureOut">
              <a:rPr lang="en-US"/>
              <a:t/>
            </a:fld>
            <a:endParaRPr lang="en-US"/>
          </a:p>
        </p:txBody>
      </p:sp>
      <p:sp>
        <p:nvSpPr>
          <p:cNvPr id="4" name="Slide Image Placeholder 3" hidden="0"/>
          <p:cNvSpPr>
            <a:spLocks noChangeAspect="1" noGrp="1" noRot="1"/>
          </p:cNvSpPr>
          <p:nvPr isPhoto="0" userDrawn="0">
            <p:ph type="sldImg" idx="2" hasCustomPrompt="0"/>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hidden="0"/>
          <p:cNvSpPr>
            <a:spLocks noGrp="1"/>
          </p:cNvSpPr>
          <p:nvPr isPhoto="0" userDrawn="0">
            <p:ph type="body" sz="quarter" idx="3" hasCustomPrompt="0"/>
          </p:nvPr>
        </p:nvSpPr>
        <p:spPr bwMode="auto">
          <a:xfrm>
            <a:off x="685800" y="4400550"/>
            <a:ext cx="5486400" cy="3600450"/>
          </a:xfrm>
          <a:prstGeom prst="rect">
            <a:avLst/>
          </a:prstGeom>
        </p:spPr>
        <p:txBody>
          <a:bodyPr vert="horz" lIns="91440" tIns="45720" rIns="91440" bIns="45720" rtlCol="0"/>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 name="Footer Placeholder 5" hidden="0"/>
          <p:cNvSpPr>
            <a:spLocks noGrp="1"/>
          </p:cNvSpPr>
          <p:nvPr isPhoto="0" userDrawn="0">
            <p:ph type="ftr" sz="quarter" idx="4" hasCustomPrompt="0"/>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hidden="0"/>
          <p:cNvSpPr>
            <a:spLocks noGrp="1"/>
          </p:cNvSpPr>
          <p:nvPr isPhoto="0" userDrawn="0">
            <p:ph type="sldNum" sz="quarter" idx="5" hasCustomPrompt="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3C966B70-9C1B-4B5E-8700-BCBB8140AAE4}" type="slidenum">
              <a:rPr lang="en-US"/>
              <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2" name="Slide Image Placeholder 1" hidden="0"/>
          <p:cNvSpPr>
            <a:spLocks noChangeAspect="1" noGrp="1" noRot="1"/>
          </p:cNvSpPr>
          <p:nvPr isPhoto="0" userDrawn="0">
            <p:ph type="sldImg" hasCustomPrompt="0"/>
          </p:nvPr>
        </p:nvSpPr>
        <p:spPr bwMode="auto"/>
      </p:sp>
      <p:sp>
        <p:nvSpPr>
          <p:cNvPr id="3" name="Notes Placeholder 2" hidden="0"/>
          <p:cNvSpPr>
            <a:spLocks noGrp="1"/>
          </p:cNvSpPr>
          <p:nvPr isPhoto="0" userDrawn="0">
            <p:ph type="body" idx="1" hasCustomPrompt="0"/>
          </p:nvPr>
        </p:nvSpPr>
        <p:spPr bwMode="auto"/>
        <p:txBody>
          <a:bodyPr/>
          <a:lstStyle/>
          <a:p>
            <a:pPr>
              <a:defRPr/>
            </a:pPr>
            <a:r>
              <a:rPr lang="zh-TW" sz="1200" b="1" i="0">
                <a:solidFill>
                  <a:schemeClr val="tx1"/>
                </a:solidFill>
                <a:latin typeface="+mn-lt"/>
                <a:ea typeface="+mn-ea"/>
                <a:cs typeface="+mn-cs"/>
              </a:rPr>
              <a:t>新密碼原則：</a:t>
            </a:r>
            <a:br>
              <a:rPr lang="zh-TW"/>
            </a:br>
            <a:r>
              <a:rPr lang="en-US" sz="1200" b="1" i="0">
                <a:solidFill>
                  <a:schemeClr val="tx1"/>
                </a:solidFill>
                <a:latin typeface="+mn-lt"/>
                <a:ea typeface="+mn-ea"/>
                <a:cs typeface="+mn-cs"/>
              </a:rPr>
              <a:t>1. </a:t>
            </a:r>
            <a:r>
              <a:rPr lang="zh-TW" sz="1200" b="1" i="0">
                <a:solidFill>
                  <a:schemeClr val="tx1"/>
                </a:solidFill>
                <a:latin typeface="+mn-lt"/>
                <a:ea typeface="+mn-ea"/>
                <a:cs typeface="+mn-cs"/>
              </a:rPr>
              <a:t>新密碼長度必須</a:t>
            </a:r>
            <a:r>
              <a:rPr lang="en-US" sz="1200" b="1" i="0">
                <a:solidFill>
                  <a:schemeClr val="tx1"/>
                </a:solidFill>
                <a:latin typeface="+mn-lt"/>
                <a:ea typeface="+mn-ea"/>
                <a:cs typeface="+mn-cs"/>
              </a:rPr>
              <a:t>12</a:t>
            </a:r>
            <a:r>
              <a:rPr lang="zh-TW" sz="1200" b="1" i="0">
                <a:solidFill>
                  <a:schemeClr val="tx1"/>
                </a:solidFill>
                <a:latin typeface="+mn-lt"/>
                <a:ea typeface="+mn-ea"/>
                <a:cs typeface="+mn-cs"/>
              </a:rPr>
              <a:t>位</a:t>
            </a:r>
            <a:r>
              <a:rPr lang="en-US" sz="1200" b="1" i="0">
                <a:solidFill>
                  <a:schemeClr val="tx1"/>
                </a:solidFill>
                <a:latin typeface="+mn-lt"/>
                <a:ea typeface="+mn-ea"/>
                <a:cs typeface="+mn-cs"/>
              </a:rPr>
              <a:t>(</a:t>
            </a:r>
            <a:r>
              <a:rPr lang="zh-TW" sz="1200" b="1" i="0">
                <a:solidFill>
                  <a:schemeClr val="tx1"/>
                </a:solidFill>
                <a:latin typeface="+mn-lt"/>
                <a:ea typeface="+mn-ea"/>
                <a:cs typeface="+mn-cs"/>
              </a:rPr>
              <a:t>含</a:t>
            </a:r>
            <a:r>
              <a:rPr lang="en-US" sz="1200" b="1" i="0">
                <a:solidFill>
                  <a:schemeClr val="tx1"/>
                </a:solidFill>
                <a:latin typeface="+mn-lt"/>
                <a:ea typeface="+mn-ea"/>
                <a:cs typeface="+mn-cs"/>
              </a:rPr>
              <a:t>)</a:t>
            </a:r>
            <a:r>
              <a:rPr lang="zh-TW" sz="1200" b="1" i="0">
                <a:solidFill>
                  <a:schemeClr val="tx1"/>
                </a:solidFill>
                <a:latin typeface="+mn-lt"/>
                <a:ea typeface="+mn-ea"/>
                <a:cs typeface="+mn-cs"/>
              </a:rPr>
              <a:t>以上，且必須含有數字、字母及特殊字符；</a:t>
            </a:r>
            <a:br>
              <a:rPr lang="zh-TW"/>
            </a:br>
            <a:r>
              <a:rPr lang="zh-TW" sz="1200" b="1" i="0">
                <a:solidFill>
                  <a:schemeClr val="tx1"/>
                </a:solidFill>
                <a:latin typeface="+mn-lt"/>
                <a:ea typeface="+mn-ea"/>
                <a:cs typeface="+mn-cs"/>
              </a:rPr>
              <a:t>特殊符號僅包含</a:t>
            </a:r>
            <a:r>
              <a:rPr lang="en-US" sz="1200" b="1" i="0">
                <a:solidFill>
                  <a:schemeClr val="tx1"/>
                </a:solidFill>
                <a:latin typeface="+mn-lt"/>
                <a:ea typeface="+mn-ea"/>
                <a:cs typeface="+mn-cs"/>
              </a:rPr>
              <a:t>!,@,#,$,%,^,&amp;,*,?,_,~,-,</a:t>
            </a:r>
            <a:r>
              <a:rPr lang="zh-TW" sz="1200" b="1" i="0">
                <a:solidFill>
                  <a:schemeClr val="tx1"/>
                </a:solidFill>
                <a:latin typeface="+mn-lt"/>
                <a:ea typeface="+mn-ea"/>
                <a:cs typeface="+mn-cs"/>
              </a:rPr>
              <a:t>￡</a:t>
            </a:r>
            <a:r>
              <a:rPr lang="en-US" sz="1200" b="1" i="0">
                <a:solidFill>
                  <a:schemeClr val="tx1"/>
                </a:solidFill>
                <a:latin typeface="+mn-lt"/>
                <a:ea typeface="+mn-ea"/>
                <a:cs typeface="+mn-cs"/>
              </a:rPr>
              <a:t>,(,)</a:t>
            </a:r>
            <a:br>
              <a:rPr lang="zh-TW"/>
            </a:br>
            <a:r>
              <a:rPr lang="en-US" sz="1200" b="1" i="0">
                <a:solidFill>
                  <a:schemeClr val="tx1"/>
                </a:solidFill>
                <a:latin typeface="+mn-lt"/>
                <a:ea typeface="+mn-ea"/>
                <a:cs typeface="+mn-cs"/>
              </a:rPr>
              <a:t>2. </a:t>
            </a:r>
            <a:r>
              <a:rPr lang="zh-TW" sz="1200" b="1" i="0">
                <a:solidFill>
                  <a:schemeClr val="tx1"/>
                </a:solidFill>
                <a:latin typeface="+mn-lt"/>
                <a:ea typeface="+mn-ea"/>
                <a:cs typeface="+mn-cs"/>
              </a:rPr>
              <a:t>新密碼不能與最近</a:t>
            </a:r>
            <a:r>
              <a:rPr lang="en-US" sz="1200" b="1" i="0">
                <a:solidFill>
                  <a:schemeClr val="tx1"/>
                </a:solidFill>
                <a:latin typeface="+mn-lt"/>
                <a:ea typeface="+mn-ea"/>
                <a:cs typeface="+mn-cs"/>
              </a:rPr>
              <a:t>12</a:t>
            </a:r>
            <a:r>
              <a:rPr lang="zh-TW" sz="1200" b="1" i="0">
                <a:solidFill>
                  <a:schemeClr val="tx1"/>
                </a:solidFill>
                <a:latin typeface="+mn-lt"/>
                <a:ea typeface="+mn-ea"/>
                <a:cs typeface="+mn-cs"/>
              </a:rPr>
              <a:t>次所修改的密碼相同</a:t>
            </a:r>
            <a:endParaRPr lang="en-US" sz="1200" b="1" i="0">
              <a:solidFill>
                <a:schemeClr val="tx1"/>
              </a:solidFill>
              <a:latin typeface="+mn-lt"/>
              <a:ea typeface="+mn-ea"/>
              <a:cs typeface="+mn-cs"/>
            </a:endParaRPr>
          </a:p>
          <a:p>
            <a:pPr>
              <a:defRPr/>
            </a:pPr>
            <a:r>
              <a:rPr lang="zh-TW"/>
              <a:t>注意：密碼有效期為</a:t>
            </a:r>
            <a:r>
              <a:rPr lang="en-US"/>
              <a:t>30</a:t>
            </a:r>
            <a:r>
              <a:rPr lang="zh-TW"/>
              <a:t>天，</a:t>
            </a:r>
            <a:r>
              <a:rPr lang="zh-CN"/>
              <a:t>以</a:t>
            </a:r>
            <a:r>
              <a:rPr lang="zh-TW"/>
              <a:t>避免密碼過期，請在密碼過期前更改密碼。</a:t>
            </a:r>
            <a:endParaRPr lang="en-US"/>
          </a:p>
        </p:txBody>
      </p:sp>
      <p:sp>
        <p:nvSpPr>
          <p:cNvPr id="4" name="Slide Number Placeholder 3" hidden="0"/>
          <p:cNvSpPr>
            <a:spLocks noGrp="1"/>
          </p:cNvSpPr>
          <p:nvPr isPhoto="0" userDrawn="0">
            <p:ph type="sldNum" sz="quarter" idx="10" hasCustomPrompt="0"/>
          </p:nvPr>
        </p:nvSpPr>
        <p:spPr bwMode="auto"/>
        <p:txBody>
          <a:bodyPr/>
          <a:lstStyle/>
          <a:p>
            <a:pPr>
              <a:defRPr/>
            </a:pPr>
            <a:fld id="{3C966B70-9C1B-4B5E-8700-BCBB8140AAE4}" type="slidenum">
              <a:rPr lang="en-US"/>
              <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2" name="Slide Image Placeholder 1" hidden="0"/>
          <p:cNvSpPr>
            <a:spLocks noChangeAspect="1" noGrp="1" noRot="1"/>
          </p:cNvSpPr>
          <p:nvPr isPhoto="0" userDrawn="0">
            <p:ph type="sldImg" hasCustomPrompt="0"/>
          </p:nvPr>
        </p:nvSpPr>
        <p:spPr bwMode="auto"/>
      </p:sp>
      <p:sp>
        <p:nvSpPr>
          <p:cNvPr id="3" name="Notes Placeholder 2" hidden="0"/>
          <p:cNvSpPr>
            <a:spLocks noGrp="1"/>
          </p:cNvSpPr>
          <p:nvPr isPhoto="0" userDrawn="0">
            <p:ph type="body" idx="1" hasCustomPrompt="0"/>
          </p:nvPr>
        </p:nvSpPr>
        <p:spPr bwMode="auto"/>
        <p:txBody>
          <a:bodyPr/>
          <a:lstStyle/>
          <a:p>
            <a:pPr>
              <a:defRPr/>
            </a:pPr>
            <a:endParaRPr lang="en-US"/>
          </a:p>
          <a:p>
            <a:pPr>
              <a:defRPr/>
            </a:pPr>
            <a:r>
              <a:rPr lang="en-US"/>
              <a:t>New password guidelines:</a:t>
            </a:r>
            <a:endParaRPr/>
          </a:p>
          <a:p>
            <a:pPr marL="228600" indent="-228600">
              <a:buAutoNum type="arabicPeriod"/>
              <a:defRPr/>
            </a:pPr>
            <a:r>
              <a:rPr lang="en-US"/>
              <a:t>The length of the new password must be more than 12 characters (including) and must contain numbers, letters and special characters;</a:t>
            </a:r>
            <a:endParaRPr/>
          </a:p>
          <a:p>
            <a:pPr marL="0" indent="0">
              <a:buNone/>
              <a:defRPr/>
            </a:pPr>
            <a:r>
              <a:rPr lang="en-US"/>
              <a:t>      </a:t>
            </a:r>
            <a:r>
              <a:rPr lang="en-US"/>
              <a:t>Special symbols include only !, @, #, $, %, ^, &amp;, *, ?, _, ~, -, ￡, (,)</a:t>
            </a:r>
            <a:endParaRPr/>
          </a:p>
          <a:p>
            <a:pPr marL="0" indent="0">
              <a:buNone/>
              <a:defRPr/>
            </a:pPr>
            <a:r>
              <a:rPr lang="en-US"/>
              <a:t>2.   The new password must not be the same as the password changed in the last 12 times</a:t>
            </a:r>
            <a:endParaRPr/>
          </a:p>
          <a:p>
            <a:pPr marL="0" marR="0" indent="0" algn="l" defTabSz="914400">
              <a:lnSpc>
                <a:spcPct val="100000"/>
              </a:lnSpc>
              <a:spcBef>
                <a:spcPts val="0"/>
              </a:spcBef>
              <a:spcAft>
                <a:spcPts val="0"/>
              </a:spcAft>
              <a:buClrTx/>
              <a:buSzTx/>
              <a:buFontTx/>
              <a:buNone/>
              <a:defRPr/>
            </a:pPr>
            <a:r>
              <a:rPr lang="en-US"/>
              <a:t>Note: The password is valid for 30 days, to avoid the password being overdue, please change it before the password expires.</a:t>
            </a:r>
            <a:endParaRPr/>
          </a:p>
          <a:p>
            <a:pPr>
              <a:defRPr/>
            </a:pPr>
            <a:endParaRPr lang="en-US" sz="1200"/>
          </a:p>
          <a:p>
            <a:pPr>
              <a:defRPr/>
            </a:pPr>
            <a:r>
              <a:rPr lang="vi-VN" sz="1200"/>
              <a:t>Nguyên tắc mật khẩu mới:</a:t>
            </a:r>
            <a:endParaRPr/>
          </a:p>
          <a:p>
            <a:pPr>
              <a:defRPr/>
            </a:pPr>
            <a:r>
              <a:rPr lang="vi-VN" sz="1200"/>
              <a:t>1. Độ dài của mật khẩu mới phải trên 12 ký tự (bao gồm cả) và phải chứa số, chữ cái và các ký tự đặc biệt;</a:t>
            </a:r>
            <a:endParaRPr/>
          </a:p>
          <a:p>
            <a:pPr>
              <a:defRPr/>
            </a:pPr>
            <a:r>
              <a:rPr lang="vi-VN" sz="1200"/>
              <a:t>Các ký hiệu đặc biệt chỉ bao gồm!, @, #, $,%, ^, &amp;, *,?, _, ~, -, ￡, (,)</a:t>
            </a:r>
            <a:endParaRPr/>
          </a:p>
          <a:p>
            <a:pPr>
              <a:defRPr/>
            </a:pPr>
            <a:r>
              <a:rPr lang="vi-VN" sz="1200"/>
              <a:t>2. Mật khẩu mới không được giống với mật khẩu đã thay đổi trong 12 lần gần đây nhất</a:t>
            </a:r>
            <a:endParaRPr lang="en-US" sz="1200"/>
          </a:p>
          <a:p>
            <a:pPr marL="0" marR="0" indent="0" algn="l" defTabSz="914400">
              <a:lnSpc>
                <a:spcPct val="100000"/>
              </a:lnSpc>
              <a:spcBef>
                <a:spcPts val="0"/>
              </a:spcBef>
              <a:spcAft>
                <a:spcPts val="0"/>
              </a:spcAft>
              <a:buClrTx/>
              <a:buSzTx/>
              <a:buFontTx/>
              <a:buNone/>
              <a:defRPr/>
            </a:pPr>
            <a:r>
              <a:rPr lang="en-US" sz="1200" b="0">
                <a:solidFill>
                  <a:srgbClr val="FF0000"/>
                </a:solidFill>
              </a:rPr>
              <a:t>Lưu ý: Mật khẩu có giá trị trong 30 ngày, để tránh mật khẩu bị quá hạn, vui lòng đổi mật trước khi mật khẩu hết hạn</a:t>
            </a:r>
            <a:r>
              <a:rPr lang="en-US" sz="1200" b="0"/>
              <a:t>.</a:t>
            </a:r>
            <a:endParaRPr/>
          </a:p>
        </p:txBody>
      </p:sp>
      <p:sp>
        <p:nvSpPr>
          <p:cNvPr id="4" name="Slide Number Placeholder 3" hidden="0"/>
          <p:cNvSpPr>
            <a:spLocks noGrp="1"/>
          </p:cNvSpPr>
          <p:nvPr isPhoto="0" userDrawn="0">
            <p:ph type="sldNum" sz="quarter" idx="10" hasCustomPrompt="0"/>
          </p:nvPr>
        </p:nvSpPr>
        <p:spPr bwMode="auto"/>
        <p:txBody>
          <a:bodyPr/>
          <a:lstStyle/>
          <a:p>
            <a:pPr>
              <a:defRPr/>
            </a:pPr>
            <a:fld id="{3C966B70-9C1B-4B5E-8700-BCBB8140AAE4}" type="slidenum">
              <a:rPr lang="en-US"/>
              <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2" name="Slide Image Placeholder 1" hidden="0"/>
          <p:cNvSpPr>
            <a:spLocks noChangeAspect="1" noGrp="1" noRot="1"/>
          </p:cNvSpPr>
          <p:nvPr isPhoto="0" userDrawn="0">
            <p:ph type="sldImg" hasCustomPrompt="0"/>
          </p:nvPr>
        </p:nvSpPr>
        <p:spPr bwMode="auto"/>
      </p:sp>
      <p:sp>
        <p:nvSpPr>
          <p:cNvPr id="3" name="Notes Placeholder 2" hidden="0"/>
          <p:cNvSpPr>
            <a:spLocks noGrp="1"/>
          </p:cNvSpPr>
          <p:nvPr isPhoto="0" userDrawn="0">
            <p:ph type="body" idx="1" hasCustomPrompt="0"/>
          </p:nvPr>
        </p:nvSpPr>
        <p:spPr bwMode="auto"/>
        <p:txBody>
          <a:bodyPr/>
          <a:lstStyle/>
          <a:p>
            <a:pPr marL="0" marR="0" indent="0" algn="l" defTabSz="914400">
              <a:lnSpc>
                <a:spcPct val="100000"/>
              </a:lnSpc>
              <a:spcBef>
                <a:spcPts val="0"/>
              </a:spcBef>
              <a:spcAft>
                <a:spcPts val="0"/>
              </a:spcAft>
              <a:buClrTx/>
              <a:buSzTx/>
              <a:buFontTx/>
              <a:buNone/>
              <a:defRPr/>
            </a:pPr>
            <a:r>
              <a:rPr lang="en-US"/>
              <a:t>1</a:t>
            </a:r>
            <a:r>
              <a:rPr lang="zh-TW"/>
              <a:t>：登錄</a:t>
            </a:r>
            <a:r>
              <a:rPr lang="en-US"/>
              <a:t>GCRC</a:t>
            </a:r>
            <a:r>
              <a:rPr lang="zh-TW"/>
              <a:t>系統：</a:t>
            </a:r>
            <a:r>
              <a:rPr lang="en-US" sz="1200">
                <a:solidFill>
                  <a:srgbClr val="5877B6"/>
                </a:solidFill>
              </a:rPr>
              <a:t>https://gcrc.efoxconn.com/#/CRC</a:t>
            </a:r>
            <a:endParaRPr lang="en-US"/>
          </a:p>
          <a:p>
            <a:pPr>
              <a:defRPr/>
            </a:pPr>
            <a:r>
              <a:rPr lang="en-US"/>
              <a:t>2</a:t>
            </a:r>
            <a:r>
              <a:rPr lang="zh-TW"/>
              <a:t>：點擊</a:t>
            </a:r>
            <a:r>
              <a:rPr lang="zh-CN"/>
              <a:t>“</a:t>
            </a:r>
            <a:r>
              <a:rPr lang="zh-CN" i="1"/>
              <a:t>網域賬號密碼修改</a:t>
            </a:r>
            <a:r>
              <a:rPr lang="en-US" i="1"/>
              <a:t>/</a:t>
            </a:r>
            <a:r>
              <a:rPr lang="zh-CN" i="1"/>
              <a:t>重置”“</a:t>
            </a:r>
            <a:endParaRPr lang="en-US" i="1"/>
          </a:p>
          <a:p>
            <a:pPr>
              <a:defRPr/>
            </a:pPr>
            <a:r>
              <a:rPr lang="en-US"/>
              <a:t>3</a:t>
            </a:r>
            <a:r>
              <a:rPr lang="zh-TW"/>
              <a:t>：點擊“</a:t>
            </a:r>
            <a:r>
              <a:rPr lang="zh-TW" i="1"/>
              <a:t>重置密碼</a:t>
            </a:r>
            <a:r>
              <a:rPr lang="zh-TW"/>
              <a:t>”</a:t>
            </a:r>
            <a:endParaRPr lang="en-US"/>
          </a:p>
          <a:p>
            <a:pPr>
              <a:defRPr/>
            </a:pPr>
            <a:r>
              <a:rPr lang="en-US"/>
              <a:t>4</a:t>
            </a:r>
            <a:r>
              <a:rPr lang="zh-TW"/>
              <a:t>：</a:t>
            </a:r>
            <a:r>
              <a:rPr lang="zh-CN"/>
              <a:t>寫入您的工號</a:t>
            </a:r>
            <a:endParaRPr lang="en-US"/>
          </a:p>
          <a:p>
            <a:pPr>
              <a:defRPr/>
            </a:pPr>
            <a:r>
              <a:rPr lang="en-US"/>
              <a:t>5</a:t>
            </a:r>
            <a:r>
              <a:rPr lang="zh-TW"/>
              <a:t>：點擊“</a:t>
            </a:r>
            <a:r>
              <a:rPr lang="zh-TW" i="1"/>
              <a:t>重置</a:t>
            </a:r>
            <a:r>
              <a:rPr lang="zh-TW"/>
              <a:t>”</a:t>
            </a:r>
            <a:endParaRPr lang="en-US"/>
          </a:p>
          <a:p>
            <a:pPr>
              <a:defRPr/>
            </a:pPr>
            <a:endParaRPr lang="en-US"/>
          </a:p>
          <a:p>
            <a:pPr>
              <a:defRPr/>
            </a:pPr>
            <a:r>
              <a:rPr lang="zh-CN"/>
              <a:t>注意：在此部分</a:t>
            </a:r>
            <a:r>
              <a:rPr lang="zh-TW"/>
              <a:t>，對於系統上沒有郵件的用戶，請在密碼過期前重新設置密碼；</a:t>
            </a:r>
            <a:r>
              <a:rPr lang="zh-CN"/>
              <a:t>若賬號密碼已經過期</a:t>
            </a:r>
            <a:r>
              <a:rPr lang="zh-TW"/>
              <a:t>，請</a:t>
            </a:r>
            <a:r>
              <a:rPr lang="zh-CN"/>
              <a:t>郵件給</a:t>
            </a:r>
            <a:r>
              <a:rPr lang="en-US"/>
              <a:t>IT</a:t>
            </a:r>
            <a:r>
              <a:rPr lang="zh-CN"/>
              <a:t>部門說明需求，</a:t>
            </a:r>
            <a:r>
              <a:rPr lang="en-US"/>
              <a:t>IT</a:t>
            </a:r>
            <a:r>
              <a:rPr lang="zh-CN"/>
              <a:t>將協助重置密碼處理（有你主管的確認）。</a:t>
            </a:r>
            <a:endParaRPr lang="en-US"/>
          </a:p>
          <a:p>
            <a:pPr>
              <a:defRPr/>
            </a:pPr>
            <a:r>
              <a:rPr lang="zh-TW"/>
              <a:t>請在郵件中註明您的姓名、卡號、部門、卡照片</a:t>
            </a:r>
            <a:r>
              <a:rPr lang="zh-CN"/>
              <a:t>等信息以</a:t>
            </a:r>
            <a:r>
              <a:rPr lang="en-US"/>
              <a:t>IT</a:t>
            </a:r>
            <a:r>
              <a:rPr lang="zh-TW"/>
              <a:t>人員核對信息</a:t>
            </a:r>
            <a:endParaRPr lang="en-US"/>
          </a:p>
        </p:txBody>
      </p:sp>
      <p:sp>
        <p:nvSpPr>
          <p:cNvPr id="4" name="Slide Number Placeholder 3" hidden="0"/>
          <p:cNvSpPr>
            <a:spLocks noGrp="1"/>
          </p:cNvSpPr>
          <p:nvPr isPhoto="0" userDrawn="0">
            <p:ph type="sldNum" sz="quarter" idx="10" hasCustomPrompt="0"/>
          </p:nvPr>
        </p:nvSpPr>
        <p:spPr bwMode="auto"/>
        <p:txBody>
          <a:bodyPr/>
          <a:lstStyle/>
          <a:p>
            <a:pPr>
              <a:defRPr/>
            </a:pPr>
            <a:fld id="{3C966B70-9C1B-4B5E-8700-BCBB8140AAE4}" type="slidenum">
              <a:rPr lang="en-US"/>
              <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hidden="0"/>
        <p:cNvGrpSpPr/>
        <p:nvPr isPhoto="0" userDrawn="0"/>
      </p:nvGrpSpPr>
      <p:grpSpPr bwMode="auto">
        <a:xfrm>
          <a:off x="0" y="0"/>
          <a:ext cx="0" cy="0"/>
          <a:chOff x="0" y="0"/>
          <a:chExt cx="0" cy="0"/>
        </a:xfrm>
      </p:grpSpPr>
      <p:sp>
        <p:nvSpPr>
          <p:cNvPr id="2" name="Slide Image Placeholder 1" hidden="0"/>
          <p:cNvSpPr>
            <a:spLocks noChangeAspect="1" noGrp="1" noRot="1"/>
          </p:cNvSpPr>
          <p:nvPr isPhoto="0" userDrawn="0">
            <p:ph type="sldImg" hasCustomPrompt="0"/>
          </p:nvPr>
        </p:nvSpPr>
        <p:spPr bwMode="auto"/>
      </p:sp>
      <p:sp>
        <p:nvSpPr>
          <p:cNvPr id="3" name="Notes Placeholder 2" hidden="0"/>
          <p:cNvSpPr>
            <a:spLocks noGrp="1"/>
          </p:cNvSpPr>
          <p:nvPr isPhoto="0" userDrawn="0">
            <p:ph type="body" idx="1" hasCustomPrompt="0"/>
          </p:nvPr>
        </p:nvSpPr>
        <p:spPr bwMode="auto"/>
        <p:txBody>
          <a:bodyPr/>
          <a:lstStyle/>
          <a:p>
            <a:pPr marL="0" marR="0" indent="0" algn="l" defTabSz="914400">
              <a:lnSpc>
                <a:spcPct val="100000"/>
              </a:lnSpc>
              <a:spcBef>
                <a:spcPts val="0"/>
              </a:spcBef>
              <a:spcAft>
                <a:spcPts val="0"/>
              </a:spcAft>
              <a:buClrTx/>
              <a:buSzTx/>
              <a:buFontTx/>
              <a:buNone/>
              <a:defRPr/>
            </a:pPr>
            <a:r>
              <a:rPr lang="en-US" sz="1100">
                <a:latin typeface="Times New Roman"/>
                <a:cs typeface="Times New Roman"/>
              </a:rPr>
              <a:t>Step 1: Log in to the GCRC system: </a:t>
            </a:r>
            <a:r>
              <a:rPr lang="en-US" sz="1100">
                <a:solidFill>
                  <a:srgbClr val="5877B6"/>
                </a:solidFill>
                <a:latin typeface="Times New Roman"/>
                <a:cs typeface="Times New Roman"/>
              </a:rPr>
              <a:t>https://gcrc.efoxconn.com/#/CRC</a:t>
            </a:r>
            <a:endParaRPr lang="en-US" sz="1100">
              <a:latin typeface="Times New Roman"/>
              <a:cs typeface="Times New Roman"/>
            </a:endParaRPr>
          </a:p>
          <a:p>
            <a:pPr>
              <a:defRPr/>
            </a:pPr>
            <a:r>
              <a:rPr lang="en-US" sz="1100">
                <a:latin typeface="Times New Roman"/>
                <a:cs typeface="Times New Roman"/>
              </a:rPr>
              <a:t>Step 2: Click on “AD PWD</a:t>
            </a:r>
            <a:r>
              <a:rPr lang="en-US" sz="1100">
                <a:latin typeface="Times New Roman"/>
                <a:cs typeface="Times New Roman"/>
              </a:rPr>
              <a:t> Change/Reset” </a:t>
            </a:r>
            <a:endParaRPr/>
          </a:p>
          <a:p>
            <a:pPr>
              <a:defRPr/>
            </a:pPr>
            <a:r>
              <a:rPr lang="en-US" sz="1100">
                <a:latin typeface="Times New Roman"/>
                <a:cs typeface="Times New Roman"/>
              </a:rPr>
              <a:t>Step 3: Click </a:t>
            </a:r>
            <a:r>
              <a:rPr lang="en-US" sz="1100">
                <a:latin typeface="Times New Roman"/>
                <a:cs typeface="Times New Roman"/>
              </a:rPr>
              <a:t>on</a:t>
            </a:r>
            <a:r>
              <a:rPr lang="en-US" sz="1100">
                <a:latin typeface="Times New Roman"/>
                <a:cs typeface="Times New Roman"/>
              </a:rPr>
              <a:t> “</a:t>
            </a:r>
            <a:r>
              <a:rPr lang="zh-CN" sz="1100">
                <a:latin typeface="Times New Roman"/>
                <a:cs typeface="Times New Roman"/>
              </a:rPr>
              <a:t>重置密码”  </a:t>
            </a:r>
            <a:r>
              <a:rPr lang="en-US" sz="1100">
                <a:latin typeface="Times New Roman"/>
                <a:cs typeface="Times New Roman"/>
              </a:rPr>
              <a:t>Reset Password</a:t>
            </a:r>
            <a:endParaRPr/>
          </a:p>
          <a:p>
            <a:pPr>
              <a:defRPr/>
            </a:pPr>
            <a:r>
              <a:rPr lang="en-US" sz="1100">
                <a:latin typeface="Times New Roman"/>
                <a:cs typeface="Times New Roman"/>
              </a:rPr>
              <a:t>Step 4: Fill your Employee No</a:t>
            </a:r>
            <a:endParaRPr/>
          </a:p>
          <a:p>
            <a:pPr>
              <a:defRPr/>
            </a:pPr>
            <a:r>
              <a:rPr lang="en-US" sz="1100">
                <a:latin typeface="Times New Roman"/>
                <a:cs typeface="Times New Roman"/>
              </a:rPr>
              <a:t>Step 5: Click “</a:t>
            </a:r>
            <a:r>
              <a:rPr lang="zh-CN" sz="1100">
                <a:latin typeface="Times New Roman"/>
                <a:cs typeface="Times New Roman"/>
              </a:rPr>
              <a:t>重置”  </a:t>
            </a:r>
            <a:r>
              <a:rPr lang="en-US" sz="1100">
                <a:latin typeface="Times New Roman"/>
                <a:cs typeface="Times New Roman"/>
              </a:rPr>
              <a:t>Reset</a:t>
            </a:r>
            <a:endParaRPr/>
          </a:p>
          <a:p>
            <a:pPr>
              <a:defRPr/>
            </a:pPr>
            <a:r>
              <a:rPr lang="en-US" sz="1100">
                <a:latin typeface="Times New Roman"/>
                <a:cs typeface="Times New Roman"/>
              </a:rPr>
              <a:t>Note: In this section, for users who do not have mail on the system, please reset the password before the password expires; If it's over time to change the password, please send an email to IT with the consent of the owners so that IT can assist you in resetting your password. In the email, it is required to specify full name, card </a:t>
            </a:r>
            <a:r>
              <a:rPr lang="en-US" sz="1100">
                <a:latin typeface="Times New Roman"/>
                <a:cs typeface="Times New Roman"/>
              </a:rPr>
              <a:t>number</a:t>
            </a:r>
            <a:r>
              <a:rPr lang="en-US" sz="1100">
                <a:latin typeface="Times New Roman"/>
                <a:cs typeface="Times New Roman"/>
              </a:rPr>
              <a:t>, department, card photo... for IT staff to verify information</a:t>
            </a:r>
            <a:endParaRPr/>
          </a:p>
          <a:p>
            <a:pPr>
              <a:defRPr/>
            </a:pPr>
            <a:endParaRPr lang="en-US" sz="1100">
              <a:latin typeface="Times New Roman"/>
              <a:cs typeface="Times New Roman"/>
            </a:endParaRPr>
          </a:p>
          <a:p>
            <a:pPr>
              <a:defRPr/>
            </a:pPr>
            <a:r>
              <a:rPr lang="en-US" sz="1100">
                <a:latin typeface="Times New Roman"/>
                <a:cs typeface="Times New Roman"/>
              </a:rPr>
              <a:t>Bước 1: Đăng</a:t>
            </a:r>
            <a:r>
              <a:rPr lang="en-US" sz="1100">
                <a:latin typeface="Times New Roman"/>
                <a:cs typeface="Times New Roman"/>
              </a:rPr>
              <a:t> nhập hệ thống GCRC: </a:t>
            </a:r>
            <a:endParaRPr/>
          </a:p>
          <a:p>
            <a:pPr>
              <a:defRPr/>
            </a:pPr>
            <a:r>
              <a:rPr lang="en-US" sz="1100">
                <a:latin typeface="Times New Roman"/>
                <a:cs typeface="Times New Roman"/>
              </a:rPr>
              <a:t>Bước </a:t>
            </a:r>
            <a:r>
              <a:rPr lang="en-US" sz="1100">
                <a:latin typeface="Times New Roman"/>
                <a:cs typeface="Times New Roman"/>
              </a:rPr>
              <a:t>2: Nhấp vào dịch vụ thay đổi/ đặt lại mật khẩu.</a:t>
            </a:r>
            <a:endParaRPr/>
          </a:p>
          <a:p>
            <a:pPr>
              <a:defRPr/>
            </a:pPr>
            <a:r>
              <a:rPr lang="en-US" sz="1100">
                <a:latin typeface="Times New Roman"/>
                <a:cs typeface="Times New Roman"/>
              </a:rPr>
              <a:t>Bước</a:t>
            </a:r>
            <a:r>
              <a:rPr lang="en-US" sz="1100">
                <a:latin typeface="Times New Roman"/>
                <a:cs typeface="Times New Roman"/>
              </a:rPr>
              <a:t> 3: Nhấp vào “Đặt lại mật khẩu”</a:t>
            </a:r>
            <a:endParaRPr/>
          </a:p>
          <a:p>
            <a:pPr>
              <a:defRPr/>
            </a:pPr>
            <a:r>
              <a:rPr lang="en-US" sz="1100">
                <a:latin typeface="Times New Roman"/>
                <a:cs typeface="Times New Roman"/>
              </a:rPr>
              <a:t>Bước</a:t>
            </a:r>
            <a:r>
              <a:rPr lang="en-US" sz="1100">
                <a:latin typeface="Times New Roman"/>
                <a:cs typeface="Times New Roman"/>
              </a:rPr>
              <a:t> 4: Điền MÃ THẺ </a:t>
            </a:r>
            <a:endParaRPr/>
          </a:p>
          <a:p>
            <a:pPr>
              <a:defRPr/>
            </a:pPr>
            <a:r>
              <a:rPr lang="en-US" sz="1100">
                <a:latin typeface="Times New Roman"/>
                <a:cs typeface="Times New Roman"/>
              </a:rPr>
              <a:t>Bước</a:t>
            </a:r>
            <a:r>
              <a:rPr lang="en-US" sz="1100">
                <a:latin typeface="Times New Roman"/>
                <a:cs typeface="Times New Roman"/>
              </a:rPr>
              <a:t> 5: Nhấp “Đặt lại”</a:t>
            </a:r>
            <a:endParaRPr/>
          </a:p>
          <a:p>
            <a:pPr>
              <a:defRPr/>
            </a:pPr>
            <a:r>
              <a:rPr lang="en-US" sz="1100">
                <a:latin typeface="Times New Roman"/>
                <a:cs typeface="Times New Roman"/>
              </a:rPr>
              <a:t>Chú ý: Ở mục này, với những user không có mail trên hệ thống, vui lòng đặt lại mật khẩu trước khi mật khẩu hết hạn; </a:t>
            </a:r>
            <a:endParaRPr/>
          </a:p>
          <a:p>
            <a:pPr>
              <a:defRPr/>
            </a:pPr>
            <a:r>
              <a:rPr lang="en-US" sz="1100">
                <a:latin typeface="Times New Roman"/>
                <a:cs typeface="Times New Roman"/>
              </a:rPr>
              <a:t>Nếu quá thời gian thay đổi mật khẩu thì người dùng vui lòng gửi mail cho IT, có sự đồng ý của các chủ quản để IT hỗ trợ đặt lại mật khẩu cho các bạn.</a:t>
            </a:r>
            <a:endParaRPr/>
          </a:p>
          <a:p>
            <a:pPr>
              <a:defRPr/>
            </a:pPr>
            <a:r>
              <a:rPr lang="en-US" sz="1100">
                <a:latin typeface="Times New Roman"/>
                <a:cs typeface="Times New Roman"/>
              </a:rPr>
              <a:t>Trong mail yêu cầu ghi rõ họ tên, mã thẻ, bộ phận, ảnh chụp thẻ… để nhân viên IT xác thực thông tin.</a:t>
            </a:r>
            <a:endParaRPr/>
          </a:p>
          <a:p>
            <a:pPr>
              <a:defRPr/>
            </a:pPr>
            <a:endParaRPr lang="en-US" sz="1100">
              <a:latin typeface="Times New Roman"/>
              <a:cs typeface="Times New Roman"/>
            </a:endParaRPr>
          </a:p>
          <a:p>
            <a:pPr>
              <a:defRPr/>
            </a:pPr>
            <a:endParaRPr lang="en-US"/>
          </a:p>
        </p:txBody>
      </p:sp>
      <p:sp>
        <p:nvSpPr>
          <p:cNvPr id="4" name="Slide Number Placeholder 3" hidden="0"/>
          <p:cNvSpPr>
            <a:spLocks noGrp="1"/>
          </p:cNvSpPr>
          <p:nvPr isPhoto="0" userDrawn="0">
            <p:ph type="sldNum" sz="quarter" idx="10" hasCustomPrompt="0"/>
          </p:nvPr>
        </p:nvSpPr>
        <p:spPr bwMode="auto"/>
        <p:txBody>
          <a:bodyPr/>
          <a:lstStyle/>
          <a:p>
            <a:pPr>
              <a:defRPr/>
            </a:pPr>
            <a:fld id="{3C966B70-9C1B-4B5E-8700-BCBB8140AAE4}" type="slidenum">
              <a:rPr lang="en-US"/>
              <a:t/>
            </a:fld>
            <a:endParaRPr lang="en-US"/>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Title Slide">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ctrTitle" hasCustomPrompt="0"/>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3" name="Subtitle 2" hidden="0"/>
          <p:cNvSpPr>
            <a:spLocks noGrp="1"/>
          </p:cNvSpPr>
          <p:nvPr isPhoto="0" userDrawn="0">
            <p:ph type="subTitle" idx="1" hasCustomPrompt="0"/>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4" name="Date Placeholder 3"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5" name="Footer Placeholder 4" hidden="0"/>
          <p:cNvSpPr>
            <a:spLocks noGrp="1"/>
          </p:cNvSpPr>
          <p:nvPr isPhoto="0" userDrawn="0">
            <p:ph type="ftr" sz="quarter" idx="11" hasCustomPrompt="0"/>
          </p:nvPr>
        </p:nvSpPr>
        <p:spPr bwMode="auto"/>
        <p:txBody>
          <a:bodyPr/>
          <a:lstStyle/>
          <a:p>
            <a:pPr>
              <a:defRPr/>
            </a:pPr>
            <a:endParaRPr lang="en-US"/>
          </a:p>
        </p:txBody>
      </p:sp>
      <p:sp>
        <p:nvSpPr>
          <p:cNvPr id="6" name="Slide Number Placeholder 5"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le and Content">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p:txBody>
          <a:bodyPr/>
          <a:lstStyle/>
          <a:p>
            <a:pPr>
              <a:defRPr/>
            </a:pPr>
            <a:r>
              <a:rPr lang="en-US"/>
              <a:t>Click to edit Master title style</a:t>
            </a:r>
            <a:endParaRPr lang="en-US"/>
          </a:p>
        </p:txBody>
      </p:sp>
      <p:sp>
        <p:nvSpPr>
          <p:cNvPr id="3" name="Content Placeholder 2" hidden="0"/>
          <p:cNvSpPr>
            <a:spLocks noGrp="1"/>
          </p:cNvSpPr>
          <p:nvPr isPhoto="0" userDrawn="0">
            <p:ph idx="1" hasCustomPrompt="0"/>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5" name="Footer Placeholder 4" hidden="0"/>
          <p:cNvSpPr>
            <a:spLocks noGrp="1"/>
          </p:cNvSpPr>
          <p:nvPr isPhoto="0" userDrawn="0">
            <p:ph type="ftr" sz="quarter" idx="11" hasCustomPrompt="0"/>
          </p:nvPr>
        </p:nvSpPr>
        <p:spPr bwMode="auto"/>
        <p:txBody>
          <a:bodyPr/>
          <a:lstStyle/>
          <a:p>
            <a:pPr>
              <a:defRPr/>
            </a:pPr>
            <a:endParaRPr lang="en-US"/>
          </a:p>
        </p:txBody>
      </p:sp>
      <p:sp>
        <p:nvSpPr>
          <p:cNvPr id="6" name="Slide Number Placeholder 5"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Section Header">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3" name="Text Placeholder 2" hidden="0"/>
          <p:cNvSpPr>
            <a:spLocks noGrp="1"/>
          </p:cNvSpPr>
          <p:nvPr isPhoto="0" userDrawn="0">
            <p:ph type="body" idx="1" hasCustomPrompt="0"/>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Edit Master text styles</a:t>
            </a:r>
            <a:endParaRPr/>
          </a:p>
        </p:txBody>
      </p:sp>
      <p:sp>
        <p:nvSpPr>
          <p:cNvPr id="4" name="Date Placeholder 3"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5" name="Footer Placeholder 4" hidden="0"/>
          <p:cNvSpPr>
            <a:spLocks noGrp="1"/>
          </p:cNvSpPr>
          <p:nvPr isPhoto="0" userDrawn="0">
            <p:ph type="ftr" sz="quarter" idx="11" hasCustomPrompt="0"/>
          </p:nvPr>
        </p:nvSpPr>
        <p:spPr bwMode="auto"/>
        <p:txBody>
          <a:bodyPr/>
          <a:lstStyle/>
          <a:p>
            <a:pPr>
              <a:defRPr/>
            </a:pPr>
            <a:endParaRPr lang="en-US"/>
          </a:p>
        </p:txBody>
      </p:sp>
      <p:sp>
        <p:nvSpPr>
          <p:cNvPr id="6" name="Slide Number Placeholder 5"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Two Content">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p:txBody>
          <a:bodyPr/>
          <a:lstStyle/>
          <a:p>
            <a:pPr>
              <a:defRPr/>
            </a:pPr>
            <a:r>
              <a:rPr lang="en-US"/>
              <a:t>Click to edit Master title style</a:t>
            </a:r>
            <a:endParaRPr lang="en-US"/>
          </a:p>
        </p:txBody>
      </p:sp>
      <p:sp>
        <p:nvSpPr>
          <p:cNvPr id="3" name="Content Placeholder 2" hidden="0"/>
          <p:cNvSpPr>
            <a:spLocks noGrp="1"/>
          </p:cNvSpPr>
          <p:nvPr isPhoto="0" userDrawn="0">
            <p:ph sz="half" idx="1" hasCustomPrompt="0"/>
          </p:nvPr>
        </p:nvSpPr>
        <p:spPr bwMode="auto">
          <a:xfrm>
            <a:off x="838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Content Placeholder 3" hidden="0"/>
          <p:cNvSpPr>
            <a:spLocks noGrp="1"/>
          </p:cNvSpPr>
          <p:nvPr isPhoto="0" userDrawn="0">
            <p:ph sz="half" idx="2" hasCustomPrompt="0"/>
          </p:nvPr>
        </p:nvSpPr>
        <p:spPr bwMode="auto">
          <a:xfrm>
            <a:off x="6172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Date Placeholder 4"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6" name="Footer Placeholder 5" hidden="0"/>
          <p:cNvSpPr>
            <a:spLocks noGrp="1"/>
          </p:cNvSpPr>
          <p:nvPr isPhoto="0" userDrawn="0">
            <p:ph type="ftr" sz="quarter" idx="11" hasCustomPrompt="0"/>
          </p:nvPr>
        </p:nvSpPr>
        <p:spPr bwMode="auto"/>
        <p:txBody>
          <a:bodyPr/>
          <a:lstStyle/>
          <a:p>
            <a:pPr>
              <a:defRPr/>
            </a:pPr>
            <a:endParaRPr lang="en-US"/>
          </a:p>
        </p:txBody>
      </p:sp>
      <p:sp>
        <p:nvSpPr>
          <p:cNvPr id="7" name="Slide Number Placeholder 6"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Comparison">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a:xfrm>
            <a:off x="839788" y="365125"/>
            <a:ext cx="10515600" cy="1325563"/>
          </a:xfrm>
        </p:spPr>
        <p:txBody>
          <a:bodyPr/>
          <a:lstStyle/>
          <a:p>
            <a:pPr>
              <a:defRPr/>
            </a:pPr>
            <a:r>
              <a:rPr lang="en-US"/>
              <a:t>Click to edit Master title style</a:t>
            </a:r>
            <a:endParaRPr lang="en-US"/>
          </a:p>
        </p:txBody>
      </p:sp>
      <p:sp>
        <p:nvSpPr>
          <p:cNvPr id="3" name="Text Placeholder 2" hidden="0"/>
          <p:cNvSpPr>
            <a:spLocks noGrp="1"/>
          </p:cNvSpPr>
          <p:nvPr isPhoto="0" userDrawn="0">
            <p:ph type="body" idx="1" hasCustomPrompt="0"/>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4" name="Content Placeholder 3" hidden="0"/>
          <p:cNvSpPr>
            <a:spLocks noGrp="1"/>
          </p:cNvSpPr>
          <p:nvPr isPhoto="0" userDrawn="0">
            <p:ph sz="half" idx="2" hasCustomPrompt="0"/>
          </p:nvPr>
        </p:nvSpPr>
        <p:spPr bwMode="auto">
          <a:xfrm>
            <a:off x="839788" y="2505074"/>
            <a:ext cx="5157787"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Text Placeholder 4" hidden="0"/>
          <p:cNvSpPr>
            <a:spLocks noGrp="1"/>
          </p:cNvSpPr>
          <p:nvPr isPhoto="0" userDrawn="0">
            <p:ph type="body" sz="quarter" idx="3" hasCustomPrompt="0"/>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6" name="Content Placeholder 5" hidden="0"/>
          <p:cNvSpPr>
            <a:spLocks noGrp="1"/>
          </p:cNvSpPr>
          <p:nvPr isPhoto="0" userDrawn="0">
            <p:ph sz="quarter" idx="4" hasCustomPrompt="0"/>
          </p:nvPr>
        </p:nvSpPr>
        <p:spPr bwMode="auto">
          <a:xfrm>
            <a:off x="6172200" y="2505074"/>
            <a:ext cx="5183188"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 name="Date Placeholder 6"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8" name="Footer Placeholder 7" hidden="0"/>
          <p:cNvSpPr>
            <a:spLocks noGrp="1"/>
          </p:cNvSpPr>
          <p:nvPr isPhoto="0" userDrawn="0">
            <p:ph type="ftr" sz="quarter" idx="11" hasCustomPrompt="0"/>
          </p:nvPr>
        </p:nvSpPr>
        <p:spPr bwMode="auto"/>
        <p:txBody>
          <a:bodyPr/>
          <a:lstStyle/>
          <a:p>
            <a:pPr>
              <a:defRPr/>
            </a:pPr>
            <a:endParaRPr lang="en-US"/>
          </a:p>
        </p:txBody>
      </p:sp>
      <p:sp>
        <p:nvSpPr>
          <p:cNvPr id="9" name="Slide Number Placeholder 8"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Title Only">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p:txBody>
          <a:bodyPr/>
          <a:lstStyle/>
          <a:p>
            <a:pPr>
              <a:defRPr/>
            </a:pPr>
            <a:r>
              <a:rPr lang="en-US"/>
              <a:t>Click to edit Master title style</a:t>
            </a:r>
            <a:endParaRPr lang="en-US"/>
          </a:p>
        </p:txBody>
      </p:sp>
      <p:sp>
        <p:nvSpPr>
          <p:cNvPr id="3" name="Date Placeholder 2"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4" name="Footer Placeholder 3" hidden="0"/>
          <p:cNvSpPr>
            <a:spLocks noGrp="1"/>
          </p:cNvSpPr>
          <p:nvPr isPhoto="0" userDrawn="0">
            <p:ph type="ftr" sz="quarter" idx="11" hasCustomPrompt="0"/>
          </p:nvPr>
        </p:nvSpPr>
        <p:spPr bwMode="auto"/>
        <p:txBody>
          <a:bodyPr/>
          <a:lstStyle/>
          <a:p>
            <a:pPr>
              <a:defRPr/>
            </a:pPr>
            <a:endParaRPr lang="en-US"/>
          </a:p>
        </p:txBody>
      </p:sp>
      <p:sp>
        <p:nvSpPr>
          <p:cNvPr id="5" name="Slide Number Placeholder 4"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Blank">
    <p:spTree>
      <p:nvGrpSpPr>
        <p:cNvPr id="1" name="" hidden="0"/>
        <p:cNvGrpSpPr/>
        <p:nvPr isPhoto="0" userDrawn="0"/>
      </p:nvGrpSpPr>
      <p:grpSpPr bwMode="auto">
        <a:xfrm>
          <a:off x="0" y="0"/>
          <a:ext cx="0" cy="0"/>
          <a:chOff x="0" y="0"/>
          <a:chExt cx="0" cy="0"/>
        </a:xfrm>
      </p:grpSpPr>
      <p:sp>
        <p:nvSpPr>
          <p:cNvPr id="2" name="Date Placeholder 1"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3" name="Footer Placeholder 2" hidden="0"/>
          <p:cNvSpPr>
            <a:spLocks noGrp="1"/>
          </p:cNvSpPr>
          <p:nvPr isPhoto="0" userDrawn="0">
            <p:ph type="ftr" sz="quarter" idx="11" hasCustomPrompt="0"/>
          </p:nvPr>
        </p:nvSpPr>
        <p:spPr bwMode="auto"/>
        <p:txBody>
          <a:bodyPr/>
          <a:lstStyle/>
          <a:p>
            <a:pPr>
              <a:defRPr/>
            </a:pPr>
            <a:endParaRPr lang="en-US"/>
          </a:p>
        </p:txBody>
      </p:sp>
      <p:sp>
        <p:nvSpPr>
          <p:cNvPr id="4" name="Slide Number Placeholder 3"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Content with Caption">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Content Placeholder 2" hidden="0"/>
          <p:cNvSpPr>
            <a:spLocks noGrp="1"/>
          </p:cNvSpPr>
          <p:nvPr isPhoto="0" userDrawn="0">
            <p:ph idx="1" hasCustomPrompt="0"/>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Text Placeholder 3" hidden="0"/>
          <p:cNvSpPr>
            <a:spLocks noGrp="1"/>
          </p:cNvSpPr>
          <p:nvPr isPhoto="0" userDrawn="0">
            <p:ph type="body" sz="half" idx="2" hasCustomPrompt="0"/>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5" name="Date Placeholder 4"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6" name="Footer Placeholder 5" hidden="0"/>
          <p:cNvSpPr>
            <a:spLocks noGrp="1"/>
          </p:cNvSpPr>
          <p:nvPr isPhoto="0" userDrawn="0">
            <p:ph type="ftr" sz="quarter" idx="11" hasCustomPrompt="0"/>
          </p:nvPr>
        </p:nvSpPr>
        <p:spPr bwMode="auto"/>
        <p:txBody>
          <a:bodyPr/>
          <a:lstStyle/>
          <a:p>
            <a:pPr>
              <a:defRPr/>
            </a:pPr>
            <a:endParaRPr lang="en-US"/>
          </a:p>
        </p:txBody>
      </p:sp>
      <p:sp>
        <p:nvSpPr>
          <p:cNvPr id="7" name="Slide Number Placeholder 6"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Picture with Caption">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Picture Placeholder 2" hidden="0"/>
          <p:cNvSpPr>
            <a:spLocks noGrp="1"/>
          </p:cNvSpPr>
          <p:nvPr isPhoto="0" userDrawn="0">
            <p:ph type="pic" idx="1" hasCustomPrompt="0"/>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 name="Text Placeholder 3" hidden="0"/>
          <p:cNvSpPr>
            <a:spLocks noGrp="1"/>
          </p:cNvSpPr>
          <p:nvPr isPhoto="0" userDrawn="0">
            <p:ph type="body" sz="half" idx="2" hasCustomPrompt="0"/>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5" name="Date Placeholder 4"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6" name="Footer Placeholder 5" hidden="0"/>
          <p:cNvSpPr>
            <a:spLocks noGrp="1"/>
          </p:cNvSpPr>
          <p:nvPr isPhoto="0" userDrawn="0">
            <p:ph type="ftr" sz="quarter" idx="11" hasCustomPrompt="0"/>
          </p:nvPr>
        </p:nvSpPr>
        <p:spPr bwMode="auto"/>
        <p:txBody>
          <a:bodyPr/>
          <a:lstStyle/>
          <a:p>
            <a:pPr>
              <a:defRPr/>
            </a:pPr>
            <a:endParaRPr lang="en-US"/>
          </a:p>
        </p:txBody>
      </p:sp>
      <p:sp>
        <p:nvSpPr>
          <p:cNvPr id="7" name="Slide Number Placeholder 6"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Title and Vertical Text">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title" hasCustomPrompt="0"/>
          </p:nvPr>
        </p:nvSpPr>
        <p:spPr bwMode="auto"/>
        <p:txBody>
          <a:bodyPr/>
          <a:lstStyle/>
          <a:p>
            <a:pPr>
              <a:defRPr/>
            </a:pPr>
            <a:r>
              <a:rPr lang="en-US"/>
              <a:t>Click to edit Master title style</a:t>
            </a:r>
            <a:endParaRPr lang="en-US"/>
          </a:p>
        </p:txBody>
      </p:sp>
      <p:sp>
        <p:nvSpPr>
          <p:cNvPr id="3" name="Vertical Text Placeholder 2" hidden="0"/>
          <p:cNvSpPr>
            <a:spLocks noGrp="1"/>
          </p:cNvSpPr>
          <p:nvPr isPhoto="0" userDrawn="0">
            <p:ph type="body" orient="vert" idx="1" hasCustomPrompt="0"/>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5" name="Footer Placeholder 4" hidden="0"/>
          <p:cNvSpPr>
            <a:spLocks noGrp="1"/>
          </p:cNvSpPr>
          <p:nvPr isPhoto="0" userDrawn="0">
            <p:ph type="ftr" sz="quarter" idx="11" hasCustomPrompt="0"/>
          </p:nvPr>
        </p:nvSpPr>
        <p:spPr bwMode="auto"/>
        <p:txBody>
          <a:bodyPr/>
          <a:lstStyle/>
          <a:p>
            <a:pPr>
              <a:defRPr/>
            </a:pPr>
            <a:endParaRPr lang="en-US"/>
          </a:p>
        </p:txBody>
      </p:sp>
      <p:sp>
        <p:nvSpPr>
          <p:cNvPr id="6" name="Slide Number Placeholder 5"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Vertical Title and Text">
    <p:spTree>
      <p:nvGrpSpPr>
        <p:cNvPr id="1" name="" hidden="0"/>
        <p:cNvGrpSpPr/>
        <p:nvPr isPhoto="0" userDrawn="0"/>
      </p:nvGrpSpPr>
      <p:grpSpPr bwMode="auto">
        <a:xfrm>
          <a:off x="0" y="0"/>
          <a:ext cx="0" cy="0"/>
          <a:chOff x="0" y="0"/>
          <a:chExt cx="0" cy="0"/>
        </a:xfrm>
      </p:grpSpPr>
      <p:sp>
        <p:nvSpPr>
          <p:cNvPr id="2" name="Vertical Title 1" hidden="0"/>
          <p:cNvSpPr>
            <a:spLocks noGrp="1"/>
          </p:cNvSpPr>
          <p:nvPr isPhoto="0" userDrawn="0">
            <p:ph type="title" orient="vert" hasCustomPrompt="0"/>
          </p:nvPr>
        </p:nvSpPr>
        <p:spPr bwMode="auto">
          <a:xfrm>
            <a:off x="8724900" y="365125"/>
            <a:ext cx="2628900" cy="5811838"/>
          </a:xfrm>
        </p:spPr>
        <p:txBody>
          <a:bodyPr vert="eaVert"/>
          <a:lstStyle/>
          <a:p>
            <a:pPr>
              <a:defRPr/>
            </a:pPr>
            <a:r>
              <a:rPr lang="en-US"/>
              <a:t>Click to edit Master title style</a:t>
            </a:r>
            <a:endParaRPr lang="en-US"/>
          </a:p>
        </p:txBody>
      </p:sp>
      <p:sp>
        <p:nvSpPr>
          <p:cNvPr id="3" name="Vertical Text Placeholder 2" hidden="0"/>
          <p:cNvSpPr>
            <a:spLocks noGrp="1"/>
          </p:cNvSpPr>
          <p:nvPr isPhoto="0" userDrawn="0">
            <p:ph type="body" orient="vert" idx="1" hasCustomPrompt="0"/>
          </p:nvPr>
        </p:nvSpPr>
        <p:spPr bwMode="auto">
          <a:xfrm>
            <a:off x="838200" y="365125"/>
            <a:ext cx="7734300" cy="5811838"/>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hidden="0"/>
          <p:cNvSpPr>
            <a:spLocks noGrp="1"/>
          </p:cNvSpPr>
          <p:nvPr isPhoto="0" userDrawn="0">
            <p:ph type="dt" sz="half" idx="10" hasCustomPrompt="0"/>
          </p:nvPr>
        </p:nvSpPr>
        <p:spPr bwMode="auto"/>
        <p:txBody>
          <a:bodyPr/>
          <a:lstStyle/>
          <a:p>
            <a:pPr>
              <a:defRPr/>
            </a:pPr>
            <a:fld id="{DC87DB21-27E3-4D78-A7F8-8202C842F3BD}" type="datetimeFigureOut">
              <a:rPr lang="en-US"/>
              <a:t/>
            </a:fld>
            <a:endParaRPr lang="en-US"/>
          </a:p>
        </p:txBody>
      </p:sp>
      <p:sp>
        <p:nvSpPr>
          <p:cNvPr id="5" name="Footer Placeholder 4" hidden="0"/>
          <p:cNvSpPr>
            <a:spLocks noGrp="1"/>
          </p:cNvSpPr>
          <p:nvPr isPhoto="0" userDrawn="0">
            <p:ph type="ftr" sz="quarter" idx="11" hasCustomPrompt="0"/>
          </p:nvPr>
        </p:nvSpPr>
        <p:spPr bwMode="auto"/>
        <p:txBody>
          <a:bodyPr/>
          <a:lstStyle/>
          <a:p>
            <a:pPr>
              <a:defRPr/>
            </a:pPr>
            <a:endParaRPr lang="en-US"/>
          </a:p>
        </p:txBody>
      </p:sp>
      <p:sp>
        <p:nvSpPr>
          <p:cNvPr id="6" name="Slide Number Placeholder 5" hidden="0"/>
          <p:cNvSpPr>
            <a:spLocks noGrp="1"/>
          </p:cNvSpPr>
          <p:nvPr isPhoto="0" userDrawn="0">
            <p:ph type="sldNum" sz="quarter" idx="12" hasCustomPrompt="0"/>
          </p:nvPr>
        </p:nvSpPr>
        <p:spPr bwMode="auto"/>
        <p:txBody>
          <a:bodyPr/>
          <a:lstStyle/>
          <a:p>
            <a:pPr>
              <a:defRPr/>
            </a:pPr>
            <a:fld id="{FE06F82A-2A8D-45B1-BCFC-6C5C83C71610}" type="slidenum">
              <a:rPr lang="en-US"/>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blipFill>
          <a:blip r:embed="rId13">
            <a:lum/>
          </a:blip>
          <a:stretch/>
        </a:blipFill>
      </p:bgPr>
    </p:bg>
    <p:spTree>
      <p:nvGrpSpPr>
        <p:cNvPr id="1" name="" hidden="0"/>
        <p:cNvGrpSpPr/>
        <p:nvPr isPhoto="0" userDrawn="0"/>
      </p:nvGrpSpPr>
      <p:grpSpPr bwMode="auto">
        <a:xfrm>
          <a:off x="0" y="0"/>
          <a:ext cx="0" cy="0"/>
          <a:chOff x="0" y="0"/>
          <a:chExt cx="0" cy="0"/>
        </a:xfrm>
      </p:grpSpPr>
      <p:sp>
        <p:nvSpPr>
          <p:cNvPr id="2" name="Title Placeholder 1" hidden="0"/>
          <p:cNvSpPr>
            <a:spLocks noGrp="1"/>
          </p:cNvSpPr>
          <p:nvPr isPhoto="0" userDrawn="0">
            <p:ph type="title" hasCustomPrompt="0"/>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 name="Text Placeholder 2" hidden="0"/>
          <p:cNvSpPr>
            <a:spLocks noGrp="1"/>
          </p:cNvSpPr>
          <p:nvPr isPhoto="0" userDrawn="0">
            <p:ph type="body" idx="1" hasCustomPrompt="0"/>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hidden="0"/>
          <p:cNvSpPr>
            <a:spLocks noGrp="1"/>
          </p:cNvSpPr>
          <p:nvPr isPhoto="0" userDrawn="0">
            <p:ph type="dt" sz="half" idx="2" hasCustomPrompt="0"/>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C87DB21-27E3-4D78-A7F8-8202C842F3BD}" type="datetimeFigureOut">
              <a:rPr lang="en-US"/>
              <a:t/>
            </a:fld>
            <a:endParaRPr lang="en-US"/>
          </a:p>
        </p:txBody>
      </p:sp>
      <p:sp>
        <p:nvSpPr>
          <p:cNvPr id="5" name="Footer Placeholder 4" hidden="0"/>
          <p:cNvSpPr>
            <a:spLocks noGrp="1"/>
          </p:cNvSpPr>
          <p:nvPr isPhoto="0" userDrawn="0">
            <p:ph type="ftr" sz="quarter" idx="3" hasCustomPrompt="0"/>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hidden="0"/>
          <p:cNvSpPr>
            <a:spLocks noGrp="1"/>
          </p:cNvSpPr>
          <p:nvPr isPhoto="0" userDrawn="0">
            <p:ph type="sldNum" sz="quarter" idx="4" hasCustomPrompt="0"/>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E06F82A-2A8D-45B1-BCFC-6C5C83C71610}" type="slidenum">
              <a:rPr lang="en-US"/>
              <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cpe-vngz-helpdesk@mail.foxconn.com" TargetMode="External"/><Relationship Id="rId3" Type="http://schemas.openxmlformats.org/officeDocument/2006/relationships/hyperlink" Target="mailto:cpe-vngz-net-mbd@mail.foxconn.com" TargetMode="External"/><Relationship Id="rId4" Type="http://schemas.openxmlformats.org/officeDocument/2006/relationships/hyperlink" Target="mailto:nsd-vn-it@mail.foxconn.com" TargetMode="External"/><Relationship Id="rId5" Type="http://schemas.openxmlformats.org/officeDocument/2006/relationships/hyperlink" Target="mailto:nsd-vn-helpdesk@mail.foxconn.co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2" name="Title 1" hidden="0"/>
          <p:cNvSpPr>
            <a:spLocks noGrp="1"/>
          </p:cNvSpPr>
          <p:nvPr isPhoto="0" userDrawn="0">
            <p:ph type="ctrTitle" hasCustomPrompt="0"/>
          </p:nvPr>
        </p:nvSpPr>
        <p:spPr bwMode="auto"/>
        <p:txBody>
          <a:bodyPr>
            <a:normAutofit fontScale="90000"/>
          </a:bodyPr>
          <a:lstStyle/>
          <a:p>
            <a:pPr>
              <a:defRPr/>
            </a:pPr>
            <a:r>
              <a:rPr lang="zh-CN" b="1">
                <a:solidFill>
                  <a:srgbClr val="5877B6"/>
                </a:solidFill>
              </a:rPr>
              <a:t>網域賬號密碼修</a:t>
            </a:r>
            <a:r>
              <a:rPr lang="zh-CN" b="1">
                <a:solidFill>
                  <a:srgbClr val="5877B6"/>
                </a:solidFill>
              </a:rPr>
              <a:t>改</a:t>
            </a:r>
            <a:r>
              <a:rPr lang="en-US" b="1">
                <a:solidFill>
                  <a:srgbClr val="5877B6"/>
                </a:solidFill>
              </a:rPr>
              <a:t>/</a:t>
            </a:r>
            <a:r>
              <a:rPr lang="zh-CN" b="1">
                <a:solidFill>
                  <a:srgbClr val="5877B6"/>
                </a:solidFill>
              </a:rPr>
              <a:t>重置步驟</a:t>
            </a:r>
            <a:br>
              <a:rPr lang="en-US" b="1">
                <a:solidFill>
                  <a:srgbClr val="5877B6"/>
                </a:solidFill>
              </a:rPr>
            </a:br>
            <a:r>
              <a:rPr lang="en-US" b="1">
                <a:solidFill>
                  <a:srgbClr val="5877B6"/>
                </a:solidFill>
              </a:rPr>
              <a:t>How to change and reset </a:t>
            </a:r>
            <a:r>
              <a:rPr lang="en-US" b="1">
                <a:solidFill>
                  <a:srgbClr val="5877B6"/>
                </a:solidFill>
              </a:rPr>
              <a:t>SMART OFFICE password on </a:t>
            </a:r>
            <a:r>
              <a:rPr lang="en-US" b="1">
                <a:solidFill>
                  <a:srgbClr val="5877B6"/>
                </a:solidFill>
              </a:rPr>
              <a:t>W</a:t>
            </a:r>
            <a:r>
              <a:rPr lang="en-US" b="1">
                <a:solidFill>
                  <a:srgbClr val="5877B6"/>
                </a:solidFill>
              </a:rPr>
              <a:t>eb</a:t>
            </a:r>
            <a:endParaRPr lang="en-US" b="1">
              <a:solidFill>
                <a:srgbClr val="5877B6"/>
              </a:solidFill>
            </a:endParaRPr>
          </a:p>
        </p:txBody>
      </p:sp>
      <p:sp>
        <p:nvSpPr>
          <p:cNvPr id="3" name="Subtitle 2" hidden="0"/>
          <p:cNvSpPr>
            <a:spLocks noGrp="1"/>
          </p:cNvSpPr>
          <p:nvPr isPhoto="0" userDrawn="0">
            <p:ph type="subTitle" idx="1" hasCustomPrompt="0"/>
          </p:nvPr>
        </p:nvSpPr>
        <p:spPr bwMode="auto">
          <a:xfrm>
            <a:off x="1524000" y="3509963"/>
            <a:ext cx="9144000" cy="816429"/>
          </a:xfrm>
        </p:spPr>
        <p:txBody>
          <a:bodyPr/>
          <a:lstStyle/>
          <a:p>
            <a:pPr>
              <a:defRPr/>
            </a:pPr>
            <a:r>
              <a:rPr lang="en-US">
                <a:solidFill>
                  <a:srgbClr val="5877B6"/>
                </a:solidFill>
              </a:rPr>
              <a:t>Hướng</a:t>
            </a:r>
            <a:r>
              <a:rPr lang="en-US">
                <a:solidFill>
                  <a:srgbClr val="5877B6"/>
                </a:solidFill>
              </a:rPr>
              <a:t> </a:t>
            </a:r>
            <a:r>
              <a:rPr lang="en-US">
                <a:solidFill>
                  <a:srgbClr val="5877B6"/>
                </a:solidFill>
              </a:rPr>
              <a:t>dẫn</a:t>
            </a:r>
            <a:r>
              <a:rPr lang="en-US">
                <a:solidFill>
                  <a:srgbClr val="5877B6"/>
                </a:solidFill>
              </a:rPr>
              <a:t> </a:t>
            </a:r>
            <a:r>
              <a:rPr lang="en-US">
                <a:solidFill>
                  <a:srgbClr val="5877B6"/>
                </a:solidFill>
              </a:rPr>
              <a:t>đổi</a:t>
            </a:r>
            <a:r>
              <a:rPr lang="en-US">
                <a:solidFill>
                  <a:srgbClr val="5877B6"/>
                </a:solidFill>
              </a:rPr>
              <a:t> password Smart Office </a:t>
            </a:r>
            <a:r>
              <a:rPr lang="en-US">
                <a:solidFill>
                  <a:srgbClr val="5877B6"/>
                </a:solidFill>
              </a:rPr>
              <a:t>trên</a:t>
            </a:r>
            <a:r>
              <a:rPr lang="en-US">
                <a:solidFill>
                  <a:srgbClr val="5877B6"/>
                </a:solidFill>
              </a:rPr>
              <a:t> website</a:t>
            </a:r>
            <a:endParaRPr lang="en-US">
              <a:solidFill>
                <a:srgbClr val="5877B6"/>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Rectangle 3" hidden="0"/>
          <p:cNvSpPr/>
          <p:nvPr isPhoto="0" userDrawn="0"/>
        </p:nvSpPr>
        <p:spPr bwMode="auto">
          <a:xfrm>
            <a:off x="407541" y="1138104"/>
            <a:ext cx="5417820" cy="553998"/>
          </a:xfrm>
          <a:prstGeom prst="rect">
            <a:avLst/>
          </a:prstGeom>
          <a:ln w="57150">
            <a:solidFill>
              <a:srgbClr val="92D050"/>
            </a:solidFill>
          </a:ln>
        </p:spPr>
        <p:txBody>
          <a:bodyPr wrap="square">
            <a:spAutoFit/>
          </a:bodyPr>
          <a:lstStyle/>
          <a:p>
            <a:pPr>
              <a:defRPr/>
            </a:pPr>
            <a:r>
              <a:rPr lang="en-US" sz="3000">
                <a:solidFill>
                  <a:srgbClr val="5877B6"/>
                </a:solidFill>
              </a:rPr>
              <a:t>https://gcrc.efoxconn.com/#/CRC</a:t>
            </a:r>
            <a:endParaRPr/>
          </a:p>
        </p:txBody>
      </p:sp>
      <p:pic>
        <p:nvPicPr>
          <p:cNvPr id="5" name="Picture 4" hidden="0"/>
          <p:cNvPicPr>
            <a:picLocks noChangeAspect="1"/>
          </p:cNvPicPr>
          <p:nvPr isPhoto="0" userDrawn="0"/>
        </p:nvPicPr>
        <p:blipFill>
          <a:blip r:embed="rId3"/>
          <a:stretch/>
        </p:blipFill>
        <p:spPr bwMode="auto">
          <a:xfrm>
            <a:off x="251460" y="2347551"/>
            <a:ext cx="6972300" cy="4050916"/>
          </a:xfrm>
          <a:prstGeom prst="rect">
            <a:avLst/>
          </a:prstGeom>
        </p:spPr>
      </p:pic>
      <p:pic>
        <p:nvPicPr>
          <p:cNvPr id="6" name="Picture 5" hidden="0"/>
          <p:cNvPicPr>
            <a:picLocks noChangeAspect="1"/>
          </p:cNvPicPr>
          <p:nvPr isPhoto="0" userDrawn="0"/>
        </p:nvPicPr>
        <p:blipFill>
          <a:blip r:embed="rId4"/>
          <a:stretch/>
        </p:blipFill>
        <p:spPr bwMode="auto">
          <a:xfrm>
            <a:off x="6412063" y="1107508"/>
            <a:ext cx="5509594" cy="5290959"/>
          </a:xfrm>
          <a:prstGeom prst="rect">
            <a:avLst/>
          </a:prstGeom>
        </p:spPr>
      </p:pic>
      <p:pic>
        <p:nvPicPr>
          <p:cNvPr id="7" name="Picture 6" hidden="0"/>
          <p:cNvPicPr>
            <a:picLocks noChangeAspect="1"/>
          </p:cNvPicPr>
          <p:nvPr isPhoto="0" userDrawn="0"/>
        </p:nvPicPr>
        <p:blipFill>
          <a:blip r:embed="rId5"/>
          <a:stretch/>
        </p:blipFill>
        <p:spPr bwMode="auto">
          <a:xfrm>
            <a:off x="251460" y="3350734"/>
            <a:ext cx="4987198" cy="3047733"/>
          </a:xfrm>
          <a:prstGeom prst="rect">
            <a:avLst/>
          </a:prstGeom>
        </p:spPr>
      </p:pic>
      <p:sp>
        <p:nvSpPr>
          <p:cNvPr id="8" name="Rectangle 7" hidden="0"/>
          <p:cNvSpPr/>
          <p:nvPr isPhoto="0" userDrawn="0"/>
        </p:nvSpPr>
        <p:spPr bwMode="auto">
          <a:xfrm>
            <a:off x="1451610" y="4297680"/>
            <a:ext cx="2526030" cy="33147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0" name="Elbow Connector 9" hidden="0"/>
          <p:cNvCxnSpPr>
            <a:cxnSpLocks/>
            <a:stCxn id="4" idx="2"/>
            <a:endCxn id="8" idx="0"/>
          </p:cNvCxnSpPr>
          <p:nvPr isPhoto="0" userDrawn="0"/>
        </p:nvCxnSpPr>
        <p:spPr bwMode="auto">
          <a:xfrm rot="5400000">
            <a:off x="1612749" y="2793978"/>
            <a:ext cx="2605578" cy="401826"/>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Rectangle 10" hidden="0"/>
          <p:cNvSpPr/>
          <p:nvPr isPhoto="0" userDrawn="0"/>
        </p:nvSpPr>
        <p:spPr bwMode="auto">
          <a:xfrm>
            <a:off x="8286750" y="1952786"/>
            <a:ext cx="2611420" cy="2859244"/>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6" name="Elbow Connector 15" hidden="0"/>
          <p:cNvCxnSpPr>
            <a:cxnSpLocks/>
            <a:stCxn id="8" idx="3"/>
            <a:endCxn id="11" idx="1"/>
          </p:cNvCxnSpPr>
          <p:nvPr isPhoto="0" userDrawn="0"/>
        </p:nvCxnSpPr>
        <p:spPr bwMode="auto">
          <a:xfrm flipV="1">
            <a:off x="3977640" y="3382408"/>
            <a:ext cx="4309110" cy="1081007"/>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Rectangle 18" hidden="0"/>
          <p:cNvSpPr/>
          <p:nvPr isPhoto="0" userDrawn="0"/>
        </p:nvSpPr>
        <p:spPr bwMode="auto">
          <a:xfrm>
            <a:off x="8458200" y="5761922"/>
            <a:ext cx="1417320" cy="501718"/>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21" name="Elbow Connector 20" hidden="0"/>
          <p:cNvCxnSpPr>
            <a:cxnSpLocks/>
            <a:stCxn id="11" idx="2"/>
          </p:cNvCxnSpPr>
          <p:nvPr isPhoto="0" userDrawn="0"/>
        </p:nvCxnSpPr>
        <p:spPr bwMode="auto">
          <a:xfrm rot="5400000">
            <a:off x="8904714" y="5074176"/>
            <a:ext cx="949892" cy="425600"/>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Oval 21" hidden="0"/>
          <p:cNvSpPr/>
          <p:nvPr isPhoto="0" userDrawn="0"/>
        </p:nvSpPr>
        <p:spPr bwMode="auto">
          <a:xfrm>
            <a:off x="3320583" y="1660423"/>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1</a:t>
            </a:r>
            <a:endParaRPr lang="en-US" b="1">
              <a:solidFill>
                <a:srgbClr val="C00000"/>
              </a:solidFill>
            </a:endParaRPr>
          </a:p>
        </p:txBody>
      </p:sp>
      <p:sp>
        <p:nvSpPr>
          <p:cNvPr id="23" name="Oval 22" hidden="0"/>
          <p:cNvSpPr/>
          <p:nvPr isPhoto="0" userDrawn="0"/>
        </p:nvSpPr>
        <p:spPr bwMode="auto">
          <a:xfrm>
            <a:off x="3924816" y="3883544"/>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2</a:t>
            </a:r>
            <a:endParaRPr lang="en-US" b="1">
              <a:solidFill>
                <a:srgbClr val="C00000"/>
              </a:solidFill>
            </a:endParaRPr>
          </a:p>
        </p:txBody>
      </p:sp>
      <p:sp>
        <p:nvSpPr>
          <p:cNvPr id="24" name="Oval 23" hidden="0"/>
          <p:cNvSpPr/>
          <p:nvPr isPhoto="0" userDrawn="0"/>
        </p:nvSpPr>
        <p:spPr bwMode="auto">
          <a:xfrm>
            <a:off x="7806690" y="1692794"/>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3</a:t>
            </a:r>
            <a:endParaRPr/>
          </a:p>
        </p:txBody>
      </p:sp>
      <p:sp>
        <p:nvSpPr>
          <p:cNvPr id="25" name="Oval 24" hidden="0"/>
          <p:cNvSpPr/>
          <p:nvPr isPhoto="0" userDrawn="0"/>
        </p:nvSpPr>
        <p:spPr bwMode="auto">
          <a:xfrm>
            <a:off x="9785425" y="5336053"/>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4</a:t>
            </a:r>
            <a:endParaRPr lang="en-US" b="1">
              <a:solidFill>
                <a:srgbClr val="C00000"/>
              </a:solidFill>
            </a:endParaRPr>
          </a:p>
        </p:txBody>
      </p:sp>
      <p:sp>
        <p:nvSpPr>
          <p:cNvPr id="29" name="TextBox 28" hidden="0"/>
          <p:cNvSpPr txBox="1"/>
          <p:nvPr isPhoto="0" userDrawn="0"/>
        </p:nvSpPr>
        <p:spPr bwMode="auto">
          <a:xfrm>
            <a:off x="725805" y="93989"/>
            <a:ext cx="6023610" cy="630941"/>
          </a:xfrm>
          <a:prstGeom prst="rect">
            <a:avLst/>
          </a:prstGeom>
          <a:noFill/>
        </p:spPr>
        <p:txBody>
          <a:bodyPr wrap="square" rtlCol="0">
            <a:spAutoFit/>
          </a:bodyPr>
          <a:lstStyle/>
          <a:p>
            <a:pPr>
              <a:defRPr/>
            </a:pPr>
            <a:r>
              <a:rPr lang="zh-CN" sz="3500" b="1">
                <a:solidFill>
                  <a:srgbClr val="5877B6"/>
                </a:solidFill>
              </a:rPr>
              <a:t>網域賬號密碼</a:t>
            </a:r>
            <a:r>
              <a:rPr lang="zh-CN" sz="3500" b="1">
                <a:solidFill>
                  <a:srgbClr val="FFC000"/>
                </a:solidFill>
              </a:rPr>
              <a:t>修改</a:t>
            </a:r>
            <a:r>
              <a:rPr lang="zh-CN" sz="3500" b="1">
                <a:solidFill>
                  <a:srgbClr val="5877B6"/>
                </a:solidFill>
              </a:rPr>
              <a:t>步驟</a:t>
            </a:r>
            <a:endParaRPr lang="en-US" sz="3500" b="1">
              <a:solidFill>
                <a:srgbClr val="5877B6"/>
              </a:solidFill>
            </a:endParaRPr>
          </a:p>
        </p:txBody>
      </p:sp>
      <p:sp>
        <p:nvSpPr>
          <p:cNvPr id="2" name="Rectangle 1" hidden="0"/>
          <p:cNvSpPr/>
          <p:nvPr isPhoto="0" userDrawn="0"/>
        </p:nvSpPr>
        <p:spPr bwMode="auto">
          <a:xfrm>
            <a:off x="6412063" y="1107508"/>
            <a:ext cx="2871422" cy="55291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Rectangle 3" hidden="0"/>
          <p:cNvSpPr/>
          <p:nvPr isPhoto="0" userDrawn="0"/>
        </p:nvSpPr>
        <p:spPr bwMode="auto">
          <a:xfrm>
            <a:off x="703090" y="233505"/>
            <a:ext cx="7937750" cy="553998"/>
          </a:xfrm>
          <a:prstGeom prst="rect">
            <a:avLst/>
          </a:prstGeom>
        </p:spPr>
        <p:txBody>
          <a:bodyPr wrap="none">
            <a:spAutoFit/>
          </a:bodyPr>
          <a:lstStyle/>
          <a:p>
            <a:pPr>
              <a:defRPr/>
            </a:pPr>
            <a:r>
              <a:rPr lang="en-US" sz="3000" b="1">
                <a:solidFill>
                  <a:srgbClr val="5877B6"/>
                </a:solidFill>
              </a:rPr>
              <a:t>How to </a:t>
            </a:r>
            <a:r>
              <a:rPr lang="en-US" sz="3000" b="1">
                <a:solidFill>
                  <a:srgbClr val="FFC000"/>
                </a:solidFill>
              </a:rPr>
              <a:t>change</a:t>
            </a:r>
            <a:r>
              <a:rPr lang="en-US" sz="3000" b="1">
                <a:solidFill>
                  <a:srgbClr val="5877B6"/>
                </a:solidFill>
              </a:rPr>
              <a:t> SMART OFFICE password on Web</a:t>
            </a:r>
            <a:endParaRPr lang="en-US" sz="3000"/>
          </a:p>
        </p:txBody>
      </p:sp>
      <p:pic>
        <p:nvPicPr>
          <p:cNvPr id="5" name="Picture 4" hidden="0"/>
          <p:cNvPicPr>
            <a:picLocks noChangeAspect="1"/>
          </p:cNvPicPr>
          <p:nvPr isPhoto="0" userDrawn="0"/>
        </p:nvPicPr>
        <p:blipFill>
          <a:blip r:embed="rId3"/>
          <a:stretch/>
        </p:blipFill>
        <p:spPr bwMode="auto">
          <a:xfrm>
            <a:off x="356322" y="2310521"/>
            <a:ext cx="7309627" cy="4050916"/>
          </a:xfrm>
          <a:prstGeom prst="rect">
            <a:avLst/>
          </a:prstGeom>
        </p:spPr>
      </p:pic>
      <p:pic>
        <p:nvPicPr>
          <p:cNvPr id="8" name="Picture 7" hidden="0"/>
          <p:cNvPicPr>
            <a:picLocks noChangeAspect="1"/>
          </p:cNvPicPr>
          <p:nvPr isPhoto="0" userDrawn="0"/>
        </p:nvPicPr>
        <p:blipFill>
          <a:blip r:embed="rId4"/>
          <a:stretch/>
        </p:blipFill>
        <p:spPr bwMode="auto">
          <a:xfrm>
            <a:off x="6356307" y="1070478"/>
            <a:ext cx="5509594" cy="5290959"/>
          </a:xfrm>
          <a:prstGeom prst="rect">
            <a:avLst/>
          </a:prstGeom>
        </p:spPr>
      </p:pic>
      <p:pic>
        <p:nvPicPr>
          <p:cNvPr id="9" name="Picture 8" hidden="0"/>
          <p:cNvPicPr>
            <a:picLocks noChangeAspect="1"/>
          </p:cNvPicPr>
          <p:nvPr isPhoto="0" userDrawn="0"/>
        </p:nvPicPr>
        <p:blipFill>
          <a:blip r:embed="rId5"/>
          <a:stretch/>
        </p:blipFill>
        <p:spPr bwMode="auto">
          <a:xfrm>
            <a:off x="356322" y="3297609"/>
            <a:ext cx="5059533" cy="3063828"/>
          </a:xfrm>
          <a:prstGeom prst="rect">
            <a:avLst/>
          </a:prstGeom>
        </p:spPr>
      </p:pic>
      <p:sp>
        <p:nvSpPr>
          <p:cNvPr id="10" name="Rectangle 9" hidden="0"/>
          <p:cNvSpPr/>
          <p:nvPr isPhoto="0" userDrawn="0"/>
        </p:nvSpPr>
        <p:spPr bwMode="auto">
          <a:xfrm>
            <a:off x="468261" y="1136502"/>
            <a:ext cx="5417820" cy="553998"/>
          </a:xfrm>
          <a:prstGeom prst="rect">
            <a:avLst/>
          </a:prstGeom>
          <a:ln w="57150">
            <a:solidFill>
              <a:srgbClr val="92D050"/>
            </a:solidFill>
          </a:ln>
        </p:spPr>
        <p:txBody>
          <a:bodyPr wrap="square">
            <a:spAutoFit/>
          </a:bodyPr>
          <a:lstStyle/>
          <a:p>
            <a:pPr>
              <a:defRPr/>
            </a:pPr>
            <a:r>
              <a:rPr lang="en-US" sz="3000">
                <a:solidFill>
                  <a:srgbClr val="5877B6"/>
                </a:solidFill>
              </a:rPr>
              <a:t>https://gcrc.efoxconn.com/#/CRC</a:t>
            </a:r>
            <a:endParaRPr/>
          </a:p>
        </p:txBody>
      </p:sp>
      <p:sp>
        <p:nvSpPr>
          <p:cNvPr id="14" name="Rectangle 13" hidden="0"/>
          <p:cNvSpPr/>
          <p:nvPr isPhoto="0" userDrawn="0"/>
        </p:nvSpPr>
        <p:spPr bwMode="auto">
          <a:xfrm>
            <a:off x="1570360" y="4159092"/>
            <a:ext cx="2700556" cy="390605"/>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5" name="Elbow Connector 14" hidden="0"/>
          <p:cNvCxnSpPr>
            <a:cxnSpLocks/>
            <a:stCxn id="10" idx="2"/>
            <a:endCxn id="14" idx="0"/>
          </p:cNvCxnSpPr>
          <p:nvPr isPhoto="0" userDrawn="0"/>
        </p:nvCxnSpPr>
        <p:spPr bwMode="auto">
          <a:xfrm rot="5400000">
            <a:off x="1814609" y="2796530"/>
            <a:ext cx="2468592" cy="256533"/>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Rectangle 15" hidden="0"/>
          <p:cNvSpPr/>
          <p:nvPr isPhoto="0" userDrawn="0"/>
        </p:nvSpPr>
        <p:spPr bwMode="auto">
          <a:xfrm>
            <a:off x="8196894" y="1906292"/>
            <a:ext cx="2708909" cy="2889011"/>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7" name="Elbow Connector 16" hidden="0"/>
          <p:cNvCxnSpPr>
            <a:cxnSpLocks/>
            <a:stCxn id="14" idx="3"/>
            <a:endCxn id="16" idx="1"/>
          </p:cNvCxnSpPr>
          <p:nvPr isPhoto="0" userDrawn="0"/>
        </p:nvCxnSpPr>
        <p:spPr bwMode="auto">
          <a:xfrm flipV="1">
            <a:off x="4270916" y="3350798"/>
            <a:ext cx="3925979" cy="1003597"/>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Rectangle 17" hidden="0"/>
          <p:cNvSpPr/>
          <p:nvPr isPhoto="0" userDrawn="0"/>
        </p:nvSpPr>
        <p:spPr bwMode="auto">
          <a:xfrm>
            <a:off x="8402444" y="5706918"/>
            <a:ext cx="1417320" cy="501718"/>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9" name="Elbow Connector 18" hidden="0"/>
          <p:cNvCxnSpPr>
            <a:cxnSpLocks/>
            <a:stCxn id="16" idx="2"/>
          </p:cNvCxnSpPr>
          <p:nvPr isPhoto="0" userDrawn="0"/>
        </p:nvCxnSpPr>
        <p:spPr bwMode="auto">
          <a:xfrm rot="5400000">
            <a:off x="8887976" y="5081821"/>
            <a:ext cx="949892" cy="376856"/>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Oval 19" hidden="0"/>
          <p:cNvSpPr/>
          <p:nvPr isPhoto="0" userDrawn="0"/>
        </p:nvSpPr>
        <p:spPr bwMode="auto">
          <a:xfrm>
            <a:off x="3202386" y="1755477"/>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1</a:t>
            </a:r>
            <a:endParaRPr lang="en-US" b="1">
              <a:solidFill>
                <a:srgbClr val="C00000"/>
              </a:solidFill>
            </a:endParaRPr>
          </a:p>
        </p:txBody>
      </p:sp>
      <p:sp>
        <p:nvSpPr>
          <p:cNvPr id="21" name="Oval 20" hidden="0"/>
          <p:cNvSpPr/>
          <p:nvPr isPhoto="0" userDrawn="0"/>
        </p:nvSpPr>
        <p:spPr bwMode="auto">
          <a:xfrm>
            <a:off x="4191906" y="3764480"/>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2</a:t>
            </a:r>
            <a:endParaRPr lang="en-US" b="1">
              <a:solidFill>
                <a:srgbClr val="C00000"/>
              </a:solidFill>
            </a:endParaRPr>
          </a:p>
        </p:txBody>
      </p:sp>
      <p:sp>
        <p:nvSpPr>
          <p:cNvPr id="22" name="Oval 21" hidden="0"/>
          <p:cNvSpPr/>
          <p:nvPr isPhoto="0" userDrawn="0"/>
        </p:nvSpPr>
        <p:spPr bwMode="auto">
          <a:xfrm>
            <a:off x="7847682" y="1566881"/>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3</a:t>
            </a:r>
            <a:endParaRPr/>
          </a:p>
        </p:txBody>
      </p:sp>
      <p:sp>
        <p:nvSpPr>
          <p:cNvPr id="23" name="Oval 22" hidden="0"/>
          <p:cNvSpPr/>
          <p:nvPr isPhoto="0" userDrawn="0"/>
        </p:nvSpPr>
        <p:spPr bwMode="auto">
          <a:xfrm>
            <a:off x="9713941" y="5338813"/>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4</a:t>
            </a:r>
            <a:endParaRPr lang="en-US" b="1">
              <a:solidFill>
                <a:srgbClr val="C00000"/>
              </a:solidFill>
            </a:endParaRPr>
          </a:p>
        </p:txBody>
      </p:sp>
      <p:sp>
        <p:nvSpPr>
          <p:cNvPr id="24" name="Rectangle 23" hidden="0"/>
          <p:cNvSpPr/>
          <p:nvPr isPhoto="0" userDrawn="0"/>
        </p:nvSpPr>
        <p:spPr bwMode="auto">
          <a:xfrm>
            <a:off x="6356307" y="1078015"/>
            <a:ext cx="2871422" cy="55291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Rectangle 3" hidden="0"/>
          <p:cNvSpPr/>
          <p:nvPr isPhoto="0" userDrawn="0"/>
        </p:nvSpPr>
        <p:spPr bwMode="auto">
          <a:xfrm>
            <a:off x="314551" y="1060613"/>
            <a:ext cx="5417820" cy="553998"/>
          </a:xfrm>
          <a:prstGeom prst="rect">
            <a:avLst/>
          </a:prstGeom>
          <a:ln w="57150">
            <a:solidFill>
              <a:srgbClr val="92D050"/>
            </a:solidFill>
          </a:ln>
        </p:spPr>
        <p:txBody>
          <a:bodyPr wrap="square">
            <a:spAutoFit/>
          </a:bodyPr>
          <a:lstStyle/>
          <a:p>
            <a:pPr>
              <a:defRPr/>
            </a:pPr>
            <a:r>
              <a:rPr lang="en-US" sz="3000">
                <a:solidFill>
                  <a:srgbClr val="5877B6"/>
                </a:solidFill>
              </a:rPr>
              <a:t>https://gcrc.efoxconn.com/#/CRC</a:t>
            </a:r>
            <a:endParaRPr/>
          </a:p>
        </p:txBody>
      </p:sp>
      <p:pic>
        <p:nvPicPr>
          <p:cNvPr id="5" name="Picture 4" hidden="0"/>
          <p:cNvPicPr>
            <a:picLocks noChangeAspect="1"/>
          </p:cNvPicPr>
          <p:nvPr isPhoto="0" userDrawn="0"/>
        </p:nvPicPr>
        <p:blipFill>
          <a:blip r:embed="rId3"/>
          <a:stretch/>
        </p:blipFill>
        <p:spPr bwMode="auto">
          <a:xfrm>
            <a:off x="158470" y="2270060"/>
            <a:ext cx="6972300" cy="4050916"/>
          </a:xfrm>
          <a:prstGeom prst="rect">
            <a:avLst/>
          </a:prstGeom>
        </p:spPr>
      </p:pic>
      <p:pic>
        <p:nvPicPr>
          <p:cNvPr id="7" name="Picture 6" hidden="0"/>
          <p:cNvPicPr>
            <a:picLocks noChangeAspect="1"/>
          </p:cNvPicPr>
          <p:nvPr isPhoto="0" userDrawn="0"/>
        </p:nvPicPr>
        <p:blipFill>
          <a:blip r:embed="rId4"/>
          <a:stretch/>
        </p:blipFill>
        <p:spPr bwMode="auto">
          <a:xfrm>
            <a:off x="158470" y="3273243"/>
            <a:ext cx="4987198" cy="3047733"/>
          </a:xfrm>
          <a:prstGeom prst="rect">
            <a:avLst/>
          </a:prstGeom>
        </p:spPr>
      </p:pic>
      <p:sp>
        <p:nvSpPr>
          <p:cNvPr id="8" name="Rectangle 7" hidden="0"/>
          <p:cNvSpPr/>
          <p:nvPr isPhoto="0" userDrawn="0"/>
        </p:nvSpPr>
        <p:spPr bwMode="auto">
          <a:xfrm>
            <a:off x="1358620" y="4220189"/>
            <a:ext cx="2526030" cy="33147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0" name="Elbow Connector 9" hidden="0"/>
          <p:cNvCxnSpPr>
            <a:cxnSpLocks/>
            <a:stCxn id="4" idx="2"/>
            <a:endCxn id="8" idx="0"/>
          </p:cNvCxnSpPr>
          <p:nvPr isPhoto="0" userDrawn="0"/>
        </p:nvCxnSpPr>
        <p:spPr bwMode="auto">
          <a:xfrm rot="5400000">
            <a:off x="1519759" y="2716487"/>
            <a:ext cx="2605578" cy="401826"/>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Oval 21" hidden="0"/>
          <p:cNvSpPr/>
          <p:nvPr isPhoto="0" userDrawn="0"/>
        </p:nvSpPr>
        <p:spPr bwMode="auto">
          <a:xfrm>
            <a:off x="3227593" y="1582932"/>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1</a:t>
            </a:r>
            <a:endParaRPr lang="en-US" b="1">
              <a:solidFill>
                <a:srgbClr val="C00000"/>
              </a:solidFill>
            </a:endParaRPr>
          </a:p>
        </p:txBody>
      </p:sp>
      <p:sp>
        <p:nvSpPr>
          <p:cNvPr id="23" name="Oval 22" hidden="0"/>
          <p:cNvSpPr/>
          <p:nvPr isPhoto="0" userDrawn="0"/>
        </p:nvSpPr>
        <p:spPr bwMode="auto">
          <a:xfrm>
            <a:off x="3831826" y="3806053"/>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2</a:t>
            </a:r>
            <a:endParaRPr lang="en-US" b="1">
              <a:solidFill>
                <a:srgbClr val="C00000"/>
              </a:solidFill>
            </a:endParaRPr>
          </a:p>
        </p:txBody>
      </p:sp>
      <p:sp>
        <p:nvSpPr>
          <p:cNvPr id="29" name="TextBox 28" hidden="0"/>
          <p:cNvSpPr txBox="1"/>
          <p:nvPr isPhoto="0" userDrawn="0"/>
        </p:nvSpPr>
        <p:spPr bwMode="auto">
          <a:xfrm>
            <a:off x="725805" y="93989"/>
            <a:ext cx="4512853" cy="630941"/>
          </a:xfrm>
          <a:prstGeom prst="rect">
            <a:avLst/>
          </a:prstGeom>
          <a:noFill/>
        </p:spPr>
        <p:txBody>
          <a:bodyPr wrap="square" rtlCol="0">
            <a:spAutoFit/>
          </a:bodyPr>
          <a:lstStyle/>
          <a:p>
            <a:pPr>
              <a:defRPr/>
            </a:pPr>
            <a:r>
              <a:rPr lang="zh-CN" sz="3500" b="1">
                <a:solidFill>
                  <a:srgbClr val="5877B6"/>
                </a:solidFill>
              </a:rPr>
              <a:t>網域賬號密碼</a:t>
            </a:r>
            <a:r>
              <a:rPr lang="zh-CN" sz="3500" b="1">
                <a:solidFill>
                  <a:srgbClr val="C00000"/>
                </a:solidFill>
              </a:rPr>
              <a:t>重置</a:t>
            </a:r>
            <a:r>
              <a:rPr lang="zh-CN" sz="3500" b="1">
                <a:solidFill>
                  <a:srgbClr val="5877B6"/>
                </a:solidFill>
              </a:rPr>
              <a:t>步驟</a:t>
            </a:r>
            <a:endParaRPr lang="en-US" sz="3500" b="1">
              <a:solidFill>
                <a:srgbClr val="5877B6"/>
              </a:solidFill>
            </a:endParaRPr>
          </a:p>
        </p:txBody>
      </p:sp>
      <p:pic>
        <p:nvPicPr>
          <p:cNvPr id="3" name="Picture 2" hidden="0"/>
          <p:cNvPicPr>
            <a:picLocks noChangeAspect="1"/>
          </p:cNvPicPr>
          <p:nvPr isPhoto="0" userDrawn="0"/>
        </p:nvPicPr>
        <p:blipFill>
          <a:blip r:embed="rId5"/>
          <a:stretch/>
        </p:blipFill>
        <p:spPr bwMode="auto">
          <a:xfrm>
            <a:off x="5936501" y="1060612"/>
            <a:ext cx="5981694" cy="5235395"/>
          </a:xfrm>
          <a:prstGeom prst="rect">
            <a:avLst/>
          </a:prstGeom>
        </p:spPr>
      </p:pic>
      <p:sp>
        <p:nvSpPr>
          <p:cNvPr id="26" name="Rectangle 25" hidden="0"/>
          <p:cNvSpPr/>
          <p:nvPr isPhoto="0" userDrawn="0"/>
        </p:nvSpPr>
        <p:spPr bwMode="auto">
          <a:xfrm>
            <a:off x="8860497" y="1142080"/>
            <a:ext cx="3052209" cy="8817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7" name="Oval 26" hidden="0"/>
          <p:cNvSpPr/>
          <p:nvPr isPhoto="0" userDrawn="0"/>
        </p:nvSpPr>
        <p:spPr bwMode="auto">
          <a:xfrm>
            <a:off x="10997735" y="3323240"/>
            <a:ext cx="494883" cy="48281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4</a:t>
            </a:r>
            <a:endParaRPr lang="en-US" b="1">
              <a:solidFill>
                <a:srgbClr val="C00000"/>
              </a:solidFill>
            </a:endParaRPr>
          </a:p>
        </p:txBody>
      </p:sp>
      <p:sp>
        <p:nvSpPr>
          <p:cNvPr id="28" name="Rectangle 27" hidden="0"/>
          <p:cNvSpPr/>
          <p:nvPr isPhoto="0" userDrawn="0"/>
        </p:nvSpPr>
        <p:spPr bwMode="auto">
          <a:xfrm>
            <a:off x="8041190" y="2739983"/>
            <a:ext cx="2743892" cy="751843"/>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1" name="Rectangle 30" hidden="0"/>
          <p:cNvSpPr/>
          <p:nvPr isPhoto="0" userDrawn="0"/>
        </p:nvSpPr>
        <p:spPr bwMode="auto">
          <a:xfrm>
            <a:off x="8168471" y="5312085"/>
            <a:ext cx="1517753" cy="676451"/>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2" name="Oval 31" hidden="0"/>
          <p:cNvSpPr/>
          <p:nvPr isPhoto="0" userDrawn="0"/>
        </p:nvSpPr>
        <p:spPr bwMode="auto">
          <a:xfrm>
            <a:off x="8217639" y="878445"/>
            <a:ext cx="494883" cy="48281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3</a:t>
            </a:r>
            <a:endParaRPr/>
          </a:p>
        </p:txBody>
      </p:sp>
      <p:cxnSp>
        <p:nvCxnSpPr>
          <p:cNvPr id="12" name="Elbow Connector 11" hidden="0"/>
          <p:cNvCxnSpPr>
            <a:cxnSpLocks/>
            <a:stCxn id="8" idx="3"/>
            <a:endCxn id="26" idx="1"/>
          </p:cNvCxnSpPr>
          <p:nvPr isPhoto="0" userDrawn="0"/>
        </p:nvCxnSpPr>
        <p:spPr bwMode="auto">
          <a:xfrm flipV="1">
            <a:off x="3884650" y="1582932"/>
            <a:ext cx="4975847" cy="2802992"/>
          </a:xfrm>
          <a:prstGeom prst="bentConnector3">
            <a:avLst>
              <a:gd name="adj1" fmla="val 50000"/>
            </a:avLst>
          </a:prstGeom>
          <a:ln w="5715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hidden="0"/>
          <p:cNvCxnSpPr>
            <a:cxnSpLocks/>
            <a:stCxn id="28" idx="2"/>
            <a:endCxn id="31" idx="0"/>
          </p:cNvCxnSpPr>
          <p:nvPr isPhoto="0" userDrawn="0"/>
        </p:nvCxnSpPr>
        <p:spPr bwMode="auto">
          <a:xfrm rot="5400000">
            <a:off x="8260114" y="4159063"/>
            <a:ext cx="1820258" cy="485787"/>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hidden="0"/>
          <p:cNvCxnSpPr>
            <a:cxnSpLocks/>
            <a:stCxn id="26" idx="3"/>
            <a:endCxn id="28" idx="3"/>
          </p:cNvCxnSpPr>
          <p:nvPr isPhoto="0" userDrawn="0"/>
        </p:nvCxnSpPr>
        <p:spPr bwMode="auto">
          <a:xfrm flipH="1">
            <a:off x="10785082" y="1582932"/>
            <a:ext cx="1127624" cy="1532974"/>
          </a:xfrm>
          <a:prstGeom prst="bentConnector3">
            <a:avLst>
              <a:gd name="adj1" fmla="val -10652"/>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8" name="Oval 47" hidden="0"/>
          <p:cNvSpPr/>
          <p:nvPr isPhoto="0" userDrawn="0"/>
        </p:nvSpPr>
        <p:spPr bwMode="auto">
          <a:xfrm>
            <a:off x="9851668" y="5288734"/>
            <a:ext cx="494883" cy="48281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5</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sp>
        <p:nvSpPr>
          <p:cNvPr id="4" name="Rectangle 3" hidden="0"/>
          <p:cNvSpPr/>
          <p:nvPr isPhoto="0" userDrawn="0"/>
        </p:nvSpPr>
        <p:spPr bwMode="auto">
          <a:xfrm>
            <a:off x="703090" y="233505"/>
            <a:ext cx="7606313" cy="553998"/>
          </a:xfrm>
          <a:prstGeom prst="rect">
            <a:avLst/>
          </a:prstGeom>
        </p:spPr>
        <p:txBody>
          <a:bodyPr wrap="none">
            <a:spAutoFit/>
          </a:bodyPr>
          <a:lstStyle/>
          <a:p>
            <a:pPr>
              <a:defRPr/>
            </a:pPr>
            <a:r>
              <a:rPr lang="en-US" sz="3000" b="1">
                <a:solidFill>
                  <a:srgbClr val="5877B6"/>
                </a:solidFill>
              </a:rPr>
              <a:t>How to </a:t>
            </a:r>
            <a:r>
              <a:rPr lang="en-US" sz="3000" b="1">
                <a:solidFill>
                  <a:srgbClr val="C00000"/>
                </a:solidFill>
              </a:rPr>
              <a:t>reset</a:t>
            </a:r>
            <a:r>
              <a:rPr lang="en-US" sz="3000" b="1">
                <a:solidFill>
                  <a:srgbClr val="5877B6"/>
                </a:solidFill>
              </a:rPr>
              <a:t> </a:t>
            </a:r>
            <a:r>
              <a:rPr lang="en-US" sz="3000" b="1">
                <a:solidFill>
                  <a:srgbClr val="5877B6"/>
                </a:solidFill>
              </a:rPr>
              <a:t>SMART OFFICE password on Web</a:t>
            </a:r>
            <a:endParaRPr lang="en-US" sz="3000"/>
          </a:p>
        </p:txBody>
      </p:sp>
      <p:pic>
        <p:nvPicPr>
          <p:cNvPr id="5" name="Picture 4" hidden="0"/>
          <p:cNvPicPr>
            <a:picLocks noChangeAspect="1"/>
          </p:cNvPicPr>
          <p:nvPr isPhoto="0" userDrawn="0"/>
        </p:nvPicPr>
        <p:blipFill>
          <a:blip r:embed="rId3"/>
          <a:stretch/>
        </p:blipFill>
        <p:spPr bwMode="auto">
          <a:xfrm>
            <a:off x="356322" y="2310521"/>
            <a:ext cx="7309627" cy="4050916"/>
          </a:xfrm>
          <a:prstGeom prst="rect">
            <a:avLst/>
          </a:prstGeom>
        </p:spPr>
      </p:pic>
      <p:pic>
        <p:nvPicPr>
          <p:cNvPr id="7" name="Picture 6" hidden="0"/>
          <p:cNvPicPr>
            <a:picLocks noChangeAspect="1"/>
          </p:cNvPicPr>
          <p:nvPr isPhoto="0" userDrawn="0"/>
        </p:nvPicPr>
        <p:blipFill>
          <a:blip r:embed="rId4"/>
          <a:stretch/>
        </p:blipFill>
        <p:spPr bwMode="auto">
          <a:xfrm>
            <a:off x="356322" y="3297609"/>
            <a:ext cx="5059533" cy="3063828"/>
          </a:xfrm>
          <a:prstGeom prst="rect">
            <a:avLst/>
          </a:prstGeom>
        </p:spPr>
      </p:pic>
      <p:sp>
        <p:nvSpPr>
          <p:cNvPr id="8" name="Rectangle 7" hidden="0"/>
          <p:cNvSpPr/>
          <p:nvPr isPhoto="0" userDrawn="0"/>
        </p:nvSpPr>
        <p:spPr bwMode="auto">
          <a:xfrm>
            <a:off x="468261" y="1136502"/>
            <a:ext cx="5417820" cy="553998"/>
          </a:xfrm>
          <a:prstGeom prst="rect">
            <a:avLst/>
          </a:prstGeom>
          <a:ln w="57150">
            <a:solidFill>
              <a:srgbClr val="92D050"/>
            </a:solidFill>
          </a:ln>
        </p:spPr>
        <p:txBody>
          <a:bodyPr wrap="square">
            <a:spAutoFit/>
          </a:bodyPr>
          <a:lstStyle/>
          <a:p>
            <a:pPr>
              <a:defRPr/>
            </a:pPr>
            <a:r>
              <a:rPr lang="en-US" sz="3000">
                <a:solidFill>
                  <a:srgbClr val="5877B6"/>
                </a:solidFill>
              </a:rPr>
              <a:t>https://gcrc.efoxconn.com/#/CRC</a:t>
            </a:r>
            <a:endParaRPr/>
          </a:p>
        </p:txBody>
      </p:sp>
      <p:sp>
        <p:nvSpPr>
          <p:cNvPr id="9" name="Rectangle 8" hidden="0"/>
          <p:cNvSpPr/>
          <p:nvPr isPhoto="0" userDrawn="0"/>
        </p:nvSpPr>
        <p:spPr bwMode="auto">
          <a:xfrm>
            <a:off x="1570360" y="4159092"/>
            <a:ext cx="2700556" cy="390605"/>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0" name="Elbow Connector 9" hidden="0"/>
          <p:cNvCxnSpPr>
            <a:cxnSpLocks/>
            <a:stCxn id="8" idx="2"/>
            <a:endCxn id="9" idx="0"/>
          </p:cNvCxnSpPr>
          <p:nvPr isPhoto="0" userDrawn="0"/>
        </p:nvCxnSpPr>
        <p:spPr bwMode="auto">
          <a:xfrm rot="5400000">
            <a:off x="1814609" y="2796530"/>
            <a:ext cx="2468592" cy="256533"/>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 name="Oval 14" hidden="0"/>
          <p:cNvSpPr/>
          <p:nvPr isPhoto="0" userDrawn="0"/>
        </p:nvSpPr>
        <p:spPr bwMode="auto">
          <a:xfrm>
            <a:off x="3202386" y="1755477"/>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1</a:t>
            </a:r>
            <a:endParaRPr lang="en-US" b="1">
              <a:solidFill>
                <a:srgbClr val="C00000"/>
              </a:solidFill>
            </a:endParaRPr>
          </a:p>
        </p:txBody>
      </p:sp>
      <p:sp>
        <p:nvSpPr>
          <p:cNvPr id="16" name="Oval 15" hidden="0"/>
          <p:cNvSpPr/>
          <p:nvPr isPhoto="0" userDrawn="0"/>
        </p:nvSpPr>
        <p:spPr bwMode="auto">
          <a:xfrm>
            <a:off x="4191906" y="3764480"/>
            <a:ext cx="480060" cy="48006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2</a:t>
            </a:r>
            <a:endParaRPr lang="en-US" b="1">
              <a:solidFill>
                <a:srgbClr val="C00000"/>
              </a:solidFill>
            </a:endParaRPr>
          </a:p>
        </p:txBody>
      </p:sp>
      <p:pic>
        <p:nvPicPr>
          <p:cNvPr id="21" name="Picture 20" hidden="0"/>
          <p:cNvPicPr>
            <a:picLocks noChangeAspect="1"/>
          </p:cNvPicPr>
          <p:nvPr isPhoto="0" userDrawn="0"/>
        </p:nvPicPr>
        <p:blipFill>
          <a:blip r:embed="rId5"/>
          <a:stretch/>
        </p:blipFill>
        <p:spPr bwMode="auto">
          <a:xfrm>
            <a:off x="5936501" y="1060612"/>
            <a:ext cx="5981694" cy="5235395"/>
          </a:xfrm>
          <a:prstGeom prst="rect">
            <a:avLst/>
          </a:prstGeom>
        </p:spPr>
      </p:pic>
      <p:sp>
        <p:nvSpPr>
          <p:cNvPr id="22" name="Rectangle 21" hidden="0"/>
          <p:cNvSpPr/>
          <p:nvPr isPhoto="0" userDrawn="0"/>
        </p:nvSpPr>
        <p:spPr bwMode="auto">
          <a:xfrm>
            <a:off x="8860497" y="1142080"/>
            <a:ext cx="3052209" cy="881703"/>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 name="Oval 22" hidden="0"/>
          <p:cNvSpPr/>
          <p:nvPr isPhoto="0" userDrawn="0"/>
        </p:nvSpPr>
        <p:spPr bwMode="auto">
          <a:xfrm>
            <a:off x="10997735" y="3323240"/>
            <a:ext cx="494883" cy="48281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4</a:t>
            </a:r>
            <a:endParaRPr lang="en-US" b="1">
              <a:solidFill>
                <a:srgbClr val="C00000"/>
              </a:solidFill>
            </a:endParaRPr>
          </a:p>
        </p:txBody>
      </p:sp>
      <p:sp>
        <p:nvSpPr>
          <p:cNvPr id="24" name="Rectangle 23" hidden="0"/>
          <p:cNvSpPr/>
          <p:nvPr isPhoto="0" userDrawn="0"/>
        </p:nvSpPr>
        <p:spPr bwMode="auto">
          <a:xfrm>
            <a:off x="8041190" y="2739983"/>
            <a:ext cx="2743892" cy="751843"/>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5" name="Rectangle 24" hidden="0"/>
          <p:cNvSpPr/>
          <p:nvPr isPhoto="0" userDrawn="0"/>
        </p:nvSpPr>
        <p:spPr bwMode="auto">
          <a:xfrm>
            <a:off x="8168471" y="5312085"/>
            <a:ext cx="1517753" cy="676451"/>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6" name="Oval 25" hidden="0"/>
          <p:cNvSpPr/>
          <p:nvPr isPhoto="0" userDrawn="0"/>
        </p:nvSpPr>
        <p:spPr bwMode="auto">
          <a:xfrm>
            <a:off x="8217639" y="878445"/>
            <a:ext cx="494883" cy="48281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3</a:t>
            </a:r>
            <a:endParaRPr/>
          </a:p>
        </p:txBody>
      </p:sp>
      <p:cxnSp>
        <p:nvCxnSpPr>
          <p:cNvPr id="27" name="Elbow Connector 26" hidden="0"/>
          <p:cNvCxnSpPr>
            <a:cxnSpLocks/>
            <a:stCxn id="24" idx="2"/>
            <a:endCxn id="25" idx="0"/>
          </p:cNvCxnSpPr>
          <p:nvPr isPhoto="0" userDrawn="0"/>
        </p:nvCxnSpPr>
        <p:spPr bwMode="auto">
          <a:xfrm rot="5400000">
            <a:off x="8260114" y="4159063"/>
            <a:ext cx="1820258" cy="485787"/>
          </a:xfrm>
          <a:prstGeom prst="bentConnector3">
            <a:avLst>
              <a:gd name="adj1" fmla="val 50000"/>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hidden="0"/>
          <p:cNvCxnSpPr>
            <a:cxnSpLocks/>
            <a:stCxn id="22" idx="3"/>
            <a:endCxn id="24" idx="3"/>
          </p:cNvCxnSpPr>
          <p:nvPr isPhoto="0" userDrawn="0"/>
        </p:nvCxnSpPr>
        <p:spPr bwMode="auto">
          <a:xfrm flipH="1">
            <a:off x="10785082" y="1582932"/>
            <a:ext cx="1127624" cy="1532974"/>
          </a:xfrm>
          <a:prstGeom prst="bentConnector3">
            <a:avLst>
              <a:gd name="adj1" fmla="val -10652"/>
            </a:avLst>
          </a:prstGeom>
          <a:ln w="3810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Oval 28" hidden="0"/>
          <p:cNvSpPr/>
          <p:nvPr isPhoto="0" userDrawn="0"/>
        </p:nvSpPr>
        <p:spPr bwMode="auto">
          <a:xfrm>
            <a:off x="9851668" y="5288734"/>
            <a:ext cx="494883" cy="48281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solidFill>
                  <a:srgbClr val="C00000"/>
                </a:solidFill>
              </a:rPr>
              <a:t>5</a:t>
            </a:r>
            <a:endParaRPr/>
          </a:p>
        </p:txBody>
      </p:sp>
      <p:cxnSp>
        <p:nvCxnSpPr>
          <p:cNvPr id="31" name="Elbow Connector 30" hidden="0"/>
          <p:cNvCxnSpPr>
            <a:cxnSpLocks/>
            <a:stCxn id="9" idx="3"/>
            <a:endCxn id="22" idx="1"/>
          </p:cNvCxnSpPr>
          <p:nvPr isPhoto="0" userDrawn="0"/>
        </p:nvCxnSpPr>
        <p:spPr bwMode="auto">
          <a:xfrm flipV="1">
            <a:off x="4270916" y="1582932"/>
            <a:ext cx="4589581" cy="2771463"/>
          </a:xfrm>
          <a:prstGeom prst="bentConnector3">
            <a:avLst>
              <a:gd name="adj1" fmla="val 50000"/>
            </a:avLst>
          </a:prstGeom>
          <a:ln w="57150">
            <a:solidFill>
              <a:srgbClr val="92D050"/>
            </a:solidFill>
            <a:prstDash val="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hidden="0"/>
        <p:cNvGrpSpPr/>
        <p:nvPr isPhoto="0" userDrawn="0"/>
      </p:nvGrpSpPr>
      <p:grpSpPr bwMode="auto">
        <a:xfrm>
          <a:off x="0" y="0"/>
          <a:ext cx="0" cy="0"/>
          <a:chOff x="0" y="0"/>
          <a:chExt cx="0" cy="0"/>
        </a:xfrm>
      </p:grpSpPr>
      <p:graphicFrame>
        <p:nvGraphicFramePr>
          <p:cNvPr id="4" name="Table 3" hidden="0"/>
          <p:cNvGraphicFramePr>
            <a:graphicFrameLocks xmlns:a="http://schemas.openxmlformats.org/drawingml/2006/main" noGrp="1"/>
          </p:cNvGraphicFramePr>
          <p:nvPr isPhoto="0" userDrawn="0"/>
        </p:nvGraphicFramePr>
        <p:xfrm>
          <a:off x="1443062" y="1711557"/>
          <a:ext cx="9436747" cy="2499360"/>
        </p:xfrm>
        <a:graphic>
          <a:graphicData uri="http://schemas.openxmlformats.org/drawingml/2006/table">
            <a:tbl>
              <a:tblPr firstRow="1" firstCol="0" lastRow="0" lastCol="0" bandRow="1" bandCol="0">
                <a:tableStyleId>{94AD9CDA-BDD7-5A1A-8191-5F3719DA3A3E}</a:tableStyleId>
              </a:tblPr>
              <a:tblGrid>
                <a:gridCol w="1491486"/>
                <a:gridCol w="3130922"/>
                <a:gridCol w="4814339"/>
              </a:tblGrid>
              <a:tr h="582192">
                <a:tc>
                  <a:txBody>
                    <a:bodyPr/>
                    <a:p>
                      <a:pPr algn="ctr">
                        <a:defRPr/>
                      </a:pPr>
                      <a:r>
                        <a:rPr lang="zh-CN" sz="2000">
                          <a:latin typeface="Times New Roman"/>
                          <a:cs typeface="Times New Roman"/>
                        </a:rPr>
                        <a:t>樓棟</a:t>
                      </a:r>
                      <a:endParaRPr lang="en-US" sz="2000">
                        <a:latin typeface="Times New Roman"/>
                        <a:cs typeface="Times New Roman"/>
                      </a:endParaRPr>
                    </a:p>
                    <a:p>
                      <a:pPr algn="ctr">
                        <a:defRPr/>
                      </a:pPr>
                      <a:r>
                        <a:rPr lang="en-US" sz="2000">
                          <a:latin typeface="Times New Roman"/>
                          <a:cs typeface="Times New Roman"/>
                        </a:rPr>
                        <a:t>Tòa</a:t>
                      </a:r>
                      <a:endParaRPr lang="en-US" sz="2000">
                        <a:latin typeface="Times New Roman"/>
                        <a:cs typeface="Times New Roman"/>
                      </a:endParaRPr>
                    </a:p>
                  </a:txBody>
                  <a:tcPr anchor="ctr"/>
                </a:tc>
                <a:tc>
                  <a:txBody>
                    <a:bodyPr/>
                    <a:p>
                      <a:pPr algn="ctr">
                        <a:defRPr/>
                      </a:pPr>
                      <a:r>
                        <a:rPr lang="zh-CN" sz="2000">
                          <a:latin typeface="Times New Roman"/>
                          <a:cs typeface="Times New Roman"/>
                        </a:rPr>
                        <a:t>分機</a:t>
                      </a:r>
                      <a:endParaRPr lang="en-US" sz="2000">
                        <a:latin typeface="Times New Roman"/>
                        <a:cs typeface="Times New Roman"/>
                      </a:endParaRPr>
                    </a:p>
                    <a:p>
                      <a:pPr algn="ctr">
                        <a:defRPr/>
                      </a:pPr>
                      <a:r>
                        <a:rPr lang="en-US" sz="2000">
                          <a:latin typeface="Times New Roman"/>
                          <a:cs typeface="Times New Roman"/>
                        </a:rPr>
                        <a:t>Số</a:t>
                      </a:r>
                      <a:r>
                        <a:rPr lang="en-US" sz="2000">
                          <a:latin typeface="Times New Roman"/>
                          <a:cs typeface="Times New Roman"/>
                        </a:rPr>
                        <a:t> máy bàn</a:t>
                      </a:r>
                      <a:endParaRPr lang="en-US" sz="2000">
                        <a:latin typeface="Times New Roman"/>
                        <a:cs typeface="Times New Roman"/>
                      </a:endParaRPr>
                    </a:p>
                  </a:txBody>
                  <a:tcPr anchor="ctr"/>
                </a:tc>
                <a:tc>
                  <a:txBody>
                    <a:bodyPr/>
                    <a:p>
                      <a:pPr algn="ctr">
                        <a:defRPr/>
                      </a:pPr>
                      <a:r>
                        <a:rPr lang="zh-CN" sz="2000">
                          <a:latin typeface="Times New Roman"/>
                          <a:cs typeface="Times New Roman"/>
                        </a:rPr>
                        <a:t>郵箱地址</a:t>
                      </a:r>
                      <a:endParaRPr lang="en-US" sz="2000">
                        <a:latin typeface="Times New Roman"/>
                        <a:cs typeface="Times New Roman"/>
                      </a:endParaRPr>
                    </a:p>
                    <a:p>
                      <a:pPr algn="ctr">
                        <a:defRPr/>
                      </a:pPr>
                      <a:r>
                        <a:rPr lang="en-US" sz="2000">
                          <a:latin typeface="Times New Roman"/>
                          <a:cs typeface="Times New Roman"/>
                        </a:rPr>
                        <a:t>Địa</a:t>
                      </a:r>
                      <a:r>
                        <a:rPr lang="en-US" sz="2000">
                          <a:latin typeface="Times New Roman"/>
                          <a:cs typeface="Times New Roman"/>
                        </a:rPr>
                        <a:t> chỉ mail</a:t>
                      </a:r>
                      <a:endParaRPr lang="en-US" sz="2000">
                        <a:latin typeface="Times New Roman"/>
                        <a:cs typeface="Times New Roman"/>
                      </a:endParaRPr>
                    </a:p>
                  </a:txBody>
                  <a:tcPr anchor="ctr"/>
                </a:tc>
              </a:tr>
              <a:tr h="370840">
                <a:tc>
                  <a:txBody>
                    <a:bodyPr/>
                    <a:p>
                      <a:pPr algn="ctr">
                        <a:defRPr/>
                      </a:pPr>
                      <a:r>
                        <a:rPr lang="en-US" sz="2000">
                          <a:latin typeface="Times New Roman"/>
                          <a:cs typeface="Times New Roman"/>
                        </a:rPr>
                        <a:t>JBD</a:t>
                      </a:r>
                      <a:endParaRPr lang="en-US" sz="2000">
                        <a:latin typeface="Times New Roman"/>
                        <a:cs typeface="Times New Roman"/>
                      </a:endParaRPr>
                    </a:p>
                  </a:txBody>
                  <a:tcPr anchor="ctr"/>
                </a:tc>
                <a:tc>
                  <a:txBody>
                    <a:bodyPr/>
                    <a:p>
                      <a:pPr algn="ctr">
                        <a:defRPr/>
                      </a:pPr>
                      <a:r>
                        <a:rPr lang="en-US" sz="2000">
                          <a:latin typeface="Times New Roman"/>
                          <a:cs typeface="Times New Roman"/>
                        </a:rPr>
                        <a:t>31343/30603/30604/30618/30623/31339</a:t>
                      </a:r>
                      <a:endParaRPr lang="en-US" sz="2000">
                        <a:latin typeface="Times New Roman"/>
                        <a:cs typeface="Times New Roman"/>
                      </a:endParaRPr>
                    </a:p>
                  </a:txBody>
                  <a:tcPr anchor="ctr"/>
                </a:tc>
                <a:tc>
                  <a:txBody>
                    <a:bodyPr/>
                    <a:p>
                      <a:pPr algn="ctr">
                        <a:defRPr/>
                      </a:pPr>
                      <a:r>
                        <a:rPr lang="en-US" sz="2000" u="sng">
                          <a:latin typeface="Times New Roman"/>
                          <a:cs typeface="Times New Roman"/>
                          <a:hlinkClick r:id="rId2" tooltip="mailto:cpe-vngz-helpdesk@mail.foxconn.com"/>
                        </a:rPr>
                        <a:t>cpe-vngz-helpdesk@mail.foxconn.com</a:t>
                      </a:r>
                      <a:endParaRPr lang="en-US" sz="2000">
                        <a:latin typeface="Times New Roman"/>
                        <a:cs typeface="Times New Roman"/>
                      </a:endParaRPr>
                    </a:p>
                  </a:txBody>
                  <a:tcPr anchor="ctr"/>
                </a:tc>
              </a:tr>
              <a:tr h="370840">
                <a:tc>
                  <a:txBody>
                    <a:bodyPr/>
                    <a:p>
                      <a:pPr algn="ctr">
                        <a:defRPr/>
                      </a:pPr>
                      <a:r>
                        <a:rPr lang="en-US" sz="2000">
                          <a:latin typeface="Times New Roman"/>
                          <a:cs typeface="Times New Roman"/>
                        </a:rPr>
                        <a:t>MBD</a:t>
                      </a:r>
                      <a:endParaRPr lang="en-US" sz="2000">
                        <a:latin typeface="Times New Roman"/>
                        <a:cs typeface="Times New Roman"/>
                      </a:endParaRPr>
                    </a:p>
                  </a:txBody>
                  <a:tcPr anchor="ctr"/>
                </a:tc>
                <a:tc>
                  <a:txBody>
                    <a:bodyPr/>
                    <a:p>
                      <a:pPr algn="ctr">
                        <a:defRPr/>
                      </a:pPr>
                      <a:r>
                        <a:rPr lang="en-US" sz="2000">
                          <a:latin typeface="Times New Roman"/>
                          <a:cs typeface="Times New Roman"/>
                        </a:rPr>
                        <a:t>30738/31138/30745</a:t>
                      </a:r>
                      <a:endParaRPr lang="en-US" sz="2000">
                        <a:latin typeface="Times New Roman"/>
                        <a:cs typeface="Times New Roman"/>
                      </a:endParaRPr>
                    </a:p>
                  </a:txBody>
                  <a:tcPr anchor="ctr"/>
                </a:tc>
                <a:tc>
                  <a:txBody>
                    <a:bodyPr/>
                    <a:p>
                      <a:pPr algn="ctr">
                        <a:defRPr/>
                      </a:pPr>
                      <a:r>
                        <a:rPr lang="en-US" sz="2000" u="sng">
                          <a:latin typeface="Times New Roman"/>
                          <a:cs typeface="Times New Roman"/>
                          <a:hlinkClick r:id="rId3" tooltip="mailto:cpe-vngz-net-mbd@mail.foxconn.com"/>
                        </a:rPr>
                        <a:t>cpe-vngz-net-mbd@mail.foxconn.com</a:t>
                      </a:r>
                      <a:endParaRPr lang="en-US" sz="2000">
                        <a:latin typeface="Times New Roman"/>
                        <a:cs typeface="Times New Roman"/>
                      </a:endParaRPr>
                    </a:p>
                  </a:txBody>
                  <a:tcPr anchor="ctr"/>
                </a:tc>
              </a:tr>
              <a:tr h="370840">
                <a:tc>
                  <a:txBody>
                    <a:bodyPr/>
                    <a:p>
                      <a:pPr algn="ctr">
                        <a:defRPr/>
                      </a:pPr>
                      <a:r>
                        <a:rPr lang="en-US" sz="2000">
                          <a:latin typeface="Times New Roman"/>
                          <a:cs typeface="Times New Roman"/>
                        </a:rPr>
                        <a:t>NSD</a:t>
                      </a:r>
                      <a:endParaRPr lang="en-US" sz="2000">
                        <a:latin typeface="Times New Roman"/>
                        <a:cs typeface="Times New Roman"/>
                      </a:endParaRPr>
                    </a:p>
                  </a:txBody>
                  <a:tcPr anchor="ctr"/>
                </a:tc>
                <a:tc>
                  <a:txBody>
                    <a:bodyPr/>
                    <a:p>
                      <a:pPr algn="ctr">
                        <a:defRPr/>
                      </a:pPr>
                      <a:r>
                        <a:rPr lang="en-US" sz="2000">
                          <a:latin typeface="Times New Roman"/>
                          <a:cs typeface="Times New Roman"/>
                        </a:rPr>
                        <a:t>31546/</a:t>
                      </a:r>
                      <a:r>
                        <a:rPr lang="en-US" sz="2000">
                          <a:latin typeface="Times New Roman"/>
                          <a:cs typeface="Times New Roman"/>
                        </a:rPr>
                        <a:t>31539</a:t>
                      </a:r>
                      <a:endParaRPr/>
                    </a:p>
                  </a:txBody>
                  <a:tcPr anchor="ctr"/>
                </a:tc>
                <a:tc>
                  <a:txBody>
                    <a:bodyPr/>
                    <a:p>
                      <a:pPr algn="ctr">
                        <a:defRPr/>
                      </a:pPr>
                      <a:r>
                        <a:rPr lang="en-US" sz="2000" u="sng">
                          <a:latin typeface="Times New Roman"/>
                          <a:cs typeface="Times New Roman"/>
                          <a:hlinkClick r:id="rId4" tooltip="mailto:nsd-vn-it@mail.foxconn.com"/>
                        </a:rPr>
                        <a:t>nsd-vn-it@mail.foxconn.com</a:t>
                      </a:r>
                      <a:endParaRPr lang="en-US" sz="2000">
                        <a:latin typeface="Times New Roman"/>
                        <a:cs typeface="Times New Roman"/>
                      </a:endParaRPr>
                    </a:p>
                    <a:p>
                      <a:pPr algn="ctr">
                        <a:defRPr/>
                      </a:pPr>
                      <a:r>
                        <a:rPr lang="en-US" sz="2000" b="0" i="0" u="sng">
                          <a:solidFill>
                            <a:schemeClr val="dk1"/>
                          </a:solidFill>
                          <a:latin typeface="Times New Roman"/>
                          <a:ea typeface="+mn-ea"/>
                          <a:cs typeface="Times New Roman"/>
                          <a:hlinkClick r:id="rId5" tooltip="mailto:nsd-vn-helpdesk@mail.foxconn.com"/>
                        </a:rPr>
                        <a:t>nsd-vn-helpdesk@mail.foxconn.com</a:t>
                      </a:r>
                      <a:endParaRPr lang="en-US" sz="2000" b="0" i="0">
                        <a:solidFill>
                          <a:schemeClr val="dk1"/>
                        </a:solidFill>
                        <a:latin typeface="Times New Roman"/>
                        <a:ea typeface="+mn-ea"/>
                        <a:cs typeface="Times New Roman"/>
                      </a:endParaRPr>
                    </a:p>
                  </a:txBody>
                  <a:tcPr anchor="ctr"/>
                </a:tc>
              </a:tr>
            </a:tbl>
          </a:graphicData>
        </a:graphic>
      </p:graphicFrame>
      <p:sp>
        <p:nvSpPr>
          <p:cNvPr id="5" name="Rectangle 4" hidden="0"/>
          <p:cNvSpPr/>
          <p:nvPr isPhoto="0" userDrawn="0"/>
        </p:nvSpPr>
        <p:spPr bwMode="auto">
          <a:xfrm>
            <a:off x="718589" y="171512"/>
            <a:ext cx="5684568" cy="553998"/>
          </a:xfrm>
          <a:prstGeom prst="rect">
            <a:avLst/>
          </a:prstGeom>
        </p:spPr>
        <p:txBody>
          <a:bodyPr wrap="none">
            <a:spAutoFit/>
          </a:bodyPr>
          <a:lstStyle/>
          <a:p>
            <a:pPr>
              <a:defRPr/>
            </a:pPr>
            <a:r>
              <a:rPr lang="en-US" sz="3000" b="1">
                <a:solidFill>
                  <a:srgbClr val="5877B6"/>
                </a:solidFill>
              </a:rPr>
              <a:t>IT</a:t>
            </a:r>
            <a:r>
              <a:rPr lang="zh-CN" sz="3000" b="1">
                <a:solidFill>
                  <a:srgbClr val="5877B6"/>
                </a:solidFill>
              </a:rPr>
              <a:t>聯絡方式 </a:t>
            </a:r>
            <a:r>
              <a:rPr lang="en-US" sz="3000" b="1">
                <a:solidFill>
                  <a:srgbClr val="5877B6"/>
                </a:solidFill>
              </a:rPr>
              <a:t>Phương thức liên lạc IT</a:t>
            </a:r>
            <a:endParaRPr lang="en-US" sz="30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ONLYOFFICE/7.1.0.215</Application>
  <DocSecurity>0</DocSecurity>
  <PresentationFormat>Widescreen</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SOP change password SMART OFFICE on web</dc:title>
  <dc:subject/>
  <dc:creator>Nguyen Sy Phong</dc:creator>
  <cp:keywords/>
  <dc:description/>
  <dc:identifier/>
  <dc:language/>
  <cp:lastModifiedBy/>
  <cp:revision>34</cp:revision>
  <dcterms:created xsi:type="dcterms:W3CDTF">2022-05-17T02:31:00Z</dcterms:created>
  <dcterms:modified xsi:type="dcterms:W3CDTF">2024-11-11T08:13:28Z</dcterms:modified>
  <cp:category/>
  <cp:contentStatus/>
  <cp:version/>
</cp:coreProperties>
</file>