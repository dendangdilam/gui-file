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28"/>
  </p:notesMasterIdLst>
  <p:sldIdLst>
    <p:sldId id="409" r:id="rId2"/>
    <p:sldId id="399" r:id="rId3"/>
    <p:sldId id="424" r:id="rId4"/>
    <p:sldId id="433" r:id="rId5"/>
    <p:sldId id="406" r:id="rId6"/>
    <p:sldId id="426" r:id="rId7"/>
    <p:sldId id="427" r:id="rId8"/>
    <p:sldId id="430" r:id="rId9"/>
    <p:sldId id="431" r:id="rId10"/>
    <p:sldId id="432" r:id="rId11"/>
    <p:sldId id="443" r:id="rId12"/>
    <p:sldId id="435" r:id="rId13"/>
    <p:sldId id="444" r:id="rId14"/>
    <p:sldId id="436" r:id="rId15"/>
    <p:sldId id="437" r:id="rId16"/>
    <p:sldId id="416" r:id="rId17"/>
    <p:sldId id="421" r:id="rId18"/>
    <p:sldId id="420" r:id="rId19"/>
    <p:sldId id="445" r:id="rId20"/>
    <p:sldId id="438" r:id="rId21"/>
    <p:sldId id="439" r:id="rId22"/>
    <p:sldId id="440" r:id="rId23"/>
    <p:sldId id="441" r:id="rId24"/>
    <p:sldId id="442" r:id="rId25"/>
    <p:sldId id="425" r:id="rId26"/>
    <p:sldId id="41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7247518-9072-4B73-9900-DEE7F509409E}">
          <p14:sldIdLst>
            <p14:sldId id="409"/>
            <p14:sldId id="399"/>
            <p14:sldId id="424"/>
            <p14:sldId id="433"/>
            <p14:sldId id="406"/>
            <p14:sldId id="426"/>
            <p14:sldId id="427"/>
            <p14:sldId id="430"/>
            <p14:sldId id="431"/>
            <p14:sldId id="432"/>
            <p14:sldId id="443"/>
            <p14:sldId id="435"/>
            <p14:sldId id="444"/>
            <p14:sldId id="436"/>
            <p14:sldId id="437"/>
            <p14:sldId id="416"/>
            <p14:sldId id="421"/>
            <p14:sldId id="420"/>
            <p14:sldId id="445"/>
            <p14:sldId id="438"/>
            <p14:sldId id="439"/>
            <p14:sldId id="440"/>
            <p14:sldId id="441"/>
            <p14:sldId id="442"/>
            <p14:sldId id="425"/>
            <p14:sldId id="412"/>
          </p14:sldIdLst>
        </p14:section>
        <p14:section name="Untitled Section" id="{6D21942D-6EB4-4A6F-AC1B-5AE9BAAB5344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  <a:srgbClr val="E09F1E"/>
    <a:srgbClr val="AB35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94" autoAdjust="0"/>
    <p:restoredTop sz="91058" autoAdjust="0"/>
  </p:normalViewPr>
  <p:slideViewPr>
    <p:cSldViewPr snapToGrid="0">
      <p:cViewPr varScale="1">
        <p:scale>
          <a:sx n="67" d="100"/>
          <a:sy n="67" d="100"/>
        </p:scale>
        <p:origin x="60" y="4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890" y="-121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77D6C2-B308-4A35-9FB3-DDBD8A6F24EC}" type="datetimeFigureOut">
              <a:rPr lang="en-US" smtClean="0"/>
              <a:t>2023-03-28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E0F49-948E-4B5D-8CB5-3F321A062A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61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E0F49-948E-4B5D-8CB5-3F321A062A9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125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3448-5C13-446F-A8CF-692D3843BB9F}" type="datetimeFigureOut">
              <a:rPr lang="en-US" smtClean="0"/>
              <a:t>2023-03-28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2F224-6652-404F-B01D-55E44742E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239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3448-5C13-446F-A8CF-692D3843BB9F}" type="datetimeFigureOut">
              <a:rPr lang="en-US" smtClean="0"/>
              <a:t>2023-03-28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2F224-6652-404F-B01D-55E44742E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680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3448-5C13-446F-A8CF-692D3843BB9F}" type="datetimeFigureOut">
              <a:rPr lang="en-US" smtClean="0"/>
              <a:t>2023-03-28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2F224-6652-404F-B01D-55E44742E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636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3448-5C13-446F-A8CF-692D3843BB9F}" type="datetimeFigureOut">
              <a:rPr lang="en-US" smtClean="0"/>
              <a:t>2023-03-28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2F224-6652-404F-B01D-55E44742E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107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3448-5C13-446F-A8CF-692D3843BB9F}" type="datetimeFigureOut">
              <a:rPr lang="en-US" smtClean="0"/>
              <a:t>2023-03-28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2F224-6652-404F-B01D-55E44742E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50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3448-5C13-446F-A8CF-692D3843BB9F}" type="datetimeFigureOut">
              <a:rPr lang="en-US" smtClean="0"/>
              <a:t>2023-03-28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2F224-6652-404F-B01D-55E44742E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4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3448-5C13-446F-A8CF-692D3843BB9F}" type="datetimeFigureOut">
              <a:rPr lang="en-US" smtClean="0"/>
              <a:t>2023-03-28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2F224-6652-404F-B01D-55E44742E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915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3448-5C13-446F-A8CF-692D3843BB9F}" type="datetimeFigureOut">
              <a:rPr lang="en-US" smtClean="0"/>
              <a:t>2023-03-28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2F224-6652-404F-B01D-55E44742E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912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3448-5C13-446F-A8CF-692D3843BB9F}" type="datetimeFigureOut">
              <a:rPr lang="en-US" smtClean="0"/>
              <a:t>2023-03-28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2F224-6652-404F-B01D-55E44742E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893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3448-5C13-446F-A8CF-692D3843BB9F}" type="datetimeFigureOut">
              <a:rPr lang="en-US" smtClean="0"/>
              <a:t>2023-03-28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2F224-6652-404F-B01D-55E44742E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262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3448-5C13-446F-A8CF-692D3843BB9F}" type="datetimeFigureOut">
              <a:rPr lang="en-US" smtClean="0"/>
              <a:t>2023-03-28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2F224-6652-404F-B01D-55E44742E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4321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42945" y="6388100"/>
            <a:ext cx="11849056" cy="382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9113832" y="6453340"/>
            <a:ext cx="2743557" cy="365125"/>
          </a:xfrm>
        </p:spPr>
        <p:txBody>
          <a:bodyPr/>
          <a:lstStyle>
            <a:lvl1pPr>
              <a:defRPr sz="1600" b="1"/>
            </a:lvl1pPr>
          </a:lstStyle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42945" y="2578102"/>
            <a:ext cx="11456891" cy="177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326447" y="129602"/>
            <a:ext cx="1752828" cy="5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8128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2D3448-5C13-446F-A8CF-692D3843BB9F}" type="datetimeFigureOut">
              <a:rPr lang="en-US" smtClean="0"/>
              <a:t>2023-03-28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2F224-6652-404F-B01D-55E44742E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298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3162" y="1720800"/>
            <a:ext cx="56277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SOP</a:t>
            </a:r>
          </a:p>
          <a:p>
            <a:r>
              <a:rPr lang="vi-VN" sz="5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Đặt lịch phòng họp Online</a:t>
            </a:r>
            <a:endParaRPr lang="en-US" sz="5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677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789" y="1403772"/>
            <a:ext cx="3246760" cy="2926174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976" y="1610501"/>
            <a:ext cx="7137072" cy="39694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27" name="Rectangle 8"/>
          <p:cNvSpPr>
            <a:spLocks noChangeArrowheads="1"/>
          </p:cNvSpPr>
          <p:nvPr/>
        </p:nvSpPr>
        <p:spPr bwMode="auto">
          <a:xfrm>
            <a:off x="159031" y="114293"/>
            <a:ext cx="133527" cy="523220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8">
            <a:extLst>
              <a:ext uri="{FF2B5EF4-FFF2-40B4-BE49-F238E27FC236}">
                <a16:creationId xmlns:a16="http://schemas.microsoft.com/office/drawing/2014/main" id="{7C867973-A88A-8F1C-C685-DB7DF8A91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475" y="260421"/>
            <a:ext cx="133527" cy="5232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highlight>
                <a:srgbClr val="D00034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04528" y="141393"/>
            <a:ext cx="100061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1.Đăng </a:t>
            </a:r>
            <a:r>
              <a:rPr lang="en-US" altLang="zh-TW" sz="2400" b="1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</a:t>
            </a:r>
            <a:r>
              <a:rPr lang="en-US" altLang="zh-TW"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b="1" i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altLang="zh-TW" sz="2400" b="1" i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b="1" i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endParaRPr lang="en-US" altLang="zh-TW" b="1" i="1" dirty="0" smtClean="0">
              <a:solidFill>
                <a:srgbClr val="0070C0"/>
              </a:solidFill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endParaRPr lang="en-US" altLang="zh-TW" b="1" dirty="0" smtClean="0">
              <a:solidFill>
                <a:srgbClr val="0070C0"/>
              </a:solidFill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r>
              <a:rPr lang="en-US" altLang="zh-TW" b="1" dirty="0" smtClean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Link :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https://</a:t>
            </a:r>
            <a:r>
              <a:rPr lang="en-US" altLang="zh-TW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vn-webportal.cnsbg.efoxconn.com/MeetingRoom</a:t>
            </a:r>
          </a:p>
          <a:p>
            <a:r>
              <a:rPr lang="zh-TW" alt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TW" alt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400" b="1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Rectangle: Rounded Corners 6">
            <a:extLst>
              <a:ext uri="{FF2B5EF4-FFF2-40B4-BE49-F238E27FC236}">
                <a16:creationId xmlns:a16="http://schemas.microsoft.com/office/drawing/2014/main" id="{26582B2E-DC95-4FF2-AB1B-C58B2A01D736}"/>
              </a:ext>
            </a:extLst>
          </p:cNvPr>
          <p:cNvSpPr/>
          <p:nvPr/>
        </p:nvSpPr>
        <p:spPr>
          <a:xfrm>
            <a:off x="4844077" y="2007427"/>
            <a:ext cx="7103971" cy="32673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: Rounded Corners 16">
            <a:extLst>
              <a:ext uri="{FF2B5EF4-FFF2-40B4-BE49-F238E27FC236}">
                <a16:creationId xmlns:a16="http://schemas.microsoft.com/office/drawing/2014/main" id="{02140BB2-0EC3-49A4-BE90-395A55A633DA}"/>
              </a:ext>
            </a:extLst>
          </p:cNvPr>
          <p:cNvSpPr/>
          <p:nvPr/>
        </p:nvSpPr>
        <p:spPr>
          <a:xfrm>
            <a:off x="8021781" y="5313982"/>
            <a:ext cx="656477" cy="26600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Arrow: Left 9">
            <a:extLst>
              <a:ext uri="{FF2B5EF4-FFF2-40B4-BE49-F238E27FC236}">
                <a16:creationId xmlns:a16="http://schemas.microsoft.com/office/drawing/2014/main" id="{E2C7BC43-FFEB-404D-A0D1-0004099BA282}"/>
              </a:ext>
            </a:extLst>
          </p:cNvPr>
          <p:cNvSpPr/>
          <p:nvPr/>
        </p:nvSpPr>
        <p:spPr>
          <a:xfrm>
            <a:off x="9795882" y="4874550"/>
            <a:ext cx="1954067" cy="426129"/>
          </a:xfrm>
          <a:prstGeom prst="lef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1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TW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altLang="zh-TW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</a:t>
            </a:r>
            <a:r>
              <a:rPr lang="en-US" altLang="zh-TW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altLang="zh-TW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khoản</a:t>
            </a:r>
            <a:endParaRPr lang="zh-TW" alt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: Rounded Corners 16">
            <a:extLst>
              <a:ext uri="{FF2B5EF4-FFF2-40B4-BE49-F238E27FC236}">
                <a16:creationId xmlns:a16="http://schemas.microsoft.com/office/drawing/2014/main" id="{02140BB2-0EC3-49A4-BE90-395A55A633DA}"/>
              </a:ext>
            </a:extLst>
          </p:cNvPr>
          <p:cNvSpPr/>
          <p:nvPr/>
        </p:nvSpPr>
        <p:spPr>
          <a:xfrm>
            <a:off x="9243753" y="4954611"/>
            <a:ext cx="519028" cy="26600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3140874" y="4345663"/>
            <a:ext cx="328474" cy="30184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827433" y="3837998"/>
            <a:ext cx="948228" cy="150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Line Callout 2 19"/>
          <p:cNvSpPr/>
          <p:nvPr/>
        </p:nvSpPr>
        <p:spPr>
          <a:xfrm>
            <a:off x="1242585" y="4723831"/>
            <a:ext cx="1975327" cy="856159"/>
          </a:xfrm>
          <a:prstGeom prst="borderCallout2">
            <a:avLst>
              <a:gd name="adj1" fmla="val -1640"/>
              <a:gd name="adj2" fmla="val 52160"/>
              <a:gd name="adj3" fmla="val -669"/>
              <a:gd name="adj4" fmla="val 50462"/>
              <a:gd name="adj5" fmla="val -81687"/>
              <a:gd name="adj6" fmla="val 85477"/>
            </a:avLst>
          </a:prstGeom>
          <a:solidFill>
            <a:srgbClr val="00206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“I want to Register” </a:t>
            </a:r>
            <a:r>
              <a:rPr lang="vi-VN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 đăng kí tài khoản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Elbow Connector 9"/>
          <p:cNvCxnSpPr/>
          <p:nvPr/>
        </p:nvCxnSpPr>
        <p:spPr>
          <a:xfrm rot="5400000">
            <a:off x="2607027" y="4189985"/>
            <a:ext cx="734909" cy="33278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7857544" y="1214637"/>
            <a:ext cx="328474" cy="30184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9762781" y="4616364"/>
            <a:ext cx="328474" cy="30184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7745522" y="5689302"/>
            <a:ext cx="328474" cy="30184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3827433" y="5204670"/>
            <a:ext cx="4148505" cy="48463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vi-VN" altLang="zh-TW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Click “Back to login”để quay trở về trang chủ Login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: Rounded Corners 16">
            <a:extLst>
              <a:ext uri="{FF2B5EF4-FFF2-40B4-BE49-F238E27FC236}">
                <a16:creationId xmlns:a16="http://schemas.microsoft.com/office/drawing/2014/main" id="{02140BB2-0EC3-49A4-BE90-395A55A633DA}"/>
              </a:ext>
            </a:extLst>
          </p:cNvPr>
          <p:cNvSpPr/>
          <p:nvPr/>
        </p:nvSpPr>
        <p:spPr>
          <a:xfrm>
            <a:off x="2884229" y="3685770"/>
            <a:ext cx="972871" cy="266008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loud Callout 6"/>
          <p:cNvSpPr/>
          <p:nvPr/>
        </p:nvSpPr>
        <p:spPr>
          <a:xfrm>
            <a:off x="8073996" y="533400"/>
            <a:ext cx="3675953" cy="967789"/>
          </a:xfrm>
          <a:prstGeom prst="cloudCallout">
            <a:avLst>
              <a:gd name="adj1" fmla="val -44958"/>
              <a:gd name="adj2" fmla="val 56583"/>
            </a:avLst>
          </a:prstGeom>
          <a:solidFill>
            <a:srgbClr val="00206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vi-VN" altLang="zh-TW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Nhập đầy đủ </a:t>
            </a:r>
            <a:r>
              <a:rPr lang="vi-VN" altLang="zh-TW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 tin đăng kí và lưu trình đăng kí tài khoản </a:t>
            </a:r>
            <a:endParaRPr lang="zh-TW" alt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5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169948" y="126123"/>
            <a:ext cx="133527" cy="386048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id="{7C867973-A88A-8F1C-C685-DB7DF8A91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930" y="253632"/>
            <a:ext cx="133527" cy="386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highlight>
                <a:srgbClr val="D00034"/>
              </a:highlight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16087" y="178015"/>
            <a:ext cx="39148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2.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Đăng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nhập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bằng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tài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khoản</a:t>
            </a:r>
            <a:endParaRPr lang="zh-CN" altLang="en-US" sz="2400" b="1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314045" y="6318435"/>
            <a:ext cx="740300" cy="365125"/>
          </a:xfrm>
        </p:spPr>
        <p:txBody>
          <a:bodyPr/>
          <a:lstStyle/>
          <a:p>
            <a:fld id="{E5386DCD-524C-4D6B-849A-07B12901B9AD}" type="slidenum">
              <a:rPr lang="zh-CN" altLang="en-US" smtClean="0"/>
              <a:pPr/>
              <a:t>3</a:t>
            </a:fld>
            <a:r>
              <a:rPr lang="en-US" altLang="zh-CN" smtClean="0"/>
              <a:t>/N</a:t>
            </a:r>
            <a:endParaRPr lang="en-US" altLang="zh-CN" dirty="0"/>
          </a:p>
        </p:txBody>
      </p:sp>
      <p:sp>
        <p:nvSpPr>
          <p:cNvPr id="53" name="Right Arrow 52"/>
          <p:cNvSpPr/>
          <p:nvPr/>
        </p:nvSpPr>
        <p:spPr>
          <a:xfrm>
            <a:off x="5256547" y="2179000"/>
            <a:ext cx="915653" cy="4005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746917" y="620669"/>
            <a:ext cx="32967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altLang="zh-CN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Đăng</a:t>
            </a:r>
            <a:r>
              <a:rPr lang="en-US" altLang="zh-CN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nhập</a:t>
            </a:r>
            <a:r>
              <a:rPr lang="en-US" altLang="zh-CN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bằng</a:t>
            </a:r>
            <a:r>
              <a:rPr lang="en-US" altLang="zh-CN" dirty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 </a:t>
            </a:r>
            <a:r>
              <a:rPr lang="vi-VN" altLang="zh-CN" dirty="0" err="1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I</a:t>
            </a:r>
            <a:r>
              <a:rPr lang="en-US" altLang="zh-CN" dirty="0" smtClean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civet</a:t>
            </a: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vi-VN" altLang="zh-CN" dirty="0" smtClean="0">
                <a:latin typeface="Times New Roman" panose="02020603050405020304" pitchFamily="18" charset="0"/>
                <a:ea typeface="新細明體" pitchFamily="18" charset="-120"/>
                <a:cs typeface="Times New Roman" panose="02020603050405020304" pitchFamily="18" charset="0"/>
              </a:rPr>
              <a:t>Đăng nhập bằng Smart Office </a:t>
            </a:r>
            <a:endParaRPr lang="en-US" altLang="zh-CN" dirty="0">
              <a:latin typeface="Times New Roman" panose="02020603050405020304" pitchFamily="18" charset="0"/>
              <a:ea typeface="新細明體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257" y="1343314"/>
            <a:ext cx="2621992" cy="20719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2" name="Rectangle: Rounded Corners 6">
            <a:extLst>
              <a:ext uri="{FF2B5EF4-FFF2-40B4-BE49-F238E27FC236}">
                <a16:creationId xmlns:a16="http://schemas.microsoft.com/office/drawing/2014/main" id="{26582B2E-DC95-4FF2-AB1B-C58B2A01D736}"/>
              </a:ext>
            </a:extLst>
          </p:cNvPr>
          <p:cNvSpPr/>
          <p:nvPr/>
        </p:nvSpPr>
        <p:spPr>
          <a:xfrm>
            <a:off x="2468973" y="2381250"/>
            <a:ext cx="1674401" cy="198344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564" y="1343314"/>
            <a:ext cx="2754738" cy="2105844"/>
          </a:xfrm>
          <a:prstGeom prst="rect">
            <a:avLst/>
          </a:prstGeom>
        </p:spPr>
      </p:pic>
      <p:sp>
        <p:nvSpPr>
          <p:cNvPr id="14" name="Rectangle: Rounded Corners 6">
            <a:extLst>
              <a:ext uri="{FF2B5EF4-FFF2-40B4-BE49-F238E27FC236}">
                <a16:creationId xmlns:a16="http://schemas.microsoft.com/office/drawing/2014/main" id="{26582B2E-DC95-4FF2-AB1B-C58B2A01D736}"/>
              </a:ext>
            </a:extLst>
          </p:cNvPr>
          <p:cNvSpPr/>
          <p:nvPr/>
        </p:nvSpPr>
        <p:spPr>
          <a:xfrm>
            <a:off x="7333896" y="1622404"/>
            <a:ext cx="2152073" cy="167639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256" y="3705514"/>
            <a:ext cx="2621993" cy="20719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8" name="Rectangle: Rounded Corners 6">
            <a:extLst>
              <a:ext uri="{FF2B5EF4-FFF2-40B4-BE49-F238E27FC236}">
                <a16:creationId xmlns:a16="http://schemas.microsoft.com/office/drawing/2014/main" id="{26582B2E-DC95-4FF2-AB1B-C58B2A01D736}"/>
              </a:ext>
            </a:extLst>
          </p:cNvPr>
          <p:cNvSpPr/>
          <p:nvPr/>
        </p:nvSpPr>
        <p:spPr>
          <a:xfrm>
            <a:off x="2541452" y="5042078"/>
            <a:ext cx="1601922" cy="20002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Right Arrow 19"/>
          <p:cNvSpPr/>
          <p:nvPr/>
        </p:nvSpPr>
        <p:spPr>
          <a:xfrm>
            <a:off x="5256546" y="4741497"/>
            <a:ext cx="915653" cy="4005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5"/>
          <a:srcRect l="13176" t="8028" r="11417" b="16043"/>
          <a:stretch/>
        </p:blipFill>
        <p:spPr>
          <a:xfrm>
            <a:off x="7079258" y="3683976"/>
            <a:ext cx="2708044" cy="21876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23" name="Rectangle: Rounded Corners 6">
            <a:extLst>
              <a:ext uri="{FF2B5EF4-FFF2-40B4-BE49-F238E27FC236}">
                <a16:creationId xmlns:a16="http://schemas.microsoft.com/office/drawing/2014/main" id="{26582B2E-DC95-4FF2-AB1B-C58B2A01D736}"/>
              </a:ext>
            </a:extLst>
          </p:cNvPr>
          <p:cNvSpPr/>
          <p:nvPr/>
        </p:nvSpPr>
        <p:spPr>
          <a:xfrm>
            <a:off x="7333895" y="4103594"/>
            <a:ext cx="2152073" cy="167639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3462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169948" y="126123"/>
            <a:ext cx="133527" cy="386048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7C867973-A88A-8F1C-C685-DB7DF8A91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930" y="253632"/>
            <a:ext cx="133527" cy="386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highlight>
                <a:srgbClr val="D00034"/>
              </a:highligh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5457" y="178257"/>
            <a:ext cx="34419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3.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Đổi mật khẩu tài khoản</a:t>
            </a:r>
            <a:endParaRPr lang="zh-CN" altLang="en-US" sz="2400" b="1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314045" y="6318435"/>
            <a:ext cx="740300" cy="365125"/>
          </a:xfrm>
        </p:spPr>
        <p:txBody>
          <a:bodyPr/>
          <a:lstStyle/>
          <a:p>
            <a:fld id="{E5386DCD-524C-4D6B-849A-07B12901B9AD}" type="slidenum">
              <a:rPr lang="zh-CN" altLang="en-US" smtClean="0"/>
              <a:pPr/>
              <a:t>4</a:t>
            </a:fld>
            <a:r>
              <a:rPr lang="en-US" altLang="zh-CN" smtClean="0"/>
              <a:t>/N</a:t>
            </a:r>
            <a:endParaRPr lang="en-US" altLang="zh-CN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61" y="1727080"/>
            <a:ext cx="1581371" cy="12193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427" y="2941413"/>
            <a:ext cx="1486107" cy="1009791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5926" y="3210662"/>
            <a:ext cx="5134692" cy="293410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0" name="Rectangle: Rounded Corners 6">
            <a:extLst>
              <a:ext uri="{FF2B5EF4-FFF2-40B4-BE49-F238E27FC236}">
                <a16:creationId xmlns:a16="http://schemas.microsoft.com/office/drawing/2014/main" id="{26582B2E-DC95-4FF2-AB1B-C58B2A01D736}"/>
              </a:ext>
            </a:extLst>
          </p:cNvPr>
          <p:cNvSpPr/>
          <p:nvPr/>
        </p:nvSpPr>
        <p:spPr>
          <a:xfrm>
            <a:off x="709419" y="1727080"/>
            <a:ext cx="953126" cy="36595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Line Callout 2 25"/>
          <p:cNvSpPr/>
          <p:nvPr/>
        </p:nvSpPr>
        <p:spPr>
          <a:xfrm>
            <a:off x="1918963" y="746620"/>
            <a:ext cx="1572664" cy="856158"/>
          </a:xfrm>
          <a:prstGeom prst="borderCallout2">
            <a:avLst>
              <a:gd name="adj1" fmla="val 18750"/>
              <a:gd name="adj2" fmla="val -698"/>
              <a:gd name="adj3" fmla="val 18750"/>
              <a:gd name="adj4" fmla="val -16667"/>
              <a:gd name="adj5" fmla="val 112500"/>
              <a:gd name="adj6" fmla="val -4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/>
              <a:t>1.Chọn ngôn ngữ sử dụng </a:t>
            </a:r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1455703" y="1176634"/>
            <a:ext cx="328474" cy="30184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28" name="Rectangle: Rounded Corners 6">
            <a:extLst>
              <a:ext uri="{FF2B5EF4-FFF2-40B4-BE49-F238E27FC236}">
                <a16:creationId xmlns:a16="http://schemas.microsoft.com/office/drawing/2014/main" id="{26582B2E-DC95-4FF2-AB1B-C58B2A01D736}"/>
              </a:ext>
            </a:extLst>
          </p:cNvPr>
          <p:cNvSpPr/>
          <p:nvPr/>
        </p:nvSpPr>
        <p:spPr>
          <a:xfrm>
            <a:off x="2686427" y="2960091"/>
            <a:ext cx="1486107" cy="365959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Rectangle: Rounded Corners 6">
            <a:extLst>
              <a:ext uri="{FF2B5EF4-FFF2-40B4-BE49-F238E27FC236}">
                <a16:creationId xmlns:a16="http://schemas.microsoft.com/office/drawing/2014/main" id="{26582B2E-DC95-4FF2-AB1B-C58B2A01D736}"/>
              </a:ext>
            </a:extLst>
          </p:cNvPr>
          <p:cNvSpPr/>
          <p:nvPr/>
        </p:nvSpPr>
        <p:spPr>
          <a:xfrm>
            <a:off x="2686427" y="3326051"/>
            <a:ext cx="1486107" cy="33155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Rectangle: Rounded Corners 6">
            <a:extLst>
              <a:ext uri="{FF2B5EF4-FFF2-40B4-BE49-F238E27FC236}">
                <a16:creationId xmlns:a16="http://schemas.microsoft.com/office/drawing/2014/main" id="{26582B2E-DC95-4FF2-AB1B-C58B2A01D736}"/>
              </a:ext>
            </a:extLst>
          </p:cNvPr>
          <p:cNvSpPr/>
          <p:nvPr/>
        </p:nvSpPr>
        <p:spPr>
          <a:xfrm>
            <a:off x="5467927" y="3744343"/>
            <a:ext cx="4959928" cy="186213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Rectangle: Rounded Corners 6">
            <a:extLst>
              <a:ext uri="{FF2B5EF4-FFF2-40B4-BE49-F238E27FC236}">
                <a16:creationId xmlns:a16="http://schemas.microsoft.com/office/drawing/2014/main" id="{26582B2E-DC95-4FF2-AB1B-C58B2A01D736}"/>
              </a:ext>
            </a:extLst>
          </p:cNvPr>
          <p:cNvSpPr/>
          <p:nvPr/>
        </p:nvSpPr>
        <p:spPr>
          <a:xfrm>
            <a:off x="7721601" y="5709847"/>
            <a:ext cx="397164" cy="33155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4362629" y="3357375"/>
            <a:ext cx="328474" cy="30184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/>
              <a:t>2</a:t>
            </a:r>
            <a:endParaRPr lang="zh-TW" altLang="en-US" dirty="0"/>
          </a:p>
        </p:txBody>
      </p:sp>
      <p:sp>
        <p:nvSpPr>
          <p:cNvPr id="32" name="Oval Callout 31"/>
          <p:cNvSpPr/>
          <p:nvPr/>
        </p:nvSpPr>
        <p:spPr>
          <a:xfrm>
            <a:off x="4886195" y="512171"/>
            <a:ext cx="2465950" cy="1473647"/>
          </a:xfrm>
          <a:prstGeom prst="wedgeEllipseCallout">
            <a:avLst>
              <a:gd name="adj1" fmla="val -76195"/>
              <a:gd name="adj2" fmla="val 14523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/>
              <a:t>2.Click vào chức năng đổi mật khẩu khi bạn muốn đổi mật khẩu </a:t>
            </a:r>
            <a:endParaRPr lang="en-US" dirty="0"/>
          </a:p>
        </p:txBody>
      </p:sp>
      <p:sp>
        <p:nvSpPr>
          <p:cNvPr id="33" name="Cloud Callout 32"/>
          <p:cNvSpPr/>
          <p:nvPr/>
        </p:nvSpPr>
        <p:spPr>
          <a:xfrm>
            <a:off x="8591748" y="1394691"/>
            <a:ext cx="1628986" cy="1696284"/>
          </a:xfrm>
          <a:prstGeom prst="cloudCallout">
            <a:avLst>
              <a:gd name="adj1" fmla="val -41035"/>
              <a:gd name="adj2" fmla="val 8453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Điền đúng và đầy đủ thông tin</a:t>
            </a:r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9093529" y="3295387"/>
            <a:ext cx="328474" cy="30184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/>
              <a:t>3</a:t>
            </a:r>
            <a:endParaRPr lang="zh-TW" altLang="en-US" dirty="0"/>
          </a:p>
        </p:txBody>
      </p:sp>
      <p:sp>
        <p:nvSpPr>
          <p:cNvPr id="36" name="Left Arrow 35"/>
          <p:cNvSpPr/>
          <p:nvPr/>
        </p:nvSpPr>
        <p:spPr>
          <a:xfrm>
            <a:off x="8279358" y="5633306"/>
            <a:ext cx="3109078" cy="484632"/>
          </a:xfrm>
          <a:prstGeom prst="leftArrow">
            <a:avLst>
              <a:gd name="adj1" fmla="val 84306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/>
              <a:t>Click để đổi mật khẩu mới </a:t>
            </a:r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8591748" y="6117938"/>
            <a:ext cx="328474" cy="30184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/>
              <a:t>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63780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41" y="715055"/>
            <a:ext cx="2048161" cy="32294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69948" y="57537"/>
            <a:ext cx="133527" cy="523220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7C867973-A88A-8F1C-C685-DB7DF8A91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930" y="185046"/>
            <a:ext cx="133527" cy="5232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highlight>
                <a:srgbClr val="D00034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5457" y="178257"/>
            <a:ext cx="65011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4.GA 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Thiết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lập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phòng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họp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(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thiết lập nhà xưởng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  </a:t>
            </a:r>
            <a:endParaRPr lang="zh-CN" altLang="en-US" sz="2400" b="1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726359" y="2240871"/>
            <a:ext cx="1642912" cy="30184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2825599" y="2594491"/>
            <a:ext cx="328474" cy="30184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720681" y="2617845"/>
            <a:ext cx="1654267" cy="30184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943" y="3194618"/>
            <a:ext cx="9474589" cy="282037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3737520" y="2965834"/>
            <a:ext cx="353679" cy="33488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2435943" y="3445165"/>
            <a:ext cx="3050457" cy="96981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5657514" y="3194618"/>
            <a:ext cx="6253018" cy="229178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loud Callout 6"/>
          <p:cNvSpPr/>
          <p:nvPr/>
        </p:nvSpPr>
        <p:spPr>
          <a:xfrm>
            <a:off x="2435943" y="1594609"/>
            <a:ext cx="2227627" cy="981552"/>
          </a:xfrm>
          <a:prstGeom prst="cloudCallout">
            <a:avLst>
              <a:gd name="adj1" fmla="val -49993"/>
              <a:gd name="adj2" fmla="val 689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1.C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họn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“thiết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lập nhà xưởng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Line Callout 1 8"/>
          <p:cNvSpPr/>
          <p:nvPr/>
        </p:nvSpPr>
        <p:spPr>
          <a:xfrm>
            <a:off x="4791337" y="1930400"/>
            <a:ext cx="1230452" cy="1094966"/>
          </a:xfrm>
          <a:prstGeom prst="borderCallout1">
            <a:avLst>
              <a:gd name="adj1" fmla="val 37642"/>
              <a:gd name="adj2" fmla="val -748"/>
              <a:gd name="adj3" fmla="val 135717"/>
              <a:gd name="adj4" fmla="val -5267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Điền đầy đủ thông tin nhà xưởng 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3290479" y="4572718"/>
            <a:ext cx="328474" cy="30184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3737520" y="4572718"/>
            <a:ext cx="446553" cy="2671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ular Callout 9">
            <a:extLst>
              <a:ext uri="{FF2B5EF4-FFF2-40B4-BE49-F238E27FC236}">
                <a16:creationId xmlns:a16="http://schemas.microsoft.com/office/drawing/2014/main" id="{00000000-0008-0000-0B00-00000A000000}"/>
              </a:ext>
            </a:extLst>
          </p:cNvPr>
          <p:cNvSpPr/>
          <p:nvPr/>
        </p:nvSpPr>
        <p:spPr>
          <a:xfrm>
            <a:off x="4060065" y="5204349"/>
            <a:ext cx="1186190" cy="586851"/>
          </a:xfrm>
          <a:prstGeom prst="wedgeRectCallout">
            <a:avLst>
              <a:gd name="adj1" fmla="val -63401"/>
              <a:gd name="adj2" fmla="val -1091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vi-V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Click </a:t>
            </a: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để tạo xưởng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7017353" y="2798295"/>
            <a:ext cx="328474" cy="30184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ounded Rectangular Callout 20"/>
          <p:cNvSpPr/>
          <p:nvPr/>
        </p:nvSpPr>
        <p:spPr>
          <a:xfrm>
            <a:off x="6395418" y="1597355"/>
            <a:ext cx="1555637" cy="1106459"/>
          </a:xfrm>
          <a:prstGeom prst="wedgeRoundRectCallout">
            <a:avLst>
              <a:gd name="adj1" fmla="val -23208"/>
              <a:gd name="adj2" fmla="val 9004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Bảng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hiện thị thông tin các xưởng đã tạo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10843491" y="4009135"/>
            <a:ext cx="175492" cy="8307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10235187" y="3373394"/>
            <a:ext cx="304802" cy="25421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Line Callout 1 32"/>
          <p:cNvSpPr/>
          <p:nvPr/>
        </p:nvSpPr>
        <p:spPr>
          <a:xfrm>
            <a:off x="9180831" y="2336801"/>
            <a:ext cx="1206757" cy="807932"/>
          </a:xfrm>
          <a:prstGeom prst="borderCallout1">
            <a:avLst>
              <a:gd name="adj1" fmla="val 204796"/>
              <a:gd name="adj2" fmla="val 141207"/>
              <a:gd name="adj3" fmla="val 100555"/>
              <a:gd name="adj4" fmla="val 10054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Click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để sửa xưởng và tầng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11020207" y="4009135"/>
            <a:ext cx="175492" cy="8307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10695820" y="5406547"/>
            <a:ext cx="360481" cy="271987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Line Callout 3 36"/>
          <p:cNvSpPr/>
          <p:nvPr/>
        </p:nvSpPr>
        <p:spPr>
          <a:xfrm>
            <a:off x="9134650" y="5598681"/>
            <a:ext cx="1330152" cy="757045"/>
          </a:xfrm>
          <a:prstGeom prst="borderCallout3">
            <a:avLst>
              <a:gd name="adj1" fmla="val 26933"/>
              <a:gd name="adj2" fmla="val 100632"/>
              <a:gd name="adj3" fmla="val 24781"/>
              <a:gd name="adj4" fmla="val 149999"/>
              <a:gd name="adj5" fmla="val -27198"/>
              <a:gd name="adj6" fmla="val 150062"/>
              <a:gd name="adj7" fmla="val -98818"/>
              <a:gd name="adj8" fmla="val 1496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để xóa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xưởng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76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169948" y="126123"/>
            <a:ext cx="133527" cy="386048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C867973-A88A-8F1C-C685-DB7DF8A91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930" y="253632"/>
            <a:ext cx="133527" cy="386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highlight>
                <a:srgbClr val="D00034"/>
              </a:highligh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5457" y="178257"/>
            <a:ext cx="94522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5. GA 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Thiết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lập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phòng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họp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vi-VN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Tạo danh sách các thiết bị trong phòng họp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  </a:t>
            </a:r>
            <a:endParaRPr lang="zh-CN" altLang="en-US" sz="2400" b="1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41" y="715055"/>
            <a:ext cx="2048161" cy="32294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736390" y="2211959"/>
            <a:ext cx="1642912" cy="3557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736390" y="2926632"/>
            <a:ext cx="1642912" cy="63860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2456077" y="2203688"/>
            <a:ext cx="328474" cy="282657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13" name="Cloud Callout 12"/>
          <p:cNvSpPr/>
          <p:nvPr/>
        </p:nvSpPr>
        <p:spPr>
          <a:xfrm>
            <a:off x="2497786" y="850722"/>
            <a:ext cx="2294299" cy="1373365"/>
          </a:xfrm>
          <a:prstGeom prst="cloudCallout">
            <a:avLst>
              <a:gd name="adj1" fmla="val -50222"/>
              <a:gd name="adj2" fmla="val 1103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1.Chọn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537" y="2329768"/>
            <a:ext cx="8784208" cy="357634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3297731" y="2577236"/>
            <a:ext cx="2826755" cy="10988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5365607" y="2250784"/>
            <a:ext cx="328474" cy="30184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16" name="Oval Callout 15"/>
          <p:cNvSpPr/>
          <p:nvPr/>
        </p:nvSpPr>
        <p:spPr>
          <a:xfrm>
            <a:off x="4896401" y="930719"/>
            <a:ext cx="1439744" cy="1082807"/>
          </a:xfrm>
          <a:prstGeom prst="wedgeEllipseCallout">
            <a:avLst>
              <a:gd name="adj1" fmla="val -30345"/>
              <a:gd name="adj2" fmla="val 966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2.Nhập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 flipV="1">
            <a:off x="4525817" y="3367593"/>
            <a:ext cx="370584" cy="23859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Rectangular Callout 9">
            <a:extLst>
              <a:ext uri="{FF2B5EF4-FFF2-40B4-BE49-F238E27FC236}">
                <a16:creationId xmlns:a16="http://schemas.microsoft.com/office/drawing/2014/main" id="{3E271F33-7065-482D-8DA4-867806D95181}"/>
              </a:ext>
            </a:extLst>
          </p:cNvPr>
          <p:cNvSpPr/>
          <p:nvPr/>
        </p:nvSpPr>
        <p:spPr>
          <a:xfrm flipH="1">
            <a:off x="1314450" y="4117942"/>
            <a:ext cx="1798202" cy="697465"/>
          </a:xfrm>
          <a:prstGeom prst="wedgeRectCallout">
            <a:avLst>
              <a:gd name="adj1" fmla="val -131243"/>
              <a:gd name="adj2" fmla="val -11611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3.Click </a:t>
            </a:r>
            <a:r>
              <a:rPr lang="vi-V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“Tạo”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3285491" y="3739509"/>
            <a:ext cx="328474" cy="30184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11050258" y="3377670"/>
            <a:ext cx="153451" cy="18786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5860641" y="3957057"/>
            <a:ext cx="328474" cy="30184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6253371" y="2577236"/>
            <a:ext cx="5698484" cy="33288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Line Callout 1 (Border and Accent Bar) 23"/>
          <p:cNvSpPr/>
          <p:nvPr/>
        </p:nvSpPr>
        <p:spPr>
          <a:xfrm>
            <a:off x="3310930" y="4815406"/>
            <a:ext cx="1353434" cy="980671"/>
          </a:xfrm>
          <a:prstGeom prst="accentBorderCallout1">
            <a:avLst>
              <a:gd name="adj1" fmla="val 27796"/>
              <a:gd name="adj2" fmla="val 107829"/>
              <a:gd name="adj3" fmla="val -63272"/>
              <a:gd name="adj4" fmla="val 2169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4.Bảng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11203709" y="3367593"/>
            <a:ext cx="152680" cy="187866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Rectangular Callout 25"/>
          <p:cNvSpPr/>
          <p:nvPr/>
        </p:nvSpPr>
        <p:spPr>
          <a:xfrm flipH="1">
            <a:off x="7191375" y="850723"/>
            <a:ext cx="1306080" cy="1373362"/>
          </a:xfrm>
          <a:prstGeom prst="wedgeRectCallout">
            <a:avLst>
              <a:gd name="adj1" fmla="val -241980"/>
              <a:gd name="adj2" fmla="val 13016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5.Click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9360472" y="2607329"/>
            <a:ext cx="328474" cy="319303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28" name="Rectangular Callout 27"/>
          <p:cNvSpPr/>
          <p:nvPr/>
        </p:nvSpPr>
        <p:spPr>
          <a:xfrm>
            <a:off x="10954328" y="930719"/>
            <a:ext cx="914400" cy="1219333"/>
          </a:xfrm>
          <a:prstGeom prst="wedgeRectCallout">
            <a:avLst>
              <a:gd name="adj1" fmla="val -14773"/>
              <a:gd name="adj2" fmla="val 1472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6. Click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11342320" y="2397520"/>
            <a:ext cx="306755" cy="31021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23618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169948" y="57537"/>
            <a:ext cx="133527" cy="523220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7C867973-A88A-8F1C-C685-DB7DF8A91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930" y="185046"/>
            <a:ext cx="133527" cy="5232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 dirty="0">
              <a:highlight>
                <a:srgbClr val="D00034"/>
              </a:highligh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5457" y="159484"/>
            <a:ext cx="65652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6.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GA 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Thiết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lập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phòng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họp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Tạo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phòng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họp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mới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)  </a:t>
            </a:r>
            <a:endParaRPr lang="zh-CN" altLang="en-US" sz="2400" b="1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987" y="811601"/>
            <a:ext cx="4294582" cy="31564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41" y="752905"/>
            <a:ext cx="2048161" cy="31915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736390" y="2211959"/>
            <a:ext cx="1642912" cy="3557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736390" y="3592945"/>
            <a:ext cx="1642912" cy="35153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2499718" y="2687135"/>
            <a:ext cx="354251" cy="29621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10" name="Cloud Callout 9"/>
          <p:cNvSpPr/>
          <p:nvPr/>
        </p:nvSpPr>
        <p:spPr>
          <a:xfrm>
            <a:off x="2483138" y="1219200"/>
            <a:ext cx="2255118" cy="1217766"/>
          </a:xfrm>
          <a:prstGeom prst="cloudCallout">
            <a:avLst>
              <a:gd name="adj1" fmla="val -50222"/>
              <a:gd name="adj2" fmla="val 1419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Chọn”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tạo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họp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mới”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141" y="4196328"/>
            <a:ext cx="9681077" cy="22229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2" name="Line Callout 2 (Border and Accent Bar) 11"/>
          <p:cNvSpPr/>
          <p:nvPr/>
        </p:nvSpPr>
        <p:spPr>
          <a:xfrm>
            <a:off x="10144151" y="980367"/>
            <a:ext cx="1228436" cy="1231592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18530"/>
              <a:gd name="adj6" fmla="val -6989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/>
              <a:t>Nhập đầy đủ thông tin phòng họp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9637671" y="1726690"/>
            <a:ext cx="374547" cy="29730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/>
              <a:t>2</a:t>
            </a:r>
            <a:endParaRPr lang="zh-TW" alt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5086403" y="1037444"/>
            <a:ext cx="4103779" cy="24723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6908800" y="3611942"/>
            <a:ext cx="461818" cy="2540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Line Callout 1 15"/>
          <p:cNvSpPr/>
          <p:nvPr/>
        </p:nvSpPr>
        <p:spPr>
          <a:xfrm>
            <a:off x="7693892" y="3539040"/>
            <a:ext cx="1794408" cy="612648"/>
          </a:xfrm>
          <a:prstGeom prst="borderCallout1">
            <a:avLst>
              <a:gd name="adj1" fmla="val 17243"/>
              <a:gd name="adj2" fmla="val -2060"/>
              <a:gd name="adj3" fmla="val 26566"/>
              <a:gd name="adj4" fmla="val -200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3.Click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“Tạo”để tạo phòng họp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6450610" y="3569575"/>
            <a:ext cx="374547" cy="297302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/>
              <a:t>3</a:t>
            </a:r>
            <a:endParaRPr lang="zh-TW" altLang="en-US" dirty="0"/>
          </a:p>
        </p:txBody>
      </p:sp>
      <p:sp>
        <p:nvSpPr>
          <p:cNvPr id="20" name="Rounded Rectangular Callout 19"/>
          <p:cNvSpPr/>
          <p:nvPr/>
        </p:nvSpPr>
        <p:spPr>
          <a:xfrm>
            <a:off x="3008022" y="2965647"/>
            <a:ext cx="1586115" cy="921787"/>
          </a:xfrm>
          <a:prstGeom prst="wedgeRoundRectCallout">
            <a:avLst>
              <a:gd name="adj1" fmla="val -19086"/>
              <a:gd name="adj2" fmla="val 11469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4.Bảng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phòng họp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3635530" y="4048223"/>
            <a:ext cx="354251" cy="29621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/>
              <a:t>4</a:t>
            </a:r>
            <a:endParaRPr lang="zh-TW" alt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9198781" y="4845337"/>
            <a:ext cx="185364" cy="92739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9384145" y="4845337"/>
            <a:ext cx="157019" cy="92739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7896789" y="5896284"/>
            <a:ext cx="387910" cy="279284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/>
              <a:t>4</a:t>
            </a:r>
            <a:endParaRPr lang="zh-TW" altLang="en-US" dirty="0"/>
          </a:p>
        </p:txBody>
      </p:sp>
      <p:sp>
        <p:nvSpPr>
          <p:cNvPr id="26" name="Oval Callout 25"/>
          <p:cNvSpPr/>
          <p:nvPr/>
        </p:nvSpPr>
        <p:spPr>
          <a:xfrm>
            <a:off x="4664365" y="5727428"/>
            <a:ext cx="3029528" cy="657947"/>
          </a:xfrm>
          <a:prstGeom prst="wedgeEllipseCallout">
            <a:avLst>
              <a:gd name="adj1" fmla="val 96932"/>
              <a:gd name="adj2" fmla="val -5795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latin typeface="+mj-lt"/>
              </a:rPr>
              <a:t>4.Click để sửa thông tin phòng họp  </a:t>
            </a:r>
            <a:endParaRPr lang="en-US" dirty="0">
              <a:latin typeface="+mj-lt"/>
            </a:endParaRPr>
          </a:p>
        </p:txBody>
      </p:sp>
      <p:sp>
        <p:nvSpPr>
          <p:cNvPr id="27" name="Oval Callout 26"/>
          <p:cNvSpPr/>
          <p:nvPr/>
        </p:nvSpPr>
        <p:spPr>
          <a:xfrm>
            <a:off x="9885542" y="3149600"/>
            <a:ext cx="1826168" cy="1218593"/>
          </a:xfrm>
          <a:prstGeom prst="wedgeEllipseCallout">
            <a:avLst>
              <a:gd name="adj1" fmla="val -66855"/>
              <a:gd name="adj2" fmla="val 1178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5</a:t>
            </a:r>
            <a:r>
              <a:rPr lang="vi-VN" dirty="0" smtClean="0"/>
              <a:t>.Click </a:t>
            </a:r>
            <a:r>
              <a:rPr lang="vi-VN" dirty="0"/>
              <a:t>để </a:t>
            </a:r>
            <a:r>
              <a:rPr lang="vi-VN" dirty="0" smtClean="0"/>
              <a:t>xóa </a:t>
            </a:r>
            <a:r>
              <a:rPr lang="vi-VN" dirty="0"/>
              <a:t>phòng họp  </a:t>
            </a:r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10280099" y="4566053"/>
            <a:ext cx="387910" cy="279284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/>
              <a:t>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26594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>
            <a:spLocks noChangeArrowheads="1"/>
          </p:cNvSpPr>
          <p:nvPr/>
        </p:nvSpPr>
        <p:spPr bwMode="auto">
          <a:xfrm>
            <a:off x="169948" y="126123"/>
            <a:ext cx="133527" cy="386048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C867973-A88A-8F1C-C685-DB7DF8A91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930" y="253632"/>
            <a:ext cx="133527" cy="386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highlight>
                <a:srgbClr val="D00034"/>
              </a:highligh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7439" y="178015"/>
            <a:ext cx="63626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7.Đăng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kí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phòng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họp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vi-VN" altLang="zh-CN" sz="2400" b="1" i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Đặt phòng họp đơn lẻ 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zh-CN" altLang="en-US" sz="2400" b="1" i="1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30" y="767189"/>
            <a:ext cx="1886213" cy="27721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674255" y="1797520"/>
            <a:ext cx="1513888" cy="3557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674256" y="2153270"/>
            <a:ext cx="1513887" cy="30360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018" y="3539351"/>
            <a:ext cx="9097819" cy="22888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2259200" y="2308768"/>
            <a:ext cx="354251" cy="29621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10" name="Cloud Callout 9"/>
          <p:cNvSpPr/>
          <p:nvPr/>
        </p:nvSpPr>
        <p:spPr>
          <a:xfrm>
            <a:off x="2218545" y="599163"/>
            <a:ext cx="1848630" cy="1253775"/>
          </a:xfrm>
          <a:prstGeom prst="cloudCallout">
            <a:avLst>
              <a:gd name="adj1" fmla="val -46978"/>
              <a:gd name="adj2" fmla="val 855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latin typeface="+mj-lt"/>
              </a:rPr>
              <a:t>1.Chọn “đặt phòng đơn lẻ”</a:t>
            </a:r>
            <a:endParaRPr lang="en-US" dirty="0">
              <a:latin typeface="+mj-lt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4720452" y="3193532"/>
            <a:ext cx="354251" cy="29621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/>
              <a:t>2</a:t>
            </a:r>
            <a:endParaRPr lang="zh-TW" alt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8825460" y="2510068"/>
            <a:ext cx="354251" cy="29621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/>
              <a:t>3</a:t>
            </a:r>
            <a:endParaRPr lang="zh-TW" alt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2762359" y="3736343"/>
            <a:ext cx="8967136" cy="18948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Oval Callout 10"/>
          <p:cNvSpPr/>
          <p:nvPr/>
        </p:nvSpPr>
        <p:spPr>
          <a:xfrm>
            <a:off x="4924464" y="2142847"/>
            <a:ext cx="2428836" cy="1266334"/>
          </a:xfrm>
          <a:prstGeom prst="wedgeEllipseCallout">
            <a:avLst>
              <a:gd name="adj1" fmla="val -49852"/>
              <a:gd name="adj2" fmla="val 742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/>
              <a:t>2.Form hiển thị tất cả thông tin các loại phòng họp 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10797308" y="3946362"/>
            <a:ext cx="849747" cy="30360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Line Callout 1 13"/>
          <p:cNvSpPr/>
          <p:nvPr/>
        </p:nvSpPr>
        <p:spPr>
          <a:xfrm>
            <a:off x="8241980" y="1228437"/>
            <a:ext cx="1521212" cy="1140978"/>
          </a:xfrm>
          <a:prstGeom prst="borderCallout1">
            <a:avLst>
              <a:gd name="adj1" fmla="val 100161"/>
              <a:gd name="adj2" fmla="val 51263"/>
              <a:gd name="adj3" fmla="val 252004"/>
              <a:gd name="adj4" fmla="val 16682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/>
              <a:t>3.Click để tìm kiếm phòng họp đã được đặt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277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169948" y="57537"/>
            <a:ext cx="133527" cy="523220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7C867973-A88A-8F1C-C685-DB7DF8A91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930" y="185046"/>
            <a:ext cx="133527" cy="5232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 dirty="0">
              <a:highlight>
                <a:srgbClr val="D00034"/>
              </a:highligh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2982" y="156203"/>
            <a:ext cx="66062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7.1 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Đăng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kí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phòng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họp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vi-VN" altLang="zh-CN" sz="2400" b="1" i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Đặt phòng họp đơn lẻ 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zh-CN" altLang="en-US" sz="2400" b="1" i="1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49" y="804564"/>
            <a:ext cx="9057527" cy="25669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9577196" y="1749805"/>
            <a:ext cx="364112" cy="29019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475749" y="992944"/>
            <a:ext cx="9017233" cy="22016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9222182" y="1787753"/>
            <a:ext cx="193965" cy="16038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61" y="3382954"/>
            <a:ext cx="5919161" cy="29310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697" y="3678058"/>
            <a:ext cx="3828322" cy="25840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1" name="Oval Callout 10"/>
          <p:cNvSpPr/>
          <p:nvPr/>
        </p:nvSpPr>
        <p:spPr>
          <a:xfrm>
            <a:off x="9907779" y="551076"/>
            <a:ext cx="1988077" cy="1113832"/>
          </a:xfrm>
          <a:prstGeom prst="wedgeEllipseCallout">
            <a:avLst>
              <a:gd name="adj1" fmla="val -69566"/>
              <a:gd name="adj2" fmla="val 109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1</a:t>
            </a:r>
            <a:r>
              <a:rPr lang="vi-VN" dirty="0" smtClean="0"/>
              <a:t>.Hiển thị tất cả thông tin các loại phòng họp </a:t>
            </a:r>
            <a:endParaRPr lang="en-US" dirty="0"/>
          </a:p>
        </p:txBody>
      </p:sp>
      <p:sp>
        <p:nvSpPr>
          <p:cNvPr id="16" name="Line Callout 1 15"/>
          <p:cNvSpPr/>
          <p:nvPr/>
        </p:nvSpPr>
        <p:spPr>
          <a:xfrm>
            <a:off x="6429298" y="4439837"/>
            <a:ext cx="1219123" cy="1060480"/>
          </a:xfrm>
          <a:prstGeom prst="borderCallout1">
            <a:avLst>
              <a:gd name="adj1" fmla="val -759"/>
              <a:gd name="adj2" fmla="val 24101"/>
              <a:gd name="adj3" fmla="val -17328"/>
              <a:gd name="adj4" fmla="val -36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2.Bảng hiển thị thông tin các phòng đã đăng ký theo ngày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1399746" y="4075170"/>
            <a:ext cx="184727" cy="2032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6632471" y="4133272"/>
            <a:ext cx="364112" cy="29019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/>
              <a:t>2</a:t>
            </a:r>
            <a:endParaRPr lang="zh-TW" altLang="en-US" dirty="0"/>
          </a:p>
        </p:txBody>
      </p:sp>
      <p:sp>
        <p:nvSpPr>
          <p:cNvPr id="24" name="Rectangular Callout 9">
            <a:extLst>
              <a:ext uri="{FF2B5EF4-FFF2-40B4-BE49-F238E27FC236}">
                <a16:creationId xmlns:a16="http://schemas.microsoft.com/office/drawing/2014/main" id="{00000000-0008-0000-0B00-00000A000000}"/>
              </a:ext>
            </a:extLst>
          </p:cNvPr>
          <p:cNvSpPr/>
          <p:nvPr/>
        </p:nvSpPr>
        <p:spPr>
          <a:xfrm>
            <a:off x="10358062" y="2409825"/>
            <a:ext cx="1537794" cy="1001717"/>
          </a:xfrm>
          <a:prstGeom prst="wedgeRectCallout">
            <a:avLst>
              <a:gd name="adj1" fmla="val -36246"/>
              <a:gd name="adj2" fmla="val 785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vi-V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3.Bảng hiện thị thông tin chi tiết phòng họp đã đăng kí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" name="Elbow Connector 31"/>
          <p:cNvCxnSpPr>
            <a:stCxn id="21" idx="3"/>
          </p:cNvCxnSpPr>
          <p:nvPr/>
        </p:nvCxnSpPr>
        <p:spPr>
          <a:xfrm flipV="1">
            <a:off x="1584473" y="3986296"/>
            <a:ext cx="6063948" cy="19047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9970134" y="3302966"/>
            <a:ext cx="364112" cy="29019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/>
              <a:t>3</a:t>
            </a:r>
            <a:endParaRPr lang="zh-TW" altLang="en-US" dirty="0"/>
          </a:p>
        </p:txBody>
      </p:sp>
      <p:cxnSp>
        <p:nvCxnSpPr>
          <p:cNvPr id="46" name="Elbow Connector 45"/>
          <p:cNvCxnSpPr/>
          <p:nvPr/>
        </p:nvCxnSpPr>
        <p:spPr>
          <a:xfrm rot="10800000" flipV="1">
            <a:off x="6388908" y="1832296"/>
            <a:ext cx="2756440" cy="16759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8511309" y="1341713"/>
            <a:ext cx="904838" cy="21971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9108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169948" y="126123"/>
            <a:ext cx="133527" cy="386048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7C867973-A88A-8F1C-C685-DB7DF8A91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930" y="253632"/>
            <a:ext cx="133527" cy="386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highlight>
                <a:srgbClr val="D00034"/>
              </a:highligh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5007" y="178015"/>
            <a:ext cx="75972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7.2 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Đăng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kí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phòng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họp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thường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vi-VN" altLang="zh-CN" sz="2400" b="1" i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Đặt phòng họp đơn lẻ 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zh-CN" altLang="en-US" sz="2400" b="1" i="1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7286577" y="2046379"/>
            <a:ext cx="364112" cy="29019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/>
              <a:t>2</a:t>
            </a:r>
            <a:endParaRPr lang="zh-TW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57" y="806968"/>
            <a:ext cx="8843576" cy="538014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435457" y="3391592"/>
            <a:ext cx="5542010" cy="27955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2964421" y="5934075"/>
            <a:ext cx="472136" cy="2251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Cloud Callout 23"/>
          <p:cNvSpPr/>
          <p:nvPr/>
        </p:nvSpPr>
        <p:spPr>
          <a:xfrm>
            <a:off x="9503699" y="806969"/>
            <a:ext cx="2442768" cy="1789778"/>
          </a:xfrm>
          <a:prstGeom prst="cloudCallout">
            <a:avLst>
              <a:gd name="adj1" fmla="val -56970"/>
              <a:gd name="adj2" fmla="val 568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1.Bảng hiển thị thông tin các phòng đã đặt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 ngày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2440499" y="5862293"/>
            <a:ext cx="364112" cy="296898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/>
              <a:t>3</a:t>
            </a:r>
            <a:endParaRPr lang="zh-TW" alt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435457" y="1064713"/>
            <a:ext cx="8843576" cy="207838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9731920" y="2705419"/>
            <a:ext cx="364112" cy="29547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/>
              <a:t>1</a:t>
            </a:r>
            <a:endParaRPr lang="zh-TW" alt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6102029" y="3980037"/>
            <a:ext cx="364112" cy="29547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/>
              <a:t>2</a:t>
            </a:r>
            <a:endParaRPr lang="zh-TW" altLang="en-US" dirty="0"/>
          </a:p>
        </p:txBody>
      </p:sp>
      <p:sp>
        <p:nvSpPr>
          <p:cNvPr id="6" name="Rectangle 5"/>
          <p:cNvSpPr/>
          <p:nvPr/>
        </p:nvSpPr>
        <p:spPr>
          <a:xfrm>
            <a:off x="6590703" y="3670575"/>
            <a:ext cx="2553297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+mj-lt"/>
              </a:rPr>
              <a:t>2.Form đặt phòng thường </a:t>
            </a:r>
            <a:r>
              <a:rPr lang="vi-VN" dirty="0" smtClean="0">
                <a:latin typeface="+mj-lt"/>
              </a:rPr>
              <a:t>cần </a:t>
            </a:r>
            <a:r>
              <a:rPr lang="vi-VN" dirty="0">
                <a:latin typeface="+mj-lt"/>
              </a:rPr>
              <a:t>điền đầy đủ thông tin có dấu (*) </a:t>
            </a:r>
            <a:endParaRPr lang="en-US" dirty="0">
              <a:latin typeface="+mj-lt"/>
            </a:endParaRPr>
          </a:p>
        </p:txBody>
      </p:sp>
      <p:sp>
        <p:nvSpPr>
          <p:cNvPr id="7" name="Left Arrow 6"/>
          <p:cNvSpPr/>
          <p:nvPr/>
        </p:nvSpPr>
        <p:spPr>
          <a:xfrm>
            <a:off x="3561119" y="5768426"/>
            <a:ext cx="4089570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latin typeface="+mj-lt"/>
              </a:rPr>
              <a:t>3.Click “đăng ký ”để đăng kí phòng họp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26940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19" y="1181206"/>
            <a:ext cx="9470633" cy="49452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3" name="Rectangle 8"/>
          <p:cNvSpPr>
            <a:spLocks noChangeArrowheads="1"/>
          </p:cNvSpPr>
          <p:nvPr/>
        </p:nvSpPr>
        <p:spPr bwMode="auto">
          <a:xfrm>
            <a:off x="169948" y="126123"/>
            <a:ext cx="133527" cy="386048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C867973-A88A-8F1C-C685-DB7DF8A91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930" y="253632"/>
            <a:ext cx="133527" cy="386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highlight>
                <a:srgbClr val="D00034"/>
              </a:highligh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1220" y="178015"/>
            <a:ext cx="69493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8.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Đăng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kí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phòng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họp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Vip 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vi-VN" altLang="zh-CN" sz="2400" b="1" i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Đặt phòng họp đơn lẻ 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zh-CN" altLang="en-US" sz="2400" b="1" i="1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 flipV="1">
            <a:off x="698269" y="1514339"/>
            <a:ext cx="9283584" cy="168921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 flipV="1">
            <a:off x="628819" y="3308463"/>
            <a:ext cx="4624826" cy="28180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Oval Callout 27"/>
          <p:cNvSpPr/>
          <p:nvPr/>
        </p:nvSpPr>
        <p:spPr>
          <a:xfrm>
            <a:off x="10191142" y="858629"/>
            <a:ext cx="1870625" cy="1158987"/>
          </a:xfrm>
          <a:prstGeom prst="wedgeEllipseCallout">
            <a:avLst>
              <a:gd name="adj1" fmla="val -58378"/>
              <a:gd name="adj2" fmla="val -752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1.Bảng hiển thị thông tin các phòng đã đăng ký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theo ngày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Cloud Callout 29"/>
          <p:cNvSpPr/>
          <p:nvPr/>
        </p:nvSpPr>
        <p:spPr>
          <a:xfrm>
            <a:off x="6153299" y="4610100"/>
            <a:ext cx="2471684" cy="1088285"/>
          </a:xfrm>
          <a:prstGeom prst="cloudCallout">
            <a:avLst>
              <a:gd name="adj1" fmla="val -79112"/>
              <a:gd name="adj2" fmla="val -2659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+mj-lt"/>
              </a:rPr>
              <a:t>2</a:t>
            </a:r>
            <a:r>
              <a:rPr lang="vi-VN" sz="1400" dirty="0" smtClean="0">
                <a:latin typeface="+mj-lt"/>
              </a:rPr>
              <a:t>.Form đặt phòng VIP ,cần điền đầy đủ thông tin có dấu (*) </a:t>
            </a:r>
            <a:endParaRPr lang="en-US" sz="1400" dirty="0"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 flipV="1">
            <a:off x="5362815" y="3353186"/>
            <a:ext cx="4509867" cy="97917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Line Callout 1 31"/>
          <p:cNvSpPr/>
          <p:nvPr/>
        </p:nvSpPr>
        <p:spPr>
          <a:xfrm>
            <a:off x="10110557" y="2788853"/>
            <a:ext cx="2031794" cy="612648"/>
          </a:xfrm>
          <a:prstGeom prst="borderCallout1">
            <a:avLst>
              <a:gd name="adj1" fmla="val 23273"/>
              <a:gd name="adj2" fmla="val -1173"/>
              <a:gd name="adj3" fmla="val 80237"/>
              <a:gd name="adj4" fmla="val -39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+mj-lt"/>
              </a:rPr>
              <a:t>3</a:t>
            </a:r>
            <a:r>
              <a:rPr lang="vi-VN" sz="1200" dirty="0" smtClean="0">
                <a:latin typeface="+mj-lt"/>
              </a:rPr>
              <a:t>.Lưu trình ký đăng kí phòng họp VIP </a:t>
            </a:r>
            <a:endParaRPr lang="en-US" sz="1200" dirty="0">
              <a:latin typeface="+mj-lt"/>
            </a:endParaRPr>
          </a:p>
        </p:txBody>
      </p:sp>
      <p:sp>
        <p:nvSpPr>
          <p:cNvPr id="34" name="Left Arrow 33"/>
          <p:cNvSpPr/>
          <p:nvPr/>
        </p:nvSpPr>
        <p:spPr>
          <a:xfrm>
            <a:off x="3457950" y="5833339"/>
            <a:ext cx="3476525" cy="35133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400" dirty="0" smtClean="0">
                <a:latin typeface="+mj-lt"/>
              </a:rPr>
              <a:t>Click </a:t>
            </a:r>
            <a:r>
              <a:rPr lang="en-US" sz="1400" dirty="0" smtClean="0">
                <a:latin typeface="+mj-lt"/>
              </a:rPr>
              <a:t>“</a:t>
            </a:r>
            <a:r>
              <a:rPr lang="vi-VN" sz="1400" dirty="0" smtClean="0">
                <a:latin typeface="+mj-lt"/>
              </a:rPr>
              <a:t>đăng ký “để đăng kí phòng họp VIP </a:t>
            </a:r>
            <a:endParaRPr lang="en-US" sz="1400" dirty="0">
              <a:latin typeface="+mj-lt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 flipV="1">
            <a:off x="2572611" y="5900122"/>
            <a:ext cx="439123" cy="19950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10043548" y="1778893"/>
            <a:ext cx="364112" cy="29019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5789186" y="5127284"/>
            <a:ext cx="364112" cy="29019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10110557" y="3511673"/>
            <a:ext cx="364112" cy="29019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3432374" y="5528745"/>
            <a:ext cx="364112" cy="29019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 flipV="1">
            <a:off x="3059126" y="5892577"/>
            <a:ext cx="357449" cy="1958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Right Arrow 44"/>
          <p:cNvSpPr/>
          <p:nvPr/>
        </p:nvSpPr>
        <p:spPr>
          <a:xfrm>
            <a:off x="519649" y="5757057"/>
            <a:ext cx="2027422" cy="5770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vi-V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thêm </a:t>
            </a:r>
            <a:r>
              <a:rPr lang="vi-V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thiết </a:t>
            </a:r>
            <a:r>
              <a:rPr lang="vi-V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</a:p>
          <a:p>
            <a:pPr algn="ctr"/>
            <a:r>
              <a:rPr lang="vi-V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nếu muốn </a:t>
            </a:r>
            <a:r>
              <a:rPr lang="vi-V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thiết bị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2309649" y="5542601"/>
            <a:ext cx="364112" cy="29019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/>
              <a:t>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2637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169948" y="57537"/>
            <a:ext cx="133527" cy="523220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7C867973-A88A-8F1C-C685-DB7DF8A91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930" y="185046"/>
            <a:ext cx="133527" cy="5232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highlight>
                <a:srgbClr val="D00034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6416" y="168002"/>
            <a:ext cx="72410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8.1 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Đăng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ký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phòng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họp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thường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Đặt </a:t>
            </a:r>
            <a:r>
              <a:rPr lang="vi-VN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phòng 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họp cố định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166" y="1718268"/>
            <a:ext cx="7569620" cy="17481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30" y="767189"/>
            <a:ext cx="1886213" cy="27721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680177" y="1851429"/>
            <a:ext cx="1507966" cy="30184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670833" y="2465647"/>
            <a:ext cx="1507966" cy="41609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Cloud Callout 19"/>
          <p:cNvSpPr/>
          <p:nvPr/>
        </p:nvSpPr>
        <p:spPr>
          <a:xfrm>
            <a:off x="2497786" y="850722"/>
            <a:ext cx="2074214" cy="1000707"/>
          </a:xfrm>
          <a:prstGeom prst="cloudCallout">
            <a:avLst>
              <a:gd name="adj1" fmla="val -62258"/>
              <a:gd name="adj2" fmla="val 1242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1.Chọn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“đặt phòng họp cố định “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2303486" y="1718268"/>
            <a:ext cx="364112" cy="29019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4646815" y="2475439"/>
            <a:ext cx="792206" cy="2012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11517746" y="2261537"/>
            <a:ext cx="193964" cy="76799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Line Callout 1 25"/>
          <p:cNvSpPr/>
          <p:nvPr/>
        </p:nvSpPr>
        <p:spPr>
          <a:xfrm>
            <a:off x="5551055" y="953286"/>
            <a:ext cx="3178269" cy="600831"/>
          </a:xfrm>
          <a:prstGeom prst="borderCallout1">
            <a:avLst>
              <a:gd name="adj1" fmla="val 23362"/>
              <a:gd name="adj2" fmla="val -777"/>
              <a:gd name="adj3" fmla="val 121546"/>
              <a:gd name="adj4" fmla="val -2532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phòng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họp cố định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5074909" y="1388638"/>
            <a:ext cx="364112" cy="29019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Elbow Connector 28"/>
          <p:cNvCxnSpPr/>
          <p:nvPr/>
        </p:nvCxnSpPr>
        <p:spPr>
          <a:xfrm rot="5400000">
            <a:off x="10215604" y="2669131"/>
            <a:ext cx="1218834" cy="9790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11314547" y="2549239"/>
            <a:ext cx="2031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10924814" y="1935376"/>
            <a:ext cx="786896" cy="17894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Line Callout 3 44"/>
          <p:cNvSpPr/>
          <p:nvPr/>
        </p:nvSpPr>
        <p:spPr>
          <a:xfrm>
            <a:off x="9134765" y="902800"/>
            <a:ext cx="2647834" cy="612648"/>
          </a:xfrm>
          <a:prstGeom prst="borderCallout3">
            <a:avLst>
              <a:gd name="adj1" fmla="val 101669"/>
              <a:gd name="adj2" fmla="val 98738"/>
              <a:gd name="adj3" fmla="val 166495"/>
              <a:gd name="adj4" fmla="val 78619"/>
              <a:gd name="adj5" fmla="val 101507"/>
              <a:gd name="adj6" fmla="val 6565"/>
              <a:gd name="adj7" fmla="val 99395"/>
              <a:gd name="adj8" fmla="val 98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3.Click để tìm kiếm phòng họp đã được đặt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11781401" y="1514643"/>
            <a:ext cx="364112" cy="29019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003634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Oval Callout 49"/>
          <p:cNvSpPr/>
          <p:nvPr/>
        </p:nvSpPr>
        <p:spPr>
          <a:xfrm>
            <a:off x="451119" y="3925455"/>
            <a:ext cx="2716954" cy="1159438"/>
          </a:xfrm>
          <a:prstGeom prst="wedgeEllipseCallout">
            <a:avLst>
              <a:gd name="adj1" fmla="val 72994"/>
              <a:gd name="adj2" fmla="val 3700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4.Bảng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hiển thị thông tin các phòng đã đăng ký theo ngày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3288182" y="4438377"/>
            <a:ext cx="364112" cy="29019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2328" y="3786698"/>
            <a:ext cx="7989156" cy="25032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951181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22" y="828557"/>
            <a:ext cx="10305142" cy="505494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CDD195F2-63EB-47CA-B927-75C6D6C2B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49" y="126123"/>
            <a:ext cx="133526" cy="386048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06F056B0-7E4D-4709-A3B3-9BC0767DB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96" y="306647"/>
            <a:ext cx="133526" cy="386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highlight>
                <a:srgbClr val="D00034"/>
              </a:highlight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169948" y="57537"/>
            <a:ext cx="133527" cy="523220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C867973-A88A-8F1C-C685-DB7DF8A91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930" y="185046"/>
            <a:ext cx="133527" cy="5232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highlight>
                <a:srgbClr val="D00034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7439" y="178015"/>
            <a:ext cx="73180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8.2 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Đăng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kí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phòng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họp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vi-VN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thường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Đặt </a:t>
            </a:r>
            <a:r>
              <a:rPr lang="vi-VN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phòng 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họp cố định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03634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2937740" y="5643955"/>
            <a:ext cx="466725" cy="21394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Callout 12"/>
          <p:cNvSpPr/>
          <p:nvPr/>
        </p:nvSpPr>
        <p:spPr>
          <a:xfrm>
            <a:off x="8787255" y="3356029"/>
            <a:ext cx="2458502" cy="1159438"/>
          </a:xfrm>
          <a:prstGeom prst="wedgeEllipseCallout">
            <a:avLst>
              <a:gd name="adj1" fmla="val 8361"/>
              <a:gd name="adj2" fmla="val -1232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.Bảng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hiển thị thông tin các phòng đã đăng ký theo ngày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9652394" y="2511008"/>
            <a:ext cx="364112" cy="29019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ular Callout 14"/>
          <p:cNvSpPr/>
          <p:nvPr/>
        </p:nvSpPr>
        <p:spPr>
          <a:xfrm>
            <a:off x="5885384" y="3244334"/>
            <a:ext cx="2567425" cy="1172894"/>
          </a:xfrm>
          <a:prstGeom prst="wedgeRoundRectCallout">
            <a:avLst>
              <a:gd name="adj1" fmla="val -59292"/>
              <a:gd name="adj2" fmla="val 2821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+mj-lt"/>
              </a:rPr>
              <a:t>2.Form đặt phòng </a:t>
            </a:r>
            <a:r>
              <a:rPr lang="vi-VN" dirty="0" smtClean="0">
                <a:latin typeface="+mj-lt"/>
              </a:rPr>
              <a:t>họp cố định thường </a:t>
            </a:r>
            <a:r>
              <a:rPr lang="vi-VN" dirty="0">
                <a:latin typeface="+mj-lt"/>
              </a:rPr>
              <a:t>,cần điền đầy đủ thông tin có dấu (*) </a:t>
            </a:r>
            <a:endParaRPr lang="en-US" dirty="0">
              <a:latin typeface="+mj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5752905" y="4407992"/>
            <a:ext cx="364112" cy="29019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684356" y="1143735"/>
            <a:ext cx="10077608" cy="134229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684356" y="3046637"/>
            <a:ext cx="4973494" cy="25395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Left Arrow 19"/>
          <p:cNvSpPr/>
          <p:nvPr/>
        </p:nvSpPr>
        <p:spPr>
          <a:xfrm>
            <a:off x="3471316" y="5410386"/>
            <a:ext cx="3691484" cy="69006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3.Click “</a:t>
            </a:r>
            <a:r>
              <a:rPr lang="vi-V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Đăng ký “để đặt phòng sau khi đã điền đầy đủ thông tin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2506777" y="5608481"/>
            <a:ext cx="364112" cy="29019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445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CDD195F2-63EB-47CA-B927-75C6D6C2B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49" y="126123"/>
            <a:ext cx="133526" cy="386048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06F056B0-7E4D-4709-A3B3-9BC0767DB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96" y="306647"/>
            <a:ext cx="133526" cy="386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highlight>
                <a:srgbClr val="D00034"/>
              </a:highlight>
            </a:endParaRP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169948" y="57537"/>
            <a:ext cx="133527" cy="523220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C867973-A88A-8F1C-C685-DB7DF8A91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930" y="185046"/>
            <a:ext cx="133527" cy="5232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highlight>
                <a:srgbClr val="D00034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0493" y="185046"/>
            <a:ext cx="66574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9.Đăng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kí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phòng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họp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VIP 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Đặt </a:t>
            </a:r>
            <a:r>
              <a:rPr lang="vi-VN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phòng 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họp cố định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03634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8392124" y="1432979"/>
            <a:ext cx="364112" cy="29019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22" y="839564"/>
            <a:ext cx="7745288" cy="204480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9" name="Oval Callout 18"/>
          <p:cNvSpPr/>
          <p:nvPr/>
        </p:nvSpPr>
        <p:spPr>
          <a:xfrm>
            <a:off x="8574180" y="319147"/>
            <a:ext cx="1988077" cy="1113832"/>
          </a:xfrm>
          <a:prstGeom prst="wedgeEllipseCallout">
            <a:avLst>
              <a:gd name="adj1" fmla="val -67606"/>
              <a:gd name="adj2" fmla="val 5631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1</a:t>
            </a:r>
            <a:r>
              <a:rPr lang="vi-VN" dirty="0" smtClean="0"/>
              <a:t>.Hiển thị tất cả thông tin các loại phòng họp </a:t>
            </a: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22" y="3084257"/>
            <a:ext cx="6997143" cy="23344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708" y="3084257"/>
            <a:ext cx="3815928" cy="31571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23" name="Rounded Rectangular Callout 22"/>
          <p:cNvSpPr/>
          <p:nvPr/>
        </p:nvSpPr>
        <p:spPr>
          <a:xfrm>
            <a:off x="979055" y="5628731"/>
            <a:ext cx="5051150" cy="612648"/>
          </a:xfrm>
          <a:prstGeom prst="wedgeRoundRectCallout">
            <a:avLst>
              <a:gd name="adj1" fmla="val -34867"/>
              <a:gd name="adj2" fmla="val -8072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2.Bảng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hiển thị thông tin các phòng đã đăng ký theo ngày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567439" y="5618571"/>
            <a:ext cx="364112" cy="29019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 flipH="1" flipV="1">
            <a:off x="1884218" y="3925455"/>
            <a:ext cx="9237" cy="277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1884218" y="4015571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loud Callout 34"/>
          <p:cNvSpPr/>
          <p:nvPr/>
        </p:nvSpPr>
        <p:spPr>
          <a:xfrm>
            <a:off x="9088582" y="1532921"/>
            <a:ext cx="2789382" cy="1351452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/>
              <a:t>3. Bảng thông tin chi tiết phòng họp đã đăng kí </a:t>
            </a:r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1745673" y="3925455"/>
            <a:ext cx="221671" cy="21004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Elbow Connector 37"/>
          <p:cNvCxnSpPr/>
          <p:nvPr/>
        </p:nvCxnSpPr>
        <p:spPr>
          <a:xfrm>
            <a:off x="1856508" y="4153048"/>
            <a:ext cx="5909963" cy="641314"/>
          </a:xfrm>
          <a:prstGeom prst="bentConnector3">
            <a:avLst>
              <a:gd name="adj1" fmla="val 14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9163748" y="2739275"/>
            <a:ext cx="364112" cy="29019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7924800" y="1532921"/>
            <a:ext cx="203200" cy="85929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7373023" y="1143931"/>
            <a:ext cx="786896" cy="17894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Elbow Connector 8"/>
          <p:cNvCxnSpPr/>
          <p:nvPr/>
        </p:nvCxnSpPr>
        <p:spPr>
          <a:xfrm rot="5400000">
            <a:off x="6705039" y="1809708"/>
            <a:ext cx="1496549" cy="942975"/>
          </a:xfrm>
          <a:prstGeom prst="bentConnector3">
            <a:avLst>
              <a:gd name="adj1" fmla="val 79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6278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05" y="2768927"/>
            <a:ext cx="7846646" cy="36444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CDD195F2-63EB-47CA-B927-75C6D6C2B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49" y="126123"/>
            <a:ext cx="133526" cy="386048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06F056B0-7E4D-4709-A3B3-9BC0767DB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96" y="306647"/>
            <a:ext cx="133526" cy="386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highlight>
                <a:srgbClr val="D00034"/>
              </a:highlight>
            </a:endParaRP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169948" y="57537"/>
            <a:ext cx="133527" cy="523220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C867973-A88A-8F1C-C685-DB7DF8A91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930" y="185046"/>
            <a:ext cx="133527" cy="5232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highlight>
                <a:srgbClr val="D00034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7439" y="178015"/>
            <a:ext cx="68882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9.1 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Đăng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kí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phòng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họp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VIP 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Đặt </a:t>
            </a:r>
            <a:r>
              <a:rPr lang="vi-VN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phòng 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họp cố định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003634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8567615" y="1290485"/>
            <a:ext cx="364112" cy="28498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8418683" y="2954139"/>
            <a:ext cx="364112" cy="29019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 flipH="1" flipV="1">
            <a:off x="1884218" y="3925455"/>
            <a:ext cx="9237" cy="277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884218" y="4015571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1828382" y="6049230"/>
            <a:ext cx="364112" cy="29019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03" y="659967"/>
            <a:ext cx="7726815" cy="20475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23" name="Rounded Rectangular Callout 22"/>
          <p:cNvSpPr/>
          <p:nvPr/>
        </p:nvSpPr>
        <p:spPr>
          <a:xfrm>
            <a:off x="9393545" y="745130"/>
            <a:ext cx="2277162" cy="1375697"/>
          </a:xfrm>
          <a:prstGeom prst="wedgeRoundRectCallout">
            <a:avLst>
              <a:gd name="adj1" fmla="val -97620"/>
              <a:gd name="adj2" fmla="val 1864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.Bảng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hiển thị thông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tin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phong da dk dat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516304" y="2912674"/>
            <a:ext cx="7841199" cy="309114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ounded Rectangular Callout 24"/>
          <p:cNvSpPr/>
          <p:nvPr/>
        </p:nvSpPr>
        <p:spPr>
          <a:xfrm>
            <a:off x="9042904" y="2385353"/>
            <a:ext cx="3149096" cy="1429266"/>
          </a:xfrm>
          <a:prstGeom prst="wedgeRoundRectCallout">
            <a:avLst>
              <a:gd name="adj1" fmla="val -71210"/>
              <a:gd name="adj2" fmla="val 1525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400" dirty="0">
                <a:latin typeface="+mj-lt"/>
              </a:rPr>
              <a:t>2.Form đặt phòng </a:t>
            </a:r>
            <a:r>
              <a:rPr lang="vi-VN" sz="1400" dirty="0" smtClean="0">
                <a:latin typeface="+mj-lt"/>
              </a:rPr>
              <a:t>họp </a:t>
            </a:r>
            <a:r>
              <a:rPr lang="vi-VN" sz="1400" dirty="0">
                <a:latin typeface="+mj-lt"/>
              </a:rPr>
              <a:t>,cần điền đầy đủ thông tin có dấu (*) </a:t>
            </a:r>
            <a:endParaRPr lang="en-US" sz="1400" dirty="0">
              <a:latin typeface="+mj-lt"/>
            </a:endParaRPr>
          </a:p>
          <a:p>
            <a:pPr algn="ctr"/>
            <a:r>
              <a:rPr lang="vi-VN" sz="1400" dirty="0" smtClean="0">
                <a:latin typeface="+mj-lt"/>
              </a:rPr>
              <a:t>Trường hợp cần sử dụng wifi khách hàng cần ghi rõ lý do và tải lên file PDF các thành viên tham gia </a:t>
            </a:r>
            <a:endParaRPr lang="en-US" sz="1400" dirty="0" smtClean="0">
              <a:latin typeface="+mj-lt"/>
            </a:endParaRPr>
          </a:p>
          <a:p>
            <a:pPr algn="ctr"/>
            <a:endParaRPr lang="en-US" sz="1400" dirty="0"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2253673" y="6154328"/>
            <a:ext cx="429189" cy="21368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Left Arrow 28"/>
          <p:cNvSpPr/>
          <p:nvPr/>
        </p:nvSpPr>
        <p:spPr>
          <a:xfrm>
            <a:off x="2744041" y="6054148"/>
            <a:ext cx="3527450" cy="42562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>
                <a:latin typeface="+mj-lt"/>
              </a:rPr>
              <a:t>Click để đăng kí phòng họp VIP </a:t>
            </a:r>
            <a:endParaRPr lang="en-US" sz="1600" dirty="0">
              <a:latin typeface="+mj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695325" y="931627"/>
            <a:ext cx="7589694" cy="134484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48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43" y="616045"/>
            <a:ext cx="1867161" cy="276263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296517-3ABB-468C-AC56-38A4ABACC29D}"/>
              </a:ext>
            </a:extLst>
          </p:cNvPr>
          <p:cNvSpPr txBox="1"/>
          <p:nvPr/>
        </p:nvSpPr>
        <p:spPr>
          <a:xfrm>
            <a:off x="447524" y="34062"/>
            <a:ext cx="7466630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10.Đăng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kí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phòng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họp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Phòng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họp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của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tôi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)</a:t>
            </a:r>
            <a:endParaRPr lang="zh-CN" altLang="en-US" sz="2400" b="1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chemeClr val="accent2"/>
              </a:buClr>
            </a:pPr>
            <a:endParaRPr lang="en-US" sz="2400" b="1" i="1" baseline="50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CB92A0CD-8721-4B2B-B1B1-9E6E4FE1A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49" y="-34706"/>
            <a:ext cx="133526" cy="523220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FFC1AFF5-0F4F-494E-B1AF-117A6696A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96" y="57537"/>
            <a:ext cx="133526" cy="5232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highlight>
                <a:srgbClr val="D00034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829916" y="1641613"/>
            <a:ext cx="1513888" cy="3442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829916" y="2754595"/>
            <a:ext cx="1513888" cy="29340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754595"/>
            <a:ext cx="8827024" cy="35663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2" name="Cloud Callout 11"/>
          <p:cNvSpPr/>
          <p:nvPr/>
        </p:nvSpPr>
        <p:spPr>
          <a:xfrm>
            <a:off x="2497786" y="850722"/>
            <a:ext cx="1944905" cy="1000707"/>
          </a:xfrm>
          <a:prstGeom prst="cloudCallout">
            <a:avLst>
              <a:gd name="adj1" fmla="val -51810"/>
              <a:gd name="adj2" fmla="val 1454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1.Chọn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“Phòng họp của tôi”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2425455" y="1851429"/>
            <a:ext cx="354251" cy="29621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Callout 13"/>
          <p:cNvSpPr/>
          <p:nvPr/>
        </p:nvSpPr>
        <p:spPr>
          <a:xfrm>
            <a:off x="169949" y="3609976"/>
            <a:ext cx="2046777" cy="1857952"/>
          </a:xfrm>
          <a:prstGeom prst="wedgeEllipseCallout">
            <a:avLst>
              <a:gd name="adj1" fmla="val 89122"/>
              <a:gd name="adj2" fmla="val -140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2.Bảng hiện thị toàn bộ danh sách phòng họp đã đặt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2518777" y="3864559"/>
            <a:ext cx="354251" cy="33596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10943287" y="3071275"/>
            <a:ext cx="860786" cy="2076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Line Callout 3 16"/>
          <p:cNvSpPr/>
          <p:nvPr/>
        </p:nvSpPr>
        <p:spPr>
          <a:xfrm>
            <a:off x="9227190" y="850722"/>
            <a:ext cx="2647834" cy="667382"/>
          </a:xfrm>
          <a:prstGeom prst="borderCallout3">
            <a:avLst>
              <a:gd name="adj1" fmla="val 101669"/>
              <a:gd name="adj2" fmla="val 98738"/>
              <a:gd name="adj3" fmla="val 328528"/>
              <a:gd name="adj4" fmla="val 76875"/>
              <a:gd name="adj5" fmla="val 101507"/>
              <a:gd name="adj6" fmla="val 6565"/>
              <a:gd name="adj7" fmla="val 99395"/>
              <a:gd name="adj8" fmla="val 98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.Click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để tìm kiếm phòng họp đã được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đặt </a:t>
            </a:r>
          </a:p>
        </p:txBody>
      </p:sp>
      <p:sp>
        <p:nvSpPr>
          <p:cNvPr id="18" name="Rounded Rectangular Callout 17"/>
          <p:cNvSpPr/>
          <p:nvPr/>
        </p:nvSpPr>
        <p:spPr>
          <a:xfrm>
            <a:off x="5868240" y="1044751"/>
            <a:ext cx="1954959" cy="1102888"/>
          </a:xfrm>
          <a:prstGeom prst="wedgeRoundRectCallout">
            <a:avLst>
              <a:gd name="adj1" fmla="val 227248"/>
              <a:gd name="adj2" fmla="val 1794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.Người dùng có quyền được xóa phòng họp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minh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đã đặt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11373679" y="3477563"/>
            <a:ext cx="236429" cy="244294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9918014" y="1596195"/>
            <a:ext cx="354251" cy="29621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8221168" y="2303012"/>
            <a:ext cx="354251" cy="29621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36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7190A9-3B5F-4045-A5D0-7870AA00D4EF}"/>
              </a:ext>
            </a:extLst>
          </p:cNvPr>
          <p:cNvSpPr txBox="1"/>
          <p:nvPr/>
        </p:nvSpPr>
        <p:spPr>
          <a:xfrm>
            <a:off x="-986776" y="109512"/>
            <a:ext cx="7466630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11.Tra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cứu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Phòng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họp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hôm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nay)</a:t>
            </a:r>
            <a:endParaRPr lang="zh-CN" altLang="en-US" sz="2400" b="1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endParaRPr lang="en-US" sz="2400" b="1" i="1" baseline="50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9A46C9E5-0494-4DE3-92AF-74E5FDE9D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49" y="-34706"/>
            <a:ext cx="133526" cy="523220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D14837AA-A0BC-45E7-8AA3-F9AA1FB1D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96" y="57537"/>
            <a:ext cx="133526" cy="5232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 dirty="0">
              <a:highlight>
                <a:srgbClr val="D00034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96" y="646074"/>
            <a:ext cx="1876687" cy="27621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692727" y="1422400"/>
            <a:ext cx="1507256" cy="32500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692727" y="1776668"/>
            <a:ext cx="1507256" cy="3107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75" y="4016285"/>
            <a:ext cx="11693238" cy="234144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9" name="Cloud Callout 8"/>
          <p:cNvSpPr/>
          <p:nvPr/>
        </p:nvSpPr>
        <p:spPr>
          <a:xfrm>
            <a:off x="2497786" y="850722"/>
            <a:ext cx="1954141" cy="1000707"/>
          </a:xfrm>
          <a:prstGeom prst="cloudCallout">
            <a:avLst>
              <a:gd name="adj1" fmla="val -60833"/>
              <a:gd name="adj2" fmla="val 586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1.Chọn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“phòng họp hôm nay”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Callout 9"/>
          <p:cNvSpPr/>
          <p:nvPr/>
        </p:nvSpPr>
        <p:spPr>
          <a:xfrm>
            <a:off x="4861620" y="2348269"/>
            <a:ext cx="2576948" cy="1283922"/>
          </a:xfrm>
          <a:prstGeom prst="wedgeEllipseCallout">
            <a:avLst>
              <a:gd name="adj1" fmla="val -24776"/>
              <a:gd name="adj2" fmla="val 7616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Bảng hiện thị các phòng đã được đặt trong ngày hôm đó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2569414" y="1851429"/>
            <a:ext cx="354251" cy="29621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5053996" y="3632191"/>
            <a:ext cx="354251" cy="29621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10629250" y="4729018"/>
            <a:ext cx="1156350" cy="24014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Line Callout 3 13"/>
          <p:cNvSpPr/>
          <p:nvPr/>
        </p:nvSpPr>
        <p:spPr>
          <a:xfrm>
            <a:off x="9305333" y="2470953"/>
            <a:ext cx="2647834" cy="667382"/>
          </a:xfrm>
          <a:prstGeom prst="borderCallout3">
            <a:avLst>
              <a:gd name="adj1" fmla="val 101669"/>
              <a:gd name="adj2" fmla="val 98738"/>
              <a:gd name="adj3" fmla="val 328528"/>
              <a:gd name="adj4" fmla="val 76875"/>
              <a:gd name="adj5" fmla="val 101507"/>
              <a:gd name="adj6" fmla="val 6565"/>
              <a:gd name="adj7" fmla="val 99395"/>
              <a:gd name="adj8" fmla="val 98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3.Click để tìm kiếm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 phòng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họp đã được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đặt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11030299" y="4141937"/>
            <a:ext cx="354251" cy="29621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081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052" y="804664"/>
            <a:ext cx="3809510" cy="29289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4" name="Rectangle 8">
            <a:extLst>
              <a:ext uri="{FF2B5EF4-FFF2-40B4-BE49-F238E27FC236}">
                <a16:creationId xmlns:a16="http://schemas.microsoft.com/office/drawing/2014/main" id="{EA86AFCF-5801-4053-89ED-096564904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49" y="33880"/>
            <a:ext cx="133526" cy="386048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23C556A-8FDA-495D-99AA-931B47EE8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96" y="126123"/>
            <a:ext cx="133526" cy="386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highlight>
                <a:srgbClr val="D00034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7190A9-3B5F-4045-A5D0-7870AA00D4EF}"/>
              </a:ext>
            </a:extLst>
          </p:cNvPr>
          <p:cNvSpPr txBox="1"/>
          <p:nvPr/>
        </p:nvSpPr>
        <p:spPr>
          <a:xfrm>
            <a:off x="-906159" y="114637"/>
            <a:ext cx="7466630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11.1 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Tra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cứu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Tra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cứu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phòng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họp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)</a:t>
            </a:r>
            <a:endParaRPr lang="zh-CN" altLang="en-US" sz="2400" b="1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endParaRPr lang="en-US" sz="2400" b="1" i="1" baseline="50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9A46C9E5-0494-4DE3-92AF-74E5FDE9D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49" y="337"/>
            <a:ext cx="133526" cy="523220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D14837AA-A0BC-45E7-8AA3-F9AA1FB1D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96" y="57537"/>
            <a:ext cx="133526" cy="5232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algn="ctr" eaLnBrk="1" hangingPunct="1"/>
            <a:endParaRPr lang="zh-CN" altLang="en-US" dirty="0">
              <a:highlight>
                <a:srgbClr val="D00034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34" y="649756"/>
            <a:ext cx="1876687" cy="27621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692727" y="1422400"/>
            <a:ext cx="1507256" cy="32500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703230" y="2068893"/>
            <a:ext cx="1496753" cy="31075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loud Callout 12"/>
          <p:cNvSpPr/>
          <p:nvPr/>
        </p:nvSpPr>
        <p:spPr>
          <a:xfrm>
            <a:off x="2286445" y="861245"/>
            <a:ext cx="2429070" cy="1000707"/>
          </a:xfrm>
          <a:prstGeom prst="cloudCallout">
            <a:avLst>
              <a:gd name="adj1" fmla="val -50246"/>
              <a:gd name="adj2" fmla="val 824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Chọn </a:t>
            </a:r>
          </a:p>
          <a:p>
            <a:pPr algn="ctr"/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 tra cứu phòng họp”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2753601" y="1928058"/>
            <a:ext cx="354251" cy="29621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059" y="4538233"/>
            <a:ext cx="11545431" cy="183317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21" name="Line Callout 1 20"/>
          <p:cNvSpPr/>
          <p:nvPr/>
        </p:nvSpPr>
        <p:spPr>
          <a:xfrm>
            <a:off x="8787813" y="1239132"/>
            <a:ext cx="3242261" cy="1130712"/>
          </a:xfrm>
          <a:prstGeom prst="borderCallout1">
            <a:avLst>
              <a:gd name="adj1" fmla="val 24786"/>
              <a:gd name="adj2" fmla="val -826"/>
              <a:gd name="adj3" fmla="val 31111"/>
              <a:gd name="adj4" fmla="val -924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2.Bảng hiện thị tra cứu phòng họp theo tình trạng”Đã đặt và còn trống “</a:t>
            </a:r>
          </a:p>
          <a:p>
            <a:pPr algn="ctr"/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vi-V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ần điền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 chọn </a:t>
            </a: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đầy đủ thông tin có dấu (*)</a:t>
            </a:r>
            <a:r>
              <a:rPr lang="vi-V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8610687" y="772682"/>
            <a:ext cx="354251" cy="29621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6306794" y="3352913"/>
            <a:ext cx="627405" cy="2665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Straight Arrow Connector 29"/>
          <p:cNvCxnSpPr>
            <a:stCxn id="28" idx="2"/>
          </p:cNvCxnSpPr>
          <p:nvPr/>
        </p:nvCxnSpPr>
        <p:spPr>
          <a:xfrm>
            <a:off x="6631807" y="3708137"/>
            <a:ext cx="60171" cy="779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Line Callout 3 33"/>
          <p:cNvSpPr/>
          <p:nvPr/>
        </p:nvSpPr>
        <p:spPr>
          <a:xfrm>
            <a:off x="9901381" y="2688189"/>
            <a:ext cx="2227603" cy="898699"/>
          </a:xfrm>
          <a:prstGeom prst="borderCallout3">
            <a:avLst>
              <a:gd name="adj1" fmla="val 101669"/>
              <a:gd name="adj2" fmla="val 98738"/>
              <a:gd name="adj3" fmla="val 239114"/>
              <a:gd name="adj4" fmla="val 64851"/>
              <a:gd name="adj5" fmla="val 101507"/>
              <a:gd name="adj6" fmla="val 6565"/>
              <a:gd name="adj7" fmla="val 99395"/>
              <a:gd name="adj8" fmla="val 98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4.Click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để tìm kiếm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 phòng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họp đã được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đặt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10598727" y="4847467"/>
            <a:ext cx="1149928" cy="2240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10458436" y="3669690"/>
            <a:ext cx="370618" cy="30353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ounded Rectangular Callout 38"/>
          <p:cNvSpPr/>
          <p:nvPr/>
        </p:nvSpPr>
        <p:spPr>
          <a:xfrm>
            <a:off x="2272289" y="2930092"/>
            <a:ext cx="1941374" cy="1043133"/>
          </a:xfrm>
          <a:prstGeom prst="wedgeRoundRectCallout">
            <a:avLst>
              <a:gd name="adj1" fmla="val -29530"/>
              <a:gd name="adj2" fmla="val 10118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latin typeface="+mj-lt"/>
              </a:rPr>
              <a:t>5. Bảng hiện thị thông tin phòng theo tình trạng “Đã đặt”</a:t>
            </a:r>
            <a:endParaRPr lang="en-US" dirty="0">
              <a:latin typeface="+mj-lt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2930726" y="4135635"/>
            <a:ext cx="354251" cy="29621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1066800" y="5342714"/>
            <a:ext cx="621140" cy="2240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11545455" y="5342714"/>
            <a:ext cx="203200" cy="2240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4747166" y="1090209"/>
            <a:ext cx="3769281" cy="261792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Oval Callout 32"/>
          <p:cNvSpPr/>
          <p:nvPr/>
        </p:nvSpPr>
        <p:spPr>
          <a:xfrm>
            <a:off x="8191469" y="2845516"/>
            <a:ext cx="1675651" cy="1623688"/>
          </a:xfrm>
          <a:prstGeom prst="wedgeEllipseCallout">
            <a:avLst>
              <a:gd name="adj1" fmla="val -117201"/>
              <a:gd name="adj2" fmla="val -133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3.Click </a:t>
            </a:r>
            <a:r>
              <a:rPr lang="vi-VN" dirty="0" smtClean="0"/>
              <a:t>“Tra cứu “để tra cứu</a:t>
            </a:r>
          </a:p>
          <a:p>
            <a:pPr algn="ctr"/>
            <a:r>
              <a:rPr lang="vi-VN" dirty="0" smtClean="0"/>
              <a:t>Phòng họp</a:t>
            </a:r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7043551" y="3586888"/>
            <a:ext cx="370618" cy="303535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764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21" y="781050"/>
            <a:ext cx="8944353" cy="5610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A30575-1843-440E-B83C-FE2D3EEDC872}"/>
              </a:ext>
            </a:extLst>
          </p:cNvPr>
          <p:cNvSpPr txBox="1"/>
          <p:nvPr/>
        </p:nvSpPr>
        <p:spPr>
          <a:xfrm>
            <a:off x="0" y="134780"/>
            <a:ext cx="7914069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11.2 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Đặt lịch phòng họp thường 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Tra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cứu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phòng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họp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)</a:t>
            </a:r>
            <a:endParaRPr lang="zh-CN" altLang="en-US" sz="2400" b="1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endParaRPr lang="en-US" sz="2400" b="1" i="1" baseline="50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</a:pPr>
            <a:endParaRPr lang="en-US" sz="2400" b="1" i="1" baseline="500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05CDEE3F-27A4-47F7-8AAB-4E4486B9A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49" y="33880"/>
            <a:ext cx="133526" cy="386048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95DDBA77-5A8A-43E7-866C-75DFBA7F3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96" y="126123"/>
            <a:ext cx="133526" cy="386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highlight>
                <a:srgbClr val="D00034"/>
              </a:highlight>
            </a:endParaRPr>
          </a:p>
        </p:txBody>
      </p:sp>
      <p:sp>
        <p:nvSpPr>
          <p:cNvPr id="14" name="Line Callout 1 13"/>
          <p:cNvSpPr/>
          <p:nvPr/>
        </p:nvSpPr>
        <p:spPr>
          <a:xfrm>
            <a:off x="9475214" y="1658498"/>
            <a:ext cx="2682368" cy="870415"/>
          </a:xfrm>
          <a:prstGeom prst="borderCallout1">
            <a:avLst>
              <a:gd name="adj1" fmla="val 11542"/>
              <a:gd name="adj2" fmla="val 758"/>
              <a:gd name="adj3" fmla="val 10620"/>
              <a:gd name="adj4" fmla="val -580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.Bảng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hiển thị thông tin các phòng đã đăng ký theo ngày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9475214" y="1254361"/>
            <a:ext cx="354251" cy="29621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5055966" y="3908680"/>
            <a:ext cx="354251" cy="29621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2215442" y="6042598"/>
            <a:ext cx="354251" cy="29621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ular Callout 17"/>
          <p:cNvSpPr/>
          <p:nvPr/>
        </p:nvSpPr>
        <p:spPr>
          <a:xfrm>
            <a:off x="5484257" y="3402287"/>
            <a:ext cx="3223201" cy="585981"/>
          </a:xfrm>
          <a:prstGeom prst="wedgeRoundRectCallout">
            <a:avLst>
              <a:gd name="adj1" fmla="val -65456"/>
              <a:gd name="adj2" fmla="val 235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latin typeface="+mj-lt"/>
            </a:endParaRPr>
          </a:p>
          <a:p>
            <a:pPr algn="ctr"/>
            <a:r>
              <a:rPr lang="vi-VN" dirty="0">
                <a:latin typeface="+mj-lt"/>
              </a:rPr>
              <a:t>2</a:t>
            </a:r>
            <a:r>
              <a:rPr lang="vi-VN" dirty="0" smtClean="0">
                <a:latin typeface="+mj-lt"/>
              </a:rPr>
              <a:t>.Bảng </a:t>
            </a:r>
            <a:r>
              <a:rPr lang="vi-VN" dirty="0">
                <a:latin typeface="+mj-lt"/>
              </a:rPr>
              <a:t>đặt phòng họp ,cần điền đầy đủ thông </a:t>
            </a:r>
            <a:r>
              <a:rPr lang="vi-VN" dirty="0" smtClean="0">
                <a:latin typeface="+mj-lt"/>
              </a:rPr>
              <a:t>tin</a:t>
            </a:r>
            <a:r>
              <a:rPr lang="en-US" dirty="0" smtClean="0">
                <a:latin typeface="+mj-lt"/>
              </a:rPr>
              <a:t> </a:t>
            </a:r>
            <a:r>
              <a:rPr lang="vi-VN" dirty="0" smtClean="0">
                <a:latin typeface="+mj-lt"/>
              </a:rPr>
              <a:t>có </a:t>
            </a:r>
            <a:r>
              <a:rPr lang="vi-VN" dirty="0">
                <a:latin typeface="+mj-lt"/>
              </a:rPr>
              <a:t>dấu (*) </a:t>
            </a:r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2629910" y="6138538"/>
            <a:ext cx="342900" cy="18761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649722" y="1151833"/>
            <a:ext cx="8665727" cy="17738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649721" y="3496480"/>
            <a:ext cx="4303279" cy="254611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Left Arrow 19"/>
          <p:cNvSpPr/>
          <p:nvPr/>
        </p:nvSpPr>
        <p:spPr>
          <a:xfrm>
            <a:off x="3033026" y="6022047"/>
            <a:ext cx="4872724" cy="42562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dirty="0">
                <a:latin typeface="+mj-lt"/>
              </a:rPr>
              <a:t>Click </a:t>
            </a:r>
            <a:r>
              <a:rPr lang="vi-VN" sz="1200" dirty="0" smtClean="0">
                <a:latin typeface="+mj-lt"/>
              </a:rPr>
              <a:t>“Đăng kí “để </a:t>
            </a:r>
            <a:r>
              <a:rPr lang="vi-VN" sz="1200" dirty="0">
                <a:latin typeface="+mj-lt"/>
              </a:rPr>
              <a:t>đăng kí phòng </a:t>
            </a:r>
            <a:r>
              <a:rPr lang="vi-VN" sz="1200" dirty="0" smtClean="0">
                <a:latin typeface="+mj-lt"/>
              </a:rPr>
              <a:t>họp</a:t>
            </a:r>
            <a:r>
              <a:rPr lang="en-US" sz="1200" dirty="0">
                <a:latin typeface="+mj-lt"/>
              </a:rPr>
              <a:t> </a:t>
            </a:r>
            <a:r>
              <a:rPr lang="vi-VN" sz="1200" dirty="0" smtClean="0">
                <a:latin typeface="+mj-lt"/>
              </a:rPr>
              <a:t>thường sau khi đã điền đủ thông tin</a:t>
            </a:r>
            <a:endParaRPr lang="en-US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26860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A30575-1843-440E-B83C-FE2D3EEDC872}"/>
              </a:ext>
            </a:extLst>
          </p:cNvPr>
          <p:cNvSpPr txBox="1"/>
          <p:nvPr/>
        </p:nvSpPr>
        <p:spPr>
          <a:xfrm>
            <a:off x="190125" y="81247"/>
            <a:ext cx="6533757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12. </a:t>
            </a:r>
            <a:r>
              <a:rPr lang="en-US" altLang="zh-CN" sz="2400" b="1" i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Tra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cứu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phòng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họp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Thông tin phòng họp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endParaRPr lang="en-US" sz="2400" b="1" i="1" baseline="50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</a:pPr>
            <a:endParaRPr lang="en-US" sz="2400" b="1" i="1" baseline="500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05CDEE3F-27A4-47F7-8AAB-4E4486B9A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49" y="33880"/>
            <a:ext cx="133526" cy="386048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95DDBA77-5A8A-43E7-866C-75DFBA7F3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96" y="126123"/>
            <a:ext cx="133526" cy="386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highlight>
                <a:srgbClr val="D00034"/>
              </a:highlight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2569414" y="2408676"/>
            <a:ext cx="354251" cy="29621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96" y="646074"/>
            <a:ext cx="1876687" cy="27621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692727" y="1422400"/>
            <a:ext cx="1507256" cy="32500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692727" y="2394277"/>
            <a:ext cx="1507256" cy="32500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Cloud Callout 24"/>
          <p:cNvSpPr/>
          <p:nvPr/>
        </p:nvSpPr>
        <p:spPr>
          <a:xfrm>
            <a:off x="2479932" y="860739"/>
            <a:ext cx="1954141" cy="1123321"/>
          </a:xfrm>
          <a:prstGeom prst="cloudCallout">
            <a:avLst>
              <a:gd name="adj1" fmla="val -60847"/>
              <a:gd name="adj2" fmla="val 1033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Chọn “thông tin phòng họp”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740" y="1141804"/>
            <a:ext cx="6515794" cy="2303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5361" y="3805703"/>
            <a:ext cx="7198258" cy="228914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10788072" y="1851430"/>
            <a:ext cx="203201" cy="24522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Elbow Connector 43"/>
          <p:cNvCxnSpPr/>
          <p:nvPr/>
        </p:nvCxnSpPr>
        <p:spPr>
          <a:xfrm rot="16200000" flipH="1">
            <a:off x="9987858" y="2977458"/>
            <a:ext cx="2579484" cy="572654"/>
          </a:xfrm>
          <a:prstGeom prst="bentConnector3">
            <a:avLst>
              <a:gd name="adj1" fmla="val -13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9113619" y="4553527"/>
            <a:ext cx="24687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Callout 47"/>
          <p:cNvSpPr/>
          <p:nvPr/>
        </p:nvSpPr>
        <p:spPr>
          <a:xfrm>
            <a:off x="6743703" y="397470"/>
            <a:ext cx="3639127" cy="516900"/>
          </a:xfrm>
          <a:prstGeom prst="wedgeEllipseCallout">
            <a:avLst>
              <a:gd name="adj1" fmla="val -23166"/>
              <a:gd name="adj2" fmla="val 912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2.Bảng hiện thị toàn bộ thông tin phòng đã thêm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Line Callout 1 48"/>
          <p:cNvSpPr/>
          <p:nvPr/>
        </p:nvSpPr>
        <p:spPr>
          <a:xfrm>
            <a:off x="10047484" y="4888866"/>
            <a:ext cx="1915916" cy="1135751"/>
          </a:xfrm>
          <a:prstGeom prst="borderCallout1">
            <a:avLst>
              <a:gd name="adj1" fmla="val 52017"/>
              <a:gd name="adj2" fmla="val -860"/>
              <a:gd name="adj3" fmla="val 35737"/>
              <a:gd name="adj4" fmla="val -4329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latin typeface="+mj-lt"/>
              </a:rPr>
              <a:t>3.Thông tin phòng đã được đặt theo ngày </a:t>
            </a:r>
            <a:endParaRPr lang="en-US" dirty="0">
              <a:latin typeface="+mj-lt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6452949" y="794956"/>
            <a:ext cx="354251" cy="29621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9403426" y="5027976"/>
            <a:ext cx="354251" cy="29621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837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96" y="722483"/>
            <a:ext cx="1887755" cy="229780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A30575-1843-440E-B83C-FE2D3EEDC872}"/>
              </a:ext>
            </a:extLst>
          </p:cNvPr>
          <p:cNvSpPr txBox="1"/>
          <p:nvPr/>
        </p:nvSpPr>
        <p:spPr>
          <a:xfrm>
            <a:off x="-353656" y="103942"/>
            <a:ext cx="6533757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13. 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Phê duyệt đơn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(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Tra cứu đầu đơn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endParaRPr lang="en-US" sz="2400" b="1" i="1" baseline="50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</a:pPr>
            <a:endParaRPr lang="en-US" sz="2400" b="1" i="1" baseline="500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05CDEE3F-27A4-47F7-8AAB-4E4486B9A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49" y="33880"/>
            <a:ext cx="133526" cy="386048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95DDBA77-5A8A-43E7-866C-75DFBA7F3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96" y="126123"/>
            <a:ext cx="133526" cy="386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highlight>
                <a:srgbClr val="D00034"/>
              </a:highlight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2309591" y="1755213"/>
            <a:ext cx="354251" cy="29621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323295" y="1720580"/>
            <a:ext cx="1876687" cy="4606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476643" y="2181264"/>
            <a:ext cx="1723340" cy="38644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loud Callout 9"/>
          <p:cNvSpPr/>
          <p:nvPr/>
        </p:nvSpPr>
        <p:spPr>
          <a:xfrm>
            <a:off x="2497786" y="850722"/>
            <a:ext cx="1954141" cy="1000707"/>
          </a:xfrm>
          <a:prstGeom prst="cloudCallout">
            <a:avLst>
              <a:gd name="adj1" fmla="val -60360"/>
              <a:gd name="adj2" fmla="val 1177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Chọn tra cứu đầu đơn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7079923" y="2348919"/>
            <a:ext cx="354251" cy="29621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591" y="2700547"/>
            <a:ext cx="9540664" cy="35929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22" name="Oval Callout 21"/>
          <p:cNvSpPr/>
          <p:nvPr/>
        </p:nvSpPr>
        <p:spPr>
          <a:xfrm>
            <a:off x="7010399" y="1668639"/>
            <a:ext cx="4839855" cy="861732"/>
          </a:xfrm>
          <a:prstGeom prst="wedgeEllipseCallout">
            <a:avLst>
              <a:gd name="adj1" fmla="val -23869"/>
              <a:gd name="adj2" fmla="val 6571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2.Bảng hiện thị toàn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bộ đầu đơn đặt phòng VIP và đăng kí tài khoản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2382982" y="3463635"/>
            <a:ext cx="1579418" cy="2586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724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A30575-1843-440E-B83C-FE2D3EEDC872}"/>
              </a:ext>
            </a:extLst>
          </p:cNvPr>
          <p:cNvSpPr txBox="1"/>
          <p:nvPr/>
        </p:nvSpPr>
        <p:spPr>
          <a:xfrm>
            <a:off x="-310342" y="98718"/>
            <a:ext cx="6533757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13.1 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Phê duyệt đơn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(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Tra cứu đầu đơn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endParaRPr lang="en-US" sz="2400" b="1" i="1" baseline="50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</a:pPr>
            <a:endParaRPr lang="en-US" sz="2400" b="1" i="1" baseline="500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05CDEE3F-27A4-47F7-8AAB-4E4486B9A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49" y="33880"/>
            <a:ext cx="133526" cy="386048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95DDBA77-5A8A-43E7-866C-75DFBA7F3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96" y="126123"/>
            <a:ext cx="133526" cy="386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highlight>
                <a:srgbClr val="D00034"/>
              </a:highlight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22" y="2493818"/>
            <a:ext cx="8290014" cy="3895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456822" y="3084944"/>
            <a:ext cx="4032052" cy="330467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4645891" y="2493818"/>
            <a:ext cx="4100945" cy="179185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Line Callout 1 18"/>
          <p:cNvSpPr/>
          <p:nvPr/>
        </p:nvSpPr>
        <p:spPr>
          <a:xfrm>
            <a:off x="9633550" y="877782"/>
            <a:ext cx="2144516" cy="1135751"/>
          </a:xfrm>
          <a:prstGeom prst="borderCallout1">
            <a:avLst>
              <a:gd name="adj1" fmla="val 49552"/>
              <a:gd name="adj2" fmla="val -1667"/>
              <a:gd name="adj3" fmla="val 50147"/>
              <a:gd name="adj4" fmla="val -4155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1</a:t>
            </a:r>
            <a:r>
              <a:rPr lang="vi-VN" dirty="0" smtClean="0"/>
              <a:t>.Thông tin phòng đã được đặt theo ngày </a:t>
            </a:r>
            <a:endParaRPr lang="en-US" dirty="0"/>
          </a:p>
        </p:txBody>
      </p:sp>
      <p:sp>
        <p:nvSpPr>
          <p:cNvPr id="20" name="Cloud Callout 19"/>
          <p:cNvSpPr/>
          <p:nvPr/>
        </p:nvSpPr>
        <p:spPr>
          <a:xfrm>
            <a:off x="9282544" y="2270936"/>
            <a:ext cx="2763829" cy="3136352"/>
          </a:xfrm>
          <a:prstGeom prst="cloudCallout">
            <a:avLst>
              <a:gd name="adj1" fmla="val -66087"/>
              <a:gd name="adj2" fmla="val 4462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/>
              <a:t>2.Form hiển thị toàn bộ thông tin phòng họp</a:t>
            </a:r>
          </a:p>
          <a:p>
            <a:pPr algn="ctr"/>
            <a:r>
              <a:rPr lang="vi-VN" dirty="0" smtClean="0"/>
              <a:t>đã đăng kí . Lưu trình kí phòng họp VIP</a:t>
            </a:r>
          </a:p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9144500" y="1071722"/>
            <a:ext cx="354251" cy="29621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8842183" y="4100945"/>
            <a:ext cx="354251" cy="369456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22" y="582190"/>
            <a:ext cx="8290014" cy="176348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456822" y="587659"/>
            <a:ext cx="8290014" cy="175801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568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A30575-1843-440E-B83C-FE2D3EEDC872}"/>
              </a:ext>
            </a:extLst>
          </p:cNvPr>
          <p:cNvSpPr txBox="1"/>
          <p:nvPr/>
        </p:nvSpPr>
        <p:spPr>
          <a:xfrm>
            <a:off x="-866872" y="63664"/>
            <a:ext cx="6533757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14.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1.Phê duyệt 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đơn chờ ký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endParaRPr lang="en-US" sz="2400" b="1" i="1" baseline="50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</a:pPr>
            <a:endParaRPr lang="en-US" sz="2400" b="1" i="1" baseline="500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05CDEE3F-27A4-47F7-8AAB-4E4486B9A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49" y="33880"/>
            <a:ext cx="133526" cy="386048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95DDBA77-5A8A-43E7-866C-75DFBA7F3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96" y="126123"/>
            <a:ext cx="133526" cy="386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highlight>
                <a:srgbClr val="D00034"/>
              </a:highlight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96" y="722483"/>
            <a:ext cx="1887755" cy="229780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323295" y="1720580"/>
            <a:ext cx="1876687" cy="4606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334364" y="2559607"/>
            <a:ext cx="1876687" cy="46068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12" y="4581380"/>
            <a:ext cx="11443702" cy="18054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22" name="Cloud Callout 21"/>
          <p:cNvSpPr/>
          <p:nvPr/>
        </p:nvSpPr>
        <p:spPr>
          <a:xfrm>
            <a:off x="2497785" y="787588"/>
            <a:ext cx="1954141" cy="1000707"/>
          </a:xfrm>
          <a:prstGeom prst="cloudCallout">
            <a:avLst>
              <a:gd name="adj1" fmla="val -60360"/>
              <a:gd name="adj2" fmla="val 1177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Chọn “đơn chờ ký”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323295" y="4841163"/>
            <a:ext cx="448342" cy="26637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1192363" y="5575884"/>
            <a:ext cx="1883346" cy="2738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906913" y="4737425"/>
            <a:ext cx="354725" cy="345048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Line Callout 1 8"/>
          <p:cNvSpPr/>
          <p:nvPr/>
        </p:nvSpPr>
        <p:spPr>
          <a:xfrm>
            <a:off x="1564911" y="3212109"/>
            <a:ext cx="1892663" cy="1033988"/>
          </a:xfrm>
          <a:prstGeom prst="borderCallout1">
            <a:avLst>
              <a:gd name="adj1" fmla="val 49552"/>
              <a:gd name="adj2" fmla="val -1667"/>
              <a:gd name="adj3" fmla="val 152615"/>
              <a:gd name="adj4" fmla="val -4148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2.Click “Đồng ý” để kí qua đơn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2289751" y="1730794"/>
            <a:ext cx="354725" cy="345048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ounded Rectangular Callout 25"/>
          <p:cNvSpPr/>
          <p:nvPr/>
        </p:nvSpPr>
        <p:spPr>
          <a:xfrm>
            <a:off x="5197509" y="3020291"/>
            <a:ext cx="2917791" cy="1225805"/>
          </a:xfrm>
          <a:prstGeom prst="wedgeRoundRectCallout">
            <a:avLst>
              <a:gd name="adj1" fmla="val -126664"/>
              <a:gd name="adj2" fmla="val 15375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3.Để xem chi tiết đơn cần kí Click “Mã đơn” sẽ hiển thị toàn bộ thông tin đơn cần ký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2644476" y="5152115"/>
            <a:ext cx="354725" cy="33201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27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A30575-1843-440E-B83C-FE2D3EEDC872}"/>
              </a:ext>
            </a:extLst>
          </p:cNvPr>
          <p:cNvSpPr txBox="1"/>
          <p:nvPr/>
        </p:nvSpPr>
        <p:spPr>
          <a:xfrm>
            <a:off x="-993751" y="90763"/>
            <a:ext cx="6533757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20000"/>
              </a:spcBef>
              <a:buClr>
                <a:schemeClr val="accent2"/>
              </a:buClr>
            </a:pP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14.2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Phê duyệt 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vi-VN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đơn chờ ký</a:t>
            </a:r>
            <a:r>
              <a:rPr lang="en-US" altLang="zh-CN" sz="2400" b="1" i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)</a:t>
            </a:r>
            <a:endParaRPr lang="zh-CN" altLang="en-US" sz="2400" b="1" i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20000"/>
              </a:spcBef>
              <a:buClr>
                <a:schemeClr val="accent2"/>
              </a:buClr>
            </a:pPr>
            <a:endParaRPr lang="en-US" sz="2400" b="1" i="1" baseline="50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</a:pPr>
            <a:endParaRPr lang="en-US" sz="2400" b="1" i="1" baseline="50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05CDEE3F-27A4-47F7-8AAB-4E4486B9A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49" y="-34706"/>
            <a:ext cx="133526" cy="523220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95DDBA77-5A8A-43E7-866C-75DFBA7F3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96" y="57537"/>
            <a:ext cx="133526" cy="5232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highlight>
                <a:srgbClr val="D00034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2982479" y="1143625"/>
            <a:ext cx="354725" cy="345048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95" y="2675452"/>
            <a:ext cx="7512624" cy="37219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96" y="646549"/>
            <a:ext cx="7512623" cy="18945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9" name="Line Callout 1 18"/>
          <p:cNvSpPr/>
          <p:nvPr/>
        </p:nvSpPr>
        <p:spPr>
          <a:xfrm>
            <a:off x="8737623" y="920797"/>
            <a:ext cx="2144516" cy="1135751"/>
          </a:xfrm>
          <a:prstGeom prst="borderCallout1">
            <a:avLst>
              <a:gd name="adj1" fmla="val 52805"/>
              <a:gd name="adj2" fmla="val -806"/>
              <a:gd name="adj3" fmla="val 52586"/>
              <a:gd name="adj4" fmla="val -4198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.Thông tin phòng đã được đặt theo ngày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Cloud Callout 19"/>
          <p:cNvSpPr/>
          <p:nvPr/>
        </p:nvSpPr>
        <p:spPr>
          <a:xfrm>
            <a:off x="8437131" y="2146559"/>
            <a:ext cx="2768231" cy="2434056"/>
          </a:xfrm>
          <a:prstGeom prst="cloudCallout">
            <a:avLst>
              <a:gd name="adj1" fmla="val -67755"/>
              <a:gd name="adj2" fmla="val 457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2.Form hiển thị toàn bộ thông tin phòng họp</a:t>
            </a:r>
          </a:p>
          <a:p>
            <a:pPr algn="ctr"/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Đang cần ký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5458713" y="5552363"/>
            <a:ext cx="960559" cy="26637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8021826" y="1143625"/>
            <a:ext cx="354725" cy="345048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7990520" y="3692367"/>
            <a:ext cx="354725" cy="345048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Line Callout 2 29"/>
          <p:cNvSpPr/>
          <p:nvPr/>
        </p:nvSpPr>
        <p:spPr>
          <a:xfrm>
            <a:off x="8743945" y="4996873"/>
            <a:ext cx="2810745" cy="821862"/>
          </a:xfrm>
          <a:prstGeom prst="borderCallout2">
            <a:avLst>
              <a:gd name="adj1" fmla="val 61456"/>
              <a:gd name="adj2" fmla="val -1013"/>
              <a:gd name="adj3" fmla="val 62790"/>
              <a:gd name="adj4" fmla="val -13647"/>
              <a:gd name="adj5" fmla="val 80119"/>
              <a:gd name="adj6" fmla="val -8256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3.Click “Đồng ý “để kí qua Click “Từ chối” để từ chối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0260477-090F-4ABC-B627-52575C163B6C}"/>
              </a:ext>
            </a:extLst>
          </p:cNvPr>
          <p:cNvSpPr/>
          <p:nvPr/>
        </p:nvSpPr>
        <p:spPr>
          <a:xfrm>
            <a:off x="8059603" y="5128719"/>
            <a:ext cx="354725" cy="345048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323295" y="2676318"/>
            <a:ext cx="7512624" cy="372106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2E0B62-EA1A-4D41-ACF2-8842F2835E6D}"/>
              </a:ext>
            </a:extLst>
          </p:cNvPr>
          <p:cNvSpPr/>
          <p:nvPr/>
        </p:nvSpPr>
        <p:spPr>
          <a:xfrm>
            <a:off x="323295" y="646549"/>
            <a:ext cx="7512624" cy="189452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217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>
            <a:extLst>
              <a:ext uri="{FF2B5EF4-FFF2-40B4-BE49-F238E27FC236}">
                <a16:creationId xmlns:a16="http://schemas.microsoft.com/office/drawing/2014/main" id="{FF4DE1BB-BC9A-48EA-A549-14E34B618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49" y="33880"/>
            <a:ext cx="133526" cy="386048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3D86E5F8-C055-4C25-B523-2E1641758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96" y="126123"/>
            <a:ext cx="133526" cy="386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highlight>
                <a:srgbClr val="D00034"/>
              </a:highlight>
            </a:endParaRPr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810106" y="6349336"/>
            <a:ext cx="2743200" cy="365125"/>
          </a:xfrm>
          <a:prstGeom prst="rect">
            <a:avLst/>
          </a:prstGeom>
        </p:spPr>
        <p:txBody>
          <a:bodyPr/>
          <a:lstStyle/>
          <a:p>
            <a:pPr lvl="0" algn="r" eaLnBrk="1" hangingPunct="1"/>
            <a:fld id="{566ABCEB-ACFC-4714-9973-3DA970169C29}" type="slidenum">
              <a:rPr lang="zh-TW" altLang="en-US" sz="1200" smtClean="0">
                <a:solidFill>
                  <a:srgbClr val="898989"/>
                </a:solidFill>
                <a:latin typeface="Calibri" pitchFamily="34" charset="0"/>
                <a:ea typeface="Microsoft JhengHei" pitchFamily="34" charset="-120"/>
              </a:rPr>
              <a:pPr lvl="0" algn="r" eaLnBrk="1" hangingPunct="1"/>
              <a:t>25</a:t>
            </a:fld>
            <a:endParaRPr lang="zh-TW" altLang="en-US" sz="1200">
              <a:solidFill>
                <a:srgbClr val="898989"/>
              </a:solidFill>
              <a:latin typeface="Calibri" pitchFamily="34" charset="0"/>
              <a:ea typeface="Microsoft JhengHei" pitchFamily="34" charset="-120"/>
            </a:endParaRPr>
          </a:p>
        </p:txBody>
      </p:sp>
      <p:sp>
        <p:nvSpPr>
          <p:cNvPr id="10" name="Rectangle 22"/>
          <p:cNvSpPr>
            <a:spLocks noChangeArrowheads="1"/>
          </p:cNvSpPr>
          <p:nvPr/>
        </p:nvSpPr>
        <p:spPr bwMode="auto">
          <a:xfrm>
            <a:off x="581111" y="64568"/>
            <a:ext cx="9359900" cy="58221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spAutoFit/>
          </a:bodyPr>
          <a:lstStyle/>
          <a:p>
            <a:pPr defTabSz="762000">
              <a:defRPr/>
            </a:pPr>
            <a:r>
              <a:rPr lang="en-US" altLang="zh-TW" sz="3200" b="1" dirty="0" smtClean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 </a:t>
            </a:r>
            <a:endParaRPr lang="zh-TW" altLang="en-US" sz="32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9132" y="1284842"/>
            <a:ext cx="524879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Huyền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阮秋玄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 : 535 - 30996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E-mail : jiu-xuan.ruan@mail.foxconn.com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--------------------------------------------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–VN-APP -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阮文興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 : 535-27115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E-mail :vn-it-app@mail.foxconn.com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120878"/>
            <a:ext cx="207108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120878"/>
            <a:ext cx="207108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445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5F2267C1-B5A0-4971-A5DA-698241DEC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949" y="126123"/>
            <a:ext cx="133526" cy="386048"/>
          </a:xfrm>
          <a:prstGeom prst="rect">
            <a:avLst/>
          </a:prstGeom>
          <a:solidFill>
            <a:srgbClr val="002F76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B2CDD3A7-9345-4CAB-9531-6E40583A9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931" y="253632"/>
            <a:ext cx="133526" cy="386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anchor="ctr">
            <a:spAutoFit/>
          </a:bodyPr>
          <a:lstStyle>
            <a:lvl1pPr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 b="1">
                <a:solidFill>
                  <a:srgbClr val="990033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endParaRPr lang="zh-CN" altLang="en-US" dirty="0">
              <a:highlight>
                <a:srgbClr val="D00034"/>
              </a:highligh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7439" y="0"/>
            <a:ext cx="28007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END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430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27666</TotalTime>
  <Words>1259</Words>
  <Application>Microsoft Office PowerPoint</Application>
  <PresentationFormat>寬螢幕</PresentationFormat>
  <Paragraphs>220</Paragraphs>
  <Slides>26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9" baseType="lpstr">
      <vt:lpstr>等线</vt:lpstr>
      <vt:lpstr>Microsoft JhengHei</vt:lpstr>
      <vt:lpstr>PMingLiU</vt:lpstr>
      <vt:lpstr>PMingLiU</vt:lpstr>
      <vt:lpstr>黑体</vt:lpstr>
      <vt:lpstr>宋体</vt:lpstr>
      <vt:lpstr>Arial</vt:lpstr>
      <vt:lpstr>Calibri</vt:lpstr>
      <vt:lpstr>Calibri Light</vt:lpstr>
      <vt:lpstr>Cambria</vt:lpstr>
      <vt:lpstr>Times New Roman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ViThi Ly</dc:creator>
  <cp:lastModifiedBy>Nguyen Thi Lan Anh</cp:lastModifiedBy>
  <cp:revision>1284</cp:revision>
  <dcterms:created xsi:type="dcterms:W3CDTF">2020-01-31T02:56:06Z</dcterms:created>
  <dcterms:modified xsi:type="dcterms:W3CDTF">2023-03-28T08:05:02Z</dcterms:modified>
</cp:coreProperties>
</file>