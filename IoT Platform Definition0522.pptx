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7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1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7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84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3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7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48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7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1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8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2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86CFB18-7CFB-700F-0FDE-5201C841F3F3}"/>
              </a:ext>
            </a:extLst>
          </p:cNvPr>
          <p:cNvSpPr txBox="1"/>
          <p:nvPr userDrawn="1"/>
        </p:nvSpPr>
        <p:spPr>
          <a:xfrm>
            <a:off x="359899" y="6591001"/>
            <a:ext cx="2754776" cy="246221"/>
          </a:xfrm>
          <a:prstGeom prst="rect">
            <a:avLst/>
          </a:prstGeom>
          <a:solidFill>
            <a:srgbClr val="093A8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2023 Fii</a:t>
            </a:r>
            <a:r>
              <a:rPr lang="zh-TW" altLang="en-US" sz="10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10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Confidential. All Rights Reserved.</a:t>
            </a:r>
            <a:endParaRPr lang="zh-CN" altLang="en-US" sz="10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73E79D7-035B-5F07-FA24-0524BCE062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087" r="2216"/>
          <a:stretch/>
        </p:blipFill>
        <p:spPr>
          <a:xfrm>
            <a:off x="0" y="8921"/>
            <a:ext cx="12192000" cy="6593597"/>
          </a:xfrm>
          <a:prstGeom prst="rect">
            <a:avLst/>
          </a:prstGeom>
          <a:ln>
            <a:noFill/>
          </a:ln>
        </p:spPr>
      </p:pic>
      <p:pic>
        <p:nvPicPr>
          <p:cNvPr id="19" name="Image" descr="Image">
            <a:extLst>
              <a:ext uri="{FF2B5EF4-FFF2-40B4-BE49-F238E27FC236}">
                <a16:creationId xmlns:a16="http://schemas.microsoft.com/office/drawing/2014/main" id="{1C2334A8-DED0-FF0E-50CD-3245EE0935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8113" y="172162"/>
            <a:ext cx="1772066" cy="29416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圖片 15">
            <a:extLst>
              <a:ext uri="{FF2B5EF4-FFF2-40B4-BE49-F238E27FC236}">
                <a16:creationId xmlns:a16="http://schemas.microsoft.com/office/drawing/2014/main" id="{70E7D926-13E4-4CAB-F798-32A11B4CF1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46463" b="11822"/>
          <a:stretch>
            <a:fillRect/>
          </a:stretch>
        </p:blipFill>
        <p:spPr>
          <a:xfrm>
            <a:off x="23150" y="8922"/>
            <a:ext cx="12168850" cy="657989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32A989DB-0C73-EDCA-9F51-7066FC13B0BB}"/>
              </a:ext>
            </a:extLst>
          </p:cNvPr>
          <p:cNvSpPr/>
          <p:nvPr userDrawn="1"/>
        </p:nvSpPr>
        <p:spPr>
          <a:xfrm>
            <a:off x="11575" y="0"/>
            <a:ext cx="12170265" cy="6602516"/>
          </a:xfrm>
          <a:prstGeom prst="rect">
            <a:avLst/>
          </a:prstGeom>
          <a:gradFill flip="none" rotWithShape="1">
            <a:gsLst>
              <a:gs pos="60000">
                <a:srgbClr val="04233E"/>
              </a:gs>
              <a:gs pos="29000">
                <a:srgbClr val="07467C"/>
              </a:gs>
              <a:gs pos="0">
                <a:srgbClr val="0E7FC3"/>
              </a:gs>
              <a:gs pos="100000">
                <a:schemeClr val="tx1">
                  <a:alpha val="4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3A84BC-0E1A-CBAA-FFF2-26478653CECB}"/>
              </a:ext>
            </a:extLst>
          </p:cNvPr>
          <p:cNvSpPr/>
          <p:nvPr userDrawn="1"/>
        </p:nvSpPr>
        <p:spPr>
          <a:xfrm rot="10800000">
            <a:off x="0" y="20320"/>
            <a:ext cx="12232640" cy="6480598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44000"/>
                </a:schemeClr>
              </a:gs>
              <a:gs pos="31000">
                <a:schemeClr val="tx1">
                  <a:alpha val="0"/>
                  <a:lumMod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900" b="1" spc="300">
                <a:solidFill>
                  <a:srgbClr val="69D1F6"/>
                </a:solidFill>
                <a:effectLst>
                  <a:outerShdw blurRad="50800" dist="762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微软雅黑" charset="-122"/>
                <a:ea typeface="微软雅黑" charset="-122"/>
              </a:rPr>
              <a:t>    </a:t>
            </a:r>
            <a:endParaRPr lang="zh-TW" altLang="en-US" sz="900" b="1" spc="300">
              <a:solidFill>
                <a:schemeClr val="bg1"/>
              </a:solidFill>
              <a:effectLst>
                <a:outerShdw blurRad="50800" dist="76200" dir="5400000" sx="101000" sy="101000" algn="t" rotWithShape="0">
                  <a:prstClr val="black">
                    <a:alpha val="40000"/>
                  </a:prstClr>
                </a:outerShdw>
              </a:effectLst>
              <a:latin typeface="微软雅黑" charset="-122"/>
              <a:ea typeface="微软雅黑" charset="-122"/>
            </a:endParaRPr>
          </a:p>
        </p:txBody>
      </p:sp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CFC64074-4772-9B7C-2E1E-B81C694A93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7718" y="183736"/>
            <a:ext cx="1772066" cy="28172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B545EF85-70F4-F3E2-5DF7-9483DF198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146" y="6602520"/>
            <a:ext cx="7403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cs typeface="Arial" panose="020B0604020202020204" pitchFamily="34" charset="0"/>
              </a:defRPr>
            </a:lvl1pPr>
          </a:lstStyle>
          <a:p>
            <a:fld id="{E5386DCD-524C-4D6B-849A-07B12901B9AD}" type="slidenum">
              <a:rPr lang="zh-CN" altLang="en-US" smtClean="0"/>
              <a:pPr/>
              <a:t>‹#›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FA8FBC-E94D-52AD-3708-22B4FF7EC76F}"/>
              </a:ext>
            </a:extLst>
          </p:cNvPr>
          <p:cNvSpPr/>
          <p:nvPr userDrawn="1"/>
        </p:nvSpPr>
        <p:spPr>
          <a:xfrm>
            <a:off x="0" y="1"/>
            <a:ext cx="3180302" cy="685799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C4C50D-5CC7-3FB6-21B7-8B70E21B0DF5}"/>
              </a:ext>
            </a:extLst>
          </p:cNvPr>
          <p:cNvSpPr/>
          <p:nvPr userDrawn="1"/>
        </p:nvSpPr>
        <p:spPr>
          <a:xfrm>
            <a:off x="5948601" y="11093"/>
            <a:ext cx="2829557" cy="685799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929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1BD61-740D-4990-BE7D-C0736CD7EE1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3D747-3014-4CB3-9D4E-AEEF5304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9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jpeg"/><Relationship Id="rId11" Type="http://schemas.openxmlformats.org/officeDocument/2006/relationships/image" Target="../media/image24.png"/><Relationship Id="rId5" Type="http://schemas.openxmlformats.org/officeDocument/2006/relationships/image" Target="../media/image18.jpeg"/><Relationship Id="rId10" Type="http://schemas.openxmlformats.org/officeDocument/2006/relationships/image" Target="../media/image23.png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386DCD-524C-4D6B-849A-07B12901B9AD}" type="slidenum">
              <a:rPr lang="zh-CN" altLang="en-US" smtClean="0"/>
              <a:pPr/>
              <a:t>1</a:t>
            </a:fld>
            <a:endParaRPr lang="en-US" altLang="zh-CN"/>
          </a:p>
        </p:txBody>
      </p:sp>
      <p:sp>
        <p:nvSpPr>
          <p:cNvPr id="3" name="Google Shape;44;p6"/>
          <p:cNvSpPr txBox="1"/>
          <p:nvPr/>
        </p:nvSpPr>
        <p:spPr>
          <a:xfrm>
            <a:off x="905178" y="2524800"/>
            <a:ext cx="10536600" cy="362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smtClean="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IOT </a:t>
            </a:r>
            <a:r>
              <a:rPr lang="en-US" sz="5200" b="1" dirty="0" smtClean="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Platform</a:t>
            </a:r>
            <a:endParaRPr sz="5200" b="1" dirty="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47472" y="6580155"/>
            <a:ext cx="621792" cy="253916"/>
            <a:chOff x="448056" y="6576146"/>
            <a:chExt cx="621792" cy="253916"/>
          </a:xfrm>
        </p:grpSpPr>
        <p:sp>
          <p:nvSpPr>
            <p:cNvPr id="9" name="Rectangle 8"/>
            <p:cNvSpPr/>
            <p:nvPr/>
          </p:nvSpPr>
          <p:spPr>
            <a:xfrm>
              <a:off x="448056" y="6620808"/>
              <a:ext cx="414974" cy="182328"/>
            </a:xfrm>
            <a:prstGeom prst="rect">
              <a:avLst/>
            </a:prstGeom>
            <a:solidFill>
              <a:srgbClr val="114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8056" y="6576146"/>
              <a:ext cx="6217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20" smtClean="0">
                  <a:solidFill>
                    <a:schemeClr val="bg1"/>
                  </a:solidFill>
                </a:rPr>
                <a:t>2024</a:t>
              </a:r>
              <a:endParaRPr lang="en-US" sz="102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476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386DCD-524C-4D6B-849A-07B12901B9AD}" type="slidenum">
              <a:rPr lang="zh-CN" altLang="en-US" smtClean="0"/>
              <a:pPr/>
              <a:t>2</a:t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140680" y="73611"/>
            <a:ext cx="16995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chemeClr val="lt1"/>
              </a:buClr>
              <a:buSzPts val="1200"/>
            </a:pPr>
            <a:r>
              <a:rPr lang="en-US" sz="2000" b="1" dirty="0" smtClean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Platform</a:t>
            </a:r>
            <a:endParaRPr lang="en-US" sz="2000"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14305" y="4289367"/>
            <a:ext cx="7758546" cy="2223573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409605" y="1240499"/>
            <a:ext cx="6048241" cy="290608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0680" y="1537856"/>
            <a:ext cx="3076345" cy="260872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40681" y="4838007"/>
            <a:ext cx="1871000" cy="1677076"/>
          </a:xfrm>
          <a:prstGeom prst="rect">
            <a:avLst/>
          </a:prstGeom>
          <a:solidFill>
            <a:srgbClr val="114489"/>
          </a:solidFill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44436" y="4838007"/>
            <a:ext cx="1862051" cy="1677076"/>
          </a:xfrm>
          <a:prstGeom prst="rect">
            <a:avLst/>
          </a:prstGeom>
          <a:solidFill>
            <a:srgbClr val="114489"/>
          </a:solidFill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561024" y="1537856"/>
            <a:ext cx="2511827" cy="260872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09604" y="73611"/>
            <a:ext cx="6048241" cy="110368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0680" y="4289367"/>
            <a:ext cx="3965807" cy="415637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682539" y="3567919"/>
            <a:ext cx="4538748" cy="415637"/>
          </a:xfrm>
          <a:prstGeom prst="rect">
            <a:avLst/>
          </a:prstGeom>
          <a:solidFill>
            <a:srgbClr val="114489"/>
          </a:solidFill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29353" y="1704109"/>
            <a:ext cx="966342" cy="2279447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694316" y="2341255"/>
            <a:ext cx="2142952" cy="109366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121979" y="2341254"/>
            <a:ext cx="2099308" cy="1093661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682539" y="1704110"/>
            <a:ext cx="4538748" cy="44326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314305" y="5404102"/>
            <a:ext cx="7758546" cy="110883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1181" y="5491267"/>
            <a:ext cx="691794" cy="67979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1577" y="5491267"/>
            <a:ext cx="687945" cy="68794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1253" y="5491267"/>
            <a:ext cx="709033" cy="79409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0331" y="5491267"/>
            <a:ext cx="557898" cy="55789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3894" y="5474641"/>
            <a:ext cx="614856" cy="61485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874195" y="5404102"/>
            <a:ext cx="2198656" cy="110883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4465" y="4352566"/>
            <a:ext cx="949729" cy="723570"/>
          </a:xfrm>
          <a:prstGeom prst="rect">
            <a:avLst/>
          </a:prstGeom>
        </p:spPr>
      </p:pic>
      <p:pic>
        <p:nvPicPr>
          <p:cNvPr id="27" name="Picture 21" descr="C:\Users\v0918691\Desktop\Capture.PNG"/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68840" y="4361467"/>
            <a:ext cx="1030778" cy="72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5962" y="4364936"/>
            <a:ext cx="791095" cy="71663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6681" y="4356034"/>
            <a:ext cx="919703" cy="71663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0229" y="5491267"/>
            <a:ext cx="1145480" cy="712743"/>
          </a:xfrm>
          <a:prstGeom prst="rect">
            <a:avLst/>
          </a:prstGeom>
        </p:spPr>
      </p:pic>
      <p:sp>
        <p:nvSpPr>
          <p:cNvPr id="31" name="Up-Down Arrow 30"/>
          <p:cNvSpPr/>
          <p:nvPr/>
        </p:nvSpPr>
        <p:spPr>
          <a:xfrm>
            <a:off x="581891" y="4146584"/>
            <a:ext cx="307571" cy="691423"/>
          </a:xfrm>
          <a:prstGeom prst="upDownArrow">
            <a:avLst/>
          </a:prstGeom>
          <a:solidFill>
            <a:srgbClr val="00CC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Up-Down Arrow 31"/>
          <p:cNvSpPr/>
          <p:nvPr/>
        </p:nvSpPr>
        <p:spPr>
          <a:xfrm rot="5400000">
            <a:off x="1969797" y="5456574"/>
            <a:ext cx="307571" cy="474557"/>
          </a:xfrm>
          <a:prstGeom prst="upDownArrow">
            <a:avLst/>
          </a:prstGeom>
          <a:solidFill>
            <a:srgbClr val="00CC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Up-Down Arrow 33"/>
          <p:cNvSpPr/>
          <p:nvPr/>
        </p:nvSpPr>
        <p:spPr>
          <a:xfrm rot="5400000">
            <a:off x="4048742" y="5456574"/>
            <a:ext cx="307571" cy="474557"/>
          </a:xfrm>
          <a:prstGeom prst="upDownArrow">
            <a:avLst/>
          </a:prstGeom>
          <a:solidFill>
            <a:srgbClr val="00CC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Up-Down Arrow 35"/>
          <p:cNvSpPr/>
          <p:nvPr/>
        </p:nvSpPr>
        <p:spPr>
          <a:xfrm>
            <a:off x="3707477" y="3983557"/>
            <a:ext cx="307571" cy="844844"/>
          </a:xfrm>
          <a:prstGeom prst="upDownArrow">
            <a:avLst/>
          </a:prstGeom>
          <a:solidFill>
            <a:srgbClr val="00CC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120997" y="4295016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IT Isolation Network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4172" y="1554780"/>
            <a:ext cx="2334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Assess Management System (TMS/DMS)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40682" y="3479139"/>
            <a:ext cx="3076343" cy="667444"/>
          </a:xfrm>
          <a:prstGeom prst="rect">
            <a:avLst/>
          </a:prstGeom>
          <a:solidFill>
            <a:srgbClr val="114489"/>
          </a:solidFill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533440" y="3568195"/>
            <a:ext cx="2334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Online Location Management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9850" y="5085037"/>
            <a:ext cx="1448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IOT Device Register/ Heath Check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47064" y="5110538"/>
            <a:ext cx="1448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Fii IOT Local Data Collect Terminal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498414" y="4653756"/>
            <a:ext cx="2099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Modules Category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65891" y="5496856"/>
            <a:ext cx="1117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Basic Physical Data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532098" y="6171064"/>
            <a:ext cx="111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Sensors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88683" y="6185761"/>
            <a:ext cx="899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PLC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92377" y="6179212"/>
            <a:ext cx="111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Log File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698722" y="6170311"/>
            <a:ext cx="125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Database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438368" y="6171064"/>
            <a:ext cx="111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Media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571349" y="5050544"/>
            <a:ext cx="138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Automation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43719" y="5050544"/>
            <a:ext cx="87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Tester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295695" y="5034770"/>
            <a:ext cx="134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Robot </a:t>
            </a:r>
            <a:r>
              <a:rPr lang="en-US" altLang="zh-CN" dirty="0">
                <a:solidFill>
                  <a:schemeClr val="bg1"/>
                </a:solidFill>
              </a:rPr>
              <a:t>A</a:t>
            </a:r>
            <a:r>
              <a:rPr lang="en-US" altLang="zh-CN" dirty="0" smtClean="0">
                <a:solidFill>
                  <a:schemeClr val="bg1"/>
                </a:solidFill>
              </a:rPr>
              <a:t>rm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29437" y="5037590"/>
            <a:ext cx="134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Camera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687832" y="3589414"/>
            <a:ext cx="280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Data Collection Module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988326" y="2436326"/>
            <a:ext cx="1608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Data Processing, ETL, Analytic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25540" y="2590093"/>
            <a:ext cx="1608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Storage</a:t>
            </a:r>
          </a:p>
          <a:p>
            <a:pPr algn="ctr"/>
            <a:r>
              <a:rPr lang="en-US" sz="1100" dirty="0" smtClean="0">
                <a:solidFill>
                  <a:schemeClr val="bg1"/>
                </a:solidFill>
              </a:rPr>
              <a:t>(Data Warehouse, Big Data Model)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015048" y="1741413"/>
            <a:ext cx="160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Data Output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9" name="Up Arrow 58"/>
          <p:cNvSpPr/>
          <p:nvPr/>
        </p:nvSpPr>
        <p:spPr>
          <a:xfrm>
            <a:off x="4651490" y="2082391"/>
            <a:ext cx="282633" cy="290377"/>
          </a:xfrm>
          <a:prstGeom prst="upArrow">
            <a:avLst/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Up Arrow 59"/>
          <p:cNvSpPr/>
          <p:nvPr/>
        </p:nvSpPr>
        <p:spPr>
          <a:xfrm>
            <a:off x="4673675" y="3323744"/>
            <a:ext cx="282633" cy="290377"/>
          </a:xfrm>
          <a:prstGeom prst="upArrow">
            <a:avLst/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Up Arrow 60"/>
          <p:cNvSpPr/>
          <p:nvPr/>
        </p:nvSpPr>
        <p:spPr>
          <a:xfrm rot="5400000">
            <a:off x="5870378" y="2712431"/>
            <a:ext cx="282633" cy="348854"/>
          </a:xfrm>
          <a:prstGeom prst="upArrow">
            <a:avLst/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Up Arrow 62"/>
          <p:cNvSpPr/>
          <p:nvPr/>
        </p:nvSpPr>
        <p:spPr>
          <a:xfrm rot="5400000">
            <a:off x="8162745" y="1751315"/>
            <a:ext cx="282633" cy="348854"/>
          </a:xfrm>
          <a:prstGeom prst="upArrow">
            <a:avLst/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Up Arrow 63"/>
          <p:cNvSpPr/>
          <p:nvPr/>
        </p:nvSpPr>
        <p:spPr>
          <a:xfrm>
            <a:off x="7024120" y="2086635"/>
            <a:ext cx="282633" cy="290377"/>
          </a:xfrm>
          <a:prstGeom prst="upArrow">
            <a:avLst/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8026578" y="1927734"/>
            <a:ext cx="1608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Information 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Center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003311" y="1809516"/>
            <a:ext cx="947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Web services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43416" y="2812080"/>
            <a:ext cx="3076343" cy="667444"/>
          </a:xfrm>
          <a:prstGeom prst="rect">
            <a:avLst/>
          </a:prstGeom>
          <a:solidFill>
            <a:srgbClr val="114489"/>
          </a:solidFill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548754" y="2895204"/>
            <a:ext cx="2334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Parts, Consume Usage Monitoring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078978" y="1809958"/>
            <a:ext cx="947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REST API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681162" y="1538794"/>
            <a:ext cx="23341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Quality Control</a:t>
            </a:r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(IT SFC&amp;AllPart Integrated)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561024" y="2815375"/>
            <a:ext cx="2511827" cy="667444"/>
          </a:xfrm>
          <a:prstGeom prst="rect">
            <a:avLst/>
          </a:prstGeom>
          <a:solidFill>
            <a:srgbClr val="114489"/>
          </a:solidFill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9635540" y="2994895"/>
            <a:ext cx="2334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Machine FAI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561024" y="3482192"/>
            <a:ext cx="2511827" cy="667444"/>
          </a:xfrm>
          <a:prstGeom prst="rect">
            <a:avLst/>
          </a:prstGeom>
          <a:solidFill>
            <a:srgbClr val="114489"/>
          </a:solidFill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9653155" y="3560730"/>
            <a:ext cx="2334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Machine Maintenance Schedule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7" name="Up-Down Arrow 66"/>
          <p:cNvSpPr/>
          <p:nvPr/>
        </p:nvSpPr>
        <p:spPr>
          <a:xfrm rot="5400000">
            <a:off x="3158163" y="2657925"/>
            <a:ext cx="307571" cy="474557"/>
          </a:xfrm>
          <a:prstGeom prst="upDownArrow">
            <a:avLst/>
          </a:prstGeom>
          <a:solidFill>
            <a:srgbClr val="00CC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Up-Down Arrow 77"/>
          <p:cNvSpPr/>
          <p:nvPr/>
        </p:nvSpPr>
        <p:spPr>
          <a:xfrm rot="5400000">
            <a:off x="9271092" y="2662048"/>
            <a:ext cx="307571" cy="474557"/>
          </a:xfrm>
          <a:prstGeom prst="upDownArrow">
            <a:avLst/>
          </a:prstGeom>
          <a:solidFill>
            <a:srgbClr val="00CC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4845879" y="1284612"/>
            <a:ext cx="317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Smart Factory Platform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9555244" y="2152949"/>
            <a:ext cx="2511827" cy="667444"/>
          </a:xfrm>
          <a:prstGeom prst="rect">
            <a:avLst/>
          </a:prstGeom>
          <a:solidFill>
            <a:srgbClr val="114489"/>
          </a:solidFill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9653538" y="2323742"/>
            <a:ext cx="2334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PHM, CPK, SPC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329354" y="3418424"/>
            <a:ext cx="966342" cy="558673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8324776" y="3434917"/>
            <a:ext cx="97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Call for repair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322225" y="2857284"/>
            <a:ext cx="966342" cy="558673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8331903" y="3008011"/>
            <a:ext cx="970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PDCA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305037" y="312291"/>
            <a:ext cx="179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Application Implement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087381" y="231278"/>
            <a:ext cx="1238159" cy="7273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7030A0"/>
                </a:solidFill>
              </a:rPr>
              <a:t>Operation layer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6524683" y="229302"/>
            <a:ext cx="1326238" cy="7273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7030A0"/>
                </a:solidFill>
              </a:rPr>
              <a:t>Management layer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050063" y="227326"/>
            <a:ext cx="1238159" cy="7273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7030A0"/>
                </a:solidFill>
              </a:rPr>
              <a:t>Decision layer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90" name="Up Arrow 89"/>
          <p:cNvSpPr/>
          <p:nvPr/>
        </p:nvSpPr>
        <p:spPr>
          <a:xfrm rot="5400000">
            <a:off x="6288790" y="418547"/>
            <a:ext cx="282633" cy="348854"/>
          </a:xfrm>
          <a:prstGeom prst="upArrow">
            <a:avLst/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Up Arrow 90"/>
          <p:cNvSpPr/>
          <p:nvPr/>
        </p:nvSpPr>
        <p:spPr>
          <a:xfrm rot="5400000">
            <a:off x="7793111" y="411501"/>
            <a:ext cx="282633" cy="348854"/>
          </a:xfrm>
          <a:prstGeom prst="upArrow">
            <a:avLst/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Up Arrow 91"/>
          <p:cNvSpPr/>
          <p:nvPr/>
        </p:nvSpPr>
        <p:spPr>
          <a:xfrm>
            <a:off x="6235833" y="1042484"/>
            <a:ext cx="282633" cy="290377"/>
          </a:xfrm>
          <a:prstGeom prst="upArrow">
            <a:avLst/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386DCD-524C-4D6B-849A-07B12901B9AD}" type="slidenum">
              <a:rPr lang="zh-CN" altLang="en-US" smtClean="0"/>
              <a:pPr/>
              <a:t>3</a:t>
            </a:fld>
            <a:endParaRPr lang="en-US" altLang="zh-CN"/>
          </a:p>
        </p:txBody>
      </p:sp>
      <p:sp>
        <p:nvSpPr>
          <p:cNvPr id="5" name="Rectangle 4"/>
          <p:cNvSpPr/>
          <p:nvPr/>
        </p:nvSpPr>
        <p:spPr>
          <a:xfrm>
            <a:off x="140680" y="73611"/>
            <a:ext cx="34916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chemeClr val="lt1"/>
              </a:buClr>
              <a:buSzPts val="1200"/>
            </a:pPr>
            <a:r>
              <a:rPr lang="en-US" sz="2000" b="1" dirty="0" smtClean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Platform - Infrastructure</a:t>
            </a:r>
            <a:endParaRPr lang="en-US" sz="2000"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08108" y="1313320"/>
            <a:ext cx="839585" cy="111390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Fii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2016602" y="3265915"/>
            <a:ext cx="839585" cy="1113905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CBD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839355" y="1237019"/>
            <a:ext cx="29033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Fii </a:t>
            </a:r>
            <a:r>
              <a:rPr lang="en-US" altLang="zh-CN" dirty="0" smtClean="0">
                <a:solidFill>
                  <a:schemeClr val="bg1"/>
                </a:solidFill>
              </a:rPr>
              <a:t>Web Server: </a:t>
            </a:r>
          </a:p>
          <a:p>
            <a:r>
              <a:rPr lang="zh-CN" altLang="en-US" dirty="0" smtClean="0">
                <a:solidFill>
                  <a:schemeClr val="bg1"/>
                </a:solidFill>
              </a:rPr>
              <a:t>统一登录，权限管控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负</a:t>
            </a:r>
            <a:r>
              <a:rPr lang="zh-CN" altLang="en-US" dirty="0" smtClean="0">
                <a:solidFill>
                  <a:schemeClr val="bg1"/>
                </a:solidFill>
              </a:rPr>
              <a:t>责连接各</a:t>
            </a:r>
            <a:r>
              <a:rPr lang="en-US" altLang="zh-CN" dirty="0" smtClean="0">
                <a:solidFill>
                  <a:schemeClr val="bg1"/>
                </a:solidFill>
              </a:rPr>
              <a:t>BU</a:t>
            </a:r>
            <a:r>
              <a:rPr lang="zh-CN" altLang="en-US" dirty="0" smtClean="0">
                <a:solidFill>
                  <a:schemeClr val="bg1"/>
                </a:solidFill>
              </a:rPr>
              <a:t>的</a:t>
            </a:r>
            <a:r>
              <a:rPr lang="en-US" altLang="zh-CN" dirty="0" smtClean="0">
                <a:solidFill>
                  <a:schemeClr val="bg1"/>
                </a:solidFill>
              </a:rPr>
              <a:t>DB</a:t>
            </a:r>
            <a:r>
              <a:rPr lang="zh-CN" altLang="en-US" dirty="0" smtClean="0">
                <a:solidFill>
                  <a:schemeClr val="bg1"/>
                </a:solidFill>
              </a:rPr>
              <a:t>数据库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應用開發與展開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08587" y="3275492"/>
            <a:ext cx="839585" cy="1113905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JBD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4000572" y="3285069"/>
            <a:ext cx="839585" cy="1113905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MBD</a:t>
            </a:r>
            <a:endParaRPr lang="en-US" dirty="0"/>
          </a:p>
        </p:txBody>
      </p:sp>
      <p:sp>
        <p:nvSpPr>
          <p:cNvPr id="20" name="Right Brace 19"/>
          <p:cNvSpPr/>
          <p:nvPr/>
        </p:nvSpPr>
        <p:spPr>
          <a:xfrm rot="5400000">
            <a:off x="3280187" y="3625480"/>
            <a:ext cx="288068" cy="197843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6" idx="2"/>
            <a:endCxn id="8" idx="0"/>
          </p:cNvCxnSpPr>
          <p:nvPr/>
        </p:nvCxnSpPr>
        <p:spPr>
          <a:xfrm flipH="1">
            <a:off x="2436395" y="2427225"/>
            <a:ext cx="991506" cy="83869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2"/>
            <a:endCxn id="18" idx="0"/>
          </p:cNvCxnSpPr>
          <p:nvPr/>
        </p:nvCxnSpPr>
        <p:spPr>
          <a:xfrm>
            <a:off x="3427901" y="2427225"/>
            <a:ext cx="479" cy="848267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" idx="2"/>
            <a:endCxn id="19" idx="0"/>
          </p:cNvCxnSpPr>
          <p:nvPr/>
        </p:nvCxnSpPr>
        <p:spPr>
          <a:xfrm>
            <a:off x="3427901" y="2427225"/>
            <a:ext cx="992464" cy="857844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79429" y="483041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BU IOT Server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839355" y="2423741"/>
            <a:ext cx="3890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BU IOT Server:</a:t>
            </a:r>
            <a:r>
              <a:rPr lang="zh-CN" altLang="en-US" dirty="0" smtClean="0">
                <a:solidFill>
                  <a:schemeClr val="bg1"/>
                </a:solidFill>
              </a:rPr>
              <a:t>專門資料儲存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按照數據表</a:t>
            </a:r>
            <a:r>
              <a:rPr lang="en-US" altLang="zh-CN" dirty="0">
                <a:solidFill>
                  <a:schemeClr val="bg1"/>
                </a:solidFill>
              </a:rPr>
              <a:t>Schema</a:t>
            </a:r>
            <a:r>
              <a:rPr lang="zh-CN" altLang="en-US" dirty="0">
                <a:solidFill>
                  <a:schemeClr val="bg1"/>
                </a:solidFill>
              </a:rPr>
              <a:t>建立對應數據表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開通訪問權限給</a:t>
            </a:r>
            <a:r>
              <a:rPr lang="en-US" altLang="zh-CN" dirty="0">
                <a:solidFill>
                  <a:schemeClr val="bg1"/>
                </a:solidFill>
              </a:rPr>
              <a:t>Fii</a:t>
            </a:r>
            <a:r>
              <a:rPr lang="zh-CN" altLang="en-US" dirty="0">
                <a:solidFill>
                  <a:schemeClr val="bg1"/>
                </a:solidFill>
              </a:rPr>
              <a:t>系統登錄呈現資料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0680" y="473721"/>
            <a:ext cx="1000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各單</a:t>
            </a:r>
            <a:r>
              <a:rPr lang="zh-CN" altLang="en-US" dirty="0" smtClean="0">
                <a:solidFill>
                  <a:schemeClr val="bg1"/>
                </a:solidFill>
              </a:rPr>
              <a:t>位有自己抓取資料平台以及相應的</a:t>
            </a:r>
            <a:r>
              <a:rPr lang="en-US" altLang="zh-CN" dirty="0" smtClean="0">
                <a:solidFill>
                  <a:schemeClr val="bg1"/>
                </a:solidFill>
              </a:rPr>
              <a:t>APP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35535" y="3509512"/>
            <a:ext cx="6267796" cy="2895044"/>
          </a:xfrm>
          <a:prstGeom prst="rect">
            <a:avLst/>
          </a:prstGeom>
          <a:solidFill>
            <a:schemeClr val="accent1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926266" y="3541165"/>
            <a:ext cx="500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CBD Ring/Apollo Infrastructure (For Reference)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0352" y="4025119"/>
            <a:ext cx="709033" cy="79409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9183" y="5371723"/>
            <a:ext cx="850674" cy="72357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6193" y="5371723"/>
            <a:ext cx="850674" cy="72357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3203" y="5371723"/>
            <a:ext cx="850674" cy="723570"/>
          </a:xfrm>
          <a:prstGeom prst="rect">
            <a:avLst/>
          </a:prstGeom>
        </p:spPr>
      </p:pic>
      <p:cxnSp>
        <p:nvCxnSpPr>
          <p:cNvPr id="38" name="Straight Connector 37"/>
          <p:cNvCxnSpPr/>
          <p:nvPr/>
        </p:nvCxnSpPr>
        <p:spPr>
          <a:xfrm>
            <a:off x="6089715" y="5024485"/>
            <a:ext cx="5627803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0" name="Picture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569" y="3875960"/>
            <a:ext cx="1036982" cy="1036982"/>
          </a:xfrm>
          <a:prstGeom prst="rect">
            <a:avLst/>
          </a:prstGeom>
        </p:spPr>
      </p:pic>
      <p:cxnSp>
        <p:nvCxnSpPr>
          <p:cNvPr id="42" name="Straight Arrow Connector 41"/>
          <p:cNvCxnSpPr>
            <a:stCxn id="34" idx="0"/>
          </p:cNvCxnSpPr>
          <p:nvPr/>
        </p:nvCxnSpPr>
        <p:spPr>
          <a:xfrm flipV="1">
            <a:off x="7964520" y="5024485"/>
            <a:ext cx="0" cy="3472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9091506" y="5024485"/>
            <a:ext cx="0" cy="3472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10218492" y="5024485"/>
            <a:ext cx="0" cy="3472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7659121" y="4661851"/>
            <a:ext cx="0" cy="3472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6594868" y="4661851"/>
            <a:ext cx="0" cy="3472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7" name="Equal 46"/>
          <p:cNvSpPr/>
          <p:nvPr/>
        </p:nvSpPr>
        <p:spPr>
          <a:xfrm>
            <a:off x="5544640" y="4175310"/>
            <a:ext cx="552687" cy="584362"/>
          </a:xfrm>
          <a:prstGeom prst="mathEqual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248700" y="4749040"/>
            <a:ext cx="15424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solidFill>
                  <a:schemeClr val="bg1"/>
                </a:solidFill>
              </a:rPr>
              <a:t>IT Isolation Network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912989" y="4378154"/>
            <a:ext cx="1136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chemeClr val="bg1"/>
                </a:solidFill>
              </a:rPr>
              <a:t>Data Collection Server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612827" y="4588385"/>
            <a:ext cx="895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chemeClr val="bg1"/>
                </a:solidFill>
              </a:rPr>
              <a:t>Database Server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57000" y="6136137"/>
            <a:ext cx="12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solidFill>
                  <a:schemeClr val="bg1"/>
                </a:solidFill>
              </a:rPr>
              <a:t>Online Machine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138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386DCD-524C-4D6B-849A-07B12901B9AD}" type="slidenum">
              <a:rPr lang="zh-CN" altLang="en-US" smtClean="0"/>
              <a:pPr/>
              <a:t>4</a:t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140680" y="73611"/>
            <a:ext cx="4392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chemeClr val="lt1"/>
              </a:buClr>
              <a:buSzPts val="1200"/>
            </a:pPr>
            <a:r>
              <a:rPr lang="en-US" sz="2000" b="1" dirty="0" smtClean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Applications Deploying Plan</a:t>
            </a:r>
            <a:endParaRPr lang="en-US" sz="2000"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156" y="3737080"/>
            <a:ext cx="2967063" cy="15012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056" y="2190526"/>
            <a:ext cx="2989261" cy="14892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/>
          <p:cNvPicPr>
            <a:picLocks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6925" y="5280183"/>
            <a:ext cx="1021274" cy="13305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/>
          <p:cNvPicPr>
            <a:picLocks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6077" y="5274238"/>
            <a:ext cx="833796" cy="13305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/>
          <p:cNvPicPr>
            <a:picLocks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0700" y="5274239"/>
            <a:ext cx="988325" cy="13305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367" y="5280183"/>
            <a:ext cx="2952839" cy="14864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25" name="Straight Arrow Connector 24"/>
          <p:cNvCxnSpPr/>
          <p:nvPr/>
        </p:nvCxnSpPr>
        <p:spPr>
          <a:xfrm>
            <a:off x="967802" y="914456"/>
            <a:ext cx="104240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695605" y="512023"/>
            <a:ext cx="1334738" cy="7466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Phase 1</a:t>
            </a:r>
          </a:p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(Data Collection)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106938" y="518850"/>
            <a:ext cx="1334738" cy="7466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Phase 2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(Data </a:t>
            </a:r>
            <a:r>
              <a:rPr lang="en-US" sz="1100" b="1" dirty="0" smtClean="0">
                <a:solidFill>
                  <a:schemeClr val="tx1"/>
                </a:solidFill>
              </a:rPr>
              <a:t>Analyze)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3158" y="1340740"/>
            <a:ext cx="33753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 smtClean="0">
                <a:solidFill>
                  <a:schemeClr val="bg1"/>
                </a:solidFill>
              </a:rPr>
              <a:t>Machine Real-Time Monitoring</a:t>
            </a:r>
          </a:p>
          <a:p>
            <a:pPr marL="342900" indent="-342900">
              <a:buAutoNum type="arabicPeriod"/>
            </a:pPr>
            <a:r>
              <a:rPr lang="en-US" sz="1400" dirty="0" smtClean="0">
                <a:solidFill>
                  <a:schemeClr val="bg1"/>
                </a:solidFill>
              </a:rPr>
              <a:t>Machine KPI Management </a:t>
            </a:r>
          </a:p>
          <a:p>
            <a:pPr marL="342900" indent="-342900">
              <a:buAutoNum type="arabicPeriod"/>
            </a:pPr>
            <a:r>
              <a:rPr lang="en-US" sz="1400" dirty="0" smtClean="0">
                <a:solidFill>
                  <a:schemeClr val="bg1"/>
                </a:solidFill>
              </a:rPr>
              <a:t>AVI Machine Monitoring (Optional)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7988" y="1349345"/>
            <a:ext cx="2469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 smtClean="0">
                <a:solidFill>
                  <a:schemeClr val="bg1"/>
                </a:solidFill>
              </a:rPr>
              <a:t>PHM</a:t>
            </a:r>
          </a:p>
          <a:p>
            <a:pPr marL="342900" indent="-342900">
              <a:buAutoNum type="arabicPeriod"/>
            </a:pPr>
            <a:r>
              <a:rPr lang="en-US" altLang="zh-CN" sz="1400" dirty="0" smtClean="0">
                <a:solidFill>
                  <a:schemeClr val="bg1"/>
                </a:solidFill>
              </a:rPr>
              <a:t>LLM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sz="1400" dirty="0" smtClean="0">
                <a:solidFill>
                  <a:schemeClr val="bg1"/>
                </a:solidFill>
              </a:rPr>
              <a:t>Auto Call Repair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412358" y="516626"/>
            <a:ext cx="1334738" cy="7466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Phase 3</a:t>
            </a:r>
          </a:p>
          <a:p>
            <a:pPr algn="ctr"/>
            <a:r>
              <a:rPr lang="en-US" sz="1200" b="1" dirty="0" smtClean="0">
                <a:solidFill>
                  <a:schemeClr val="tx1"/>
                </a:solidFill>
              </a:rPr>
              <a:t>(Machine Management)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99710" y="1346427"/>
            <a:ext cx="32616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 smtClean="0">
                <a:solidFill>
                  <a:schemeClr val="bg1"/>
                </a:solidFill>
              </a:rPr>
              <a:t>Assess/Consume Management</a:t>
            </a:r>
          </a:p>
          <a:p>
            <a:pPr marL="342900" indent="-342900">
              <a:buAutoNum type="arabicPeriod"/>
            </a:pPr>
            <a:r>
              <a:rPr lang="en-US" sz="1400" dirty="0" smtClean="0">
                <a:solidFill>
                  <a:schemeClr val="bg1"/>
                </a:solidFill>
              </a:rPr>
              <a:t>Maintenance Schedule</a:t>
            </a:r>
          </a:p>
          <a:p>
            <a:pPr marL="342900" indent="-342900">
              <a:buAutoNum type="arabicPeriod"/>
            </a:pPr>
            <a:r>
              <a:rPr lang="en-US" sz="1400" dirty="0" smtClean="0">
                <a:solidFill>
                  <a:schemeClr val="bg1"/>
                </a:solidFill>
              </a:rPr>
              <a:t>Machine FAI Quality Control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0700" y="3762324"/>
            <a:ext cx="2857499" cy="13781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0700" y="2210024"/>
            <a:ext cx="2875422" cy="14560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4403" y="2164858"/>
            <a:ext cx="3142890" cy="15802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4403" y="3783949"/>
            <a:ext cx="3142890" cy="15326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2616" y="5234339"/>
            <a:ext cx="3124678" cy="15076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63282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663002" y="850956"/>
            <a:ext cx="1106808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386DCD-524C-4D6B-849A-07B12901B9AD}" type="slidenum">
              <a:rPr lang="zh-CN" altLang="en-US" smtClean="0"/>
              <a:pPr/>
              <a:t>5</a:t>
            </a:fld>
            <a:endParaRPr lang="en-US" altLang="zh-CN"/>
          </a:p>
        </p:txBody>
      </p:sp>
      <p:sp>
        <p:nvSpPr>
          <p:cNvPr id="3" name="Rounded Rectangle 2"/>
          <p:cNvSpPr/>
          <p:nvPr/>
        </p:nvSpPr>
        <p:spPr>
          <a:xfrm>
            <a:off x="1390805" y="448523"/>
            <a:ext cx="1334738" cy="7466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CBD Ring/Apollo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97405" y="442173"/>
            <a:ext cx="1334738" cy="7466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CBD Solo/</a:t>
            </a:r>
            <a:r>
              <a:rPr lang="en-US" sz="1200" dirty="0" err="1" smtClean="0">
                <a:solidFill>
                  <a:schemeClr val="tx1"/>
                </a:solidFill>
              </a:rPr>
              <a:t>Vantiva</a:t>
            </a:r>
            <a:r>
              <a:rPr lang="en-US" sz="1200" dirty="0" smtClean="0">
                <a:solidFill>
                  <a:schemeClr val="tx1"/>
                </a:solidFill>
              </a:rPr>
              <a:t>/</a:t>
            </a:r>
            <a:r>
              <a:rPr lang="en-US" sz="1200" dirty="0" err="1" smtClean="0">
                <a:solidFill>
                  <a:schemeClr val="tx1"/>
                </a:solidFill>
              </a:rPr>
              <a:t>LandysG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04005" y="448523"/>
            <a:ext cx="1334738" cy="7466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JBD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10605" y="448523"/>
            <a:ext cx="1334738" cy="7466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MBD</a:t>
            </a:r>
            <a:r>
              <a:rPr lang="en-US" altLang="zh-CN" sz="1200" dirty="0" smtClean="0">
                <a:solidFill>
                  <a:schemeClr val="tx1"/>
                </a:solidFill>
              </a:rPr>
              <a:t>I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00000" y="1289829"/>
          <a:ext cx="11664955" cy="55234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644">
                  <a:extLst>
                    <a:ext uri="{9D8B030D-6E8A-4147-A177-3AD203B41FA5}">
                      <a16:colId xmlns:a16="http://schemas.microsoft.com/office/drawing/2014/main" val="3053530244"/>
                    </a:ext>
                  </a:extLst>
                </a:gridCol>
                <a:gridCol w="1637607">
                  <a:extLst>
                    <a:ext uri="{9D8B030D-6E8A-4147-A177-3AD203B41FA5}">
                      <a16:colId xmlns:a16="http://schemas.microsoft.com/office/drawing/2014/main" val="1842935473"/>
                    </a:ext>
                  </a:extLst>
                </a:gridCol>
                <a:gridCol w="3734217">
                  <a:extLst>
                    <a:ext uri="{9D8B030D-6E8A-4147-A177-3AD203B41FA5}">
                      <a16:colId xmlns:a16="http://schemas.microsoft.com/office/drawing/2014/main" val="2408420427"/>
                    </a:ext>
                  </a:extLst>
                </a:gridCol>
                <a:gridCol w="929218">
                  <a:extLst>
                    <a:ext uri="{9D8B030D-6E8A-4147-A177-3AD203B41FA5}">
                      <a16:colId xmlns:a16="http://schemas.microsoft.com/office/drawing/2014/main" val="4083051950"/>
                    </a:ext>
                  </a:extLst>
                </a:gridCol>
                <a:gridCol w="881149">
                  <a:extLst>
                    <a:ext uri="{9D8B030D-6E8A-4147-A177-3AD203B41FA5}">
                      <a16:colId xmlns:a16="http://schemas.microsoft.com/office/drawing/2014/main" val="1061983462"/>
                    </a:ext>
                  </a:extLst>
                </a:gridCol>
                <a:gridCol w="856856">
                  <a:extLst>
                    <a:ext uri="{9D8B030D-6E8A-4147-A177-3AD203B41FA5}">
                      <a16:colId xmlns:a16="http://schemas.microsoft.com/office/drawing/2014/main" val="2430960971"/>
                    </a:ext>
                  </a:extLst>
                </a:gridCol>
                <a:gridCol w="811066">
                  <a:extLst>
                    <a:ext uri="{9D8B030D-6E8A-4147-A177-3AD203B41FA5}">
                      <a16:colId xmlns:a16="http://schemas.microsoft.com/office/drawing/2014/main" val="2682853921"/>
                    </a:ext>
                  </a:extLst>
                </a:gridCol>
                <a:gridCol w="811066">
                  <a:extLst>
                    <a:ext uri="{9D8B030D-6E8A-4147-A177-3AD203B41FA5}">
                      <a16:colId xmlns:a16="http://schemas.microsoft.com/office/drawing/2014/main" val="26804002"/>
                    </a:ext>
                  </a:extLst>
                </a:gridCol>
                <a:gridCol w="811066">
                  <a:extLst>
                    <a:ext uri="{9D8B030D-6E8A-4147-A177-3AD203B41FA5}">
                      <a16:colId xmlns:a16="http://schemas.microsoft.com/office/drawing/2014/main" val="1199717683"/>
                    </a:ext>
                  </a:extLst>
                </a:gridCol>
                <a:gridCol w="811066">
                  <a:extLst>
                    <a:ext uri="{9D8B030D-6E8A-4147-A177-3AD203B41FA5}">
                      <a16:colId xmlns:a16="http://schemas.microsoft.com/office/drawing/2014/main" val="406884514"/>
                    </a:ext>
                  </a:extLst>
                </a:gridCol>
              </a:tblGrid>
              <a:tr h="246307">
                <a:tc rowSpan="4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BU/CFT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CBD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JBD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MBDI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MBDII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800917"/>
                  </a:ext>
                </a:extLst>
              </a:tr>
              <a:tr h="246307"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Ring/Apollo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Solo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Vantiva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LandysG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60707"/>
                  </a:ext>
                </a:extLst>
              </a:tr>
              <a:tr h="403048"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 Head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Michael</a:t>
                      </a:r>
                      <a:r>
                        <a:rPr lang="en-US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Wang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Adolph </a:t>
                      </a:r>
                      <a:r>
                        <a:rPr lang="en-US" sz="105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Siao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Ian Chen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Mike Gao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David Yin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DaiXin</a:t>
                      </a:r>
                      <a:r>
                        <a:rPr lang="en-US" altLang="zh-CN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Gao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DaiXin</a:t>
                      </a:r>
                      <a:r>
                        <a:rPr lang="en-US" altLang="zh-CN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Gao</a:t>
                      </a:r>
                      <a:endParaRPr lang="en-US" sz="105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905417"/>
                  </a:ext>
                </a:extLst>
              </a:tr>
              <a:tr h="260303"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 Owner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Bella/Young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阮才康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571621"/>
                  </a:ext>
                </a:extLst>
              </a:tr>
              <a:tr h="26030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Hardware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 Server &amp; </a:t>
                      </a:r>
                      <a:r>
                        <a:rPr lang="en-US" altLang="zh-CN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Collect Data Server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lang="en-US" sz="10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761203"/>
                  </a:ext>
                </a:extLst>
              </a:tr>
              <a:tr h="26030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 Connectivity </a:t>
                      </a:r>
                      <a:r>
                        <a:rPr lang="zh-CN" alt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 connection</a:t>
                      </a:r>
                      <a:r>
                        <a:rPr lang="zh-CN" alt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490530"/>
                  </a:ext>
                </a:extLst>
              </a:tr>
              <a:tr h="26030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</a:t>
                      </a:r>
                      <a:r>
                        <a:rPr lang="en-US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setup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887271"/>
                  </a:ext>
                </a:extLst>
              </a:tr>
              <a:tr h="26030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r>
                        <a:rPr lang="en-US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Collection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Cut-in </a:t>
                      </a:r>
                      <a:r>
                        <a:rPr lang="en-US" altLang="zh-CN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165147"/>
                  </a:ext>
                </a:extLst>
              </a:tr>
              <a:tr h="40304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 by machine list (Status,</a:t>
                      </a:r>
                      <a:r>
                        <a:rPr lang="en-US" altLang="zh-CN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Availability Rate, Error by Time…)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557562"/>
                  </a:ext>
                </a:extLst>
              </a:tr>
              <a:tr h="26030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 error list definition list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769990"/>
                  </a:ext>
                </a:extLst>
              </a:tr>
              <a:tr h="26030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Collect data develop plan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170865"/>
                  </a:ext>
                </a:extLst>
              </a:tr>
              <a:tr h="26030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Deploying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 Web</a:t>
                      </a:r>
                      <a:r>
                        <a:rPr lang="zh-CN" altLang="en-US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 Fii Server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6223"/>
                  </a:ext>
                </a:extLst>
              </a:tr>
              <a:tr h="26030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r>
                        <a:rPr lang="en-US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storage at BU Server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932749"/>
                  </a:ext>
                </a:extLst>
              </a:tr>
              <a:tr h="26030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 program at Local PC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814953"/>
                  </a:ext>
                </a:extLst>
              </a:tr>
              <a:tr h="260303"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  <a:endParaRPr lang="en-US" sz="105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Maintenance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 Backup Plan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965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5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Control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653457"/>
                  </a:ext>
                </a:extLst>
              </a:tr>
              <a:tr h="221825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  <a:endParaRPr lang="en-US" sz="105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256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5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 Operation</a:t>
                      </a:r>
                      <a:r>
                        <a:rPr lang="en-US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Monitoring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523532"/>
                  </a:ext>
                </a:extLst>
              </a:tr>
              <a:tr h="24630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</a:t>
                      </a:r>
                      <a:endParaRPr lang="en-US" sz="105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089606"/>
                  </a:ext>
                </a:extLst>
              </a:tr>
              <a:tr h="358264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</a:t>
                      </a:r>
                      <a:endParaRPr lang="en-US" sz="105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Collecting Monitoring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6797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5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05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Upgrade Terminal Data Program for</a:t>
                      </a:r>
                      <a:r>
                        <a:rPr lang="en-US" sz="105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new type of data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196001"/>
                  </a:ext>
                </a:extLst>
              </a:tr>
              <a:tr h="28184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endParaRPr lang="en-US" sz="105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2201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415038" y="442173"/>
            <a:ext cx="1334738" cy="7466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MBDI</a:t>
            </a:r>
            <a:r>
              <a:rPr lang="en-US" altLang="zh-CN" sz="1200" dirty="0" smtClean="0">
                <a:solidFill>
                  <a:schemeClr val="tx1"/>
                </a:solidFill>
              </a:rPr>
              <a:t>I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0680" y="73611"/>
            <a:ext cx="29674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chemeClr val="lt1"/>
              </a:buClr>
              <a:buSzPts val="1200"/>
            </a:pPr>
            <a:r>
              <a:rPr lang="en-US" sz="2000" b="1" dirty="0" smtClean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Platform Cut-in Plan</a:t>
            </a:r>
            <a:endParaRPr lang="en-US" sz="2000"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801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431</Words>
  <Application>Microsoft Office PowerPoint</Application>
  <PresentationFormat>Widescreen</PresentationFormat>
  <Paragraphs>157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等线</vt:lpstr>
      <vt:lpstr>Google Sans</vt:lpstr>
      <vt:lpstr>Microsoft JhengHei</vt:lpstr>
      <vt:lpstr>微软雅黑</vt:lpstr>
      <vt:lpstr>新細明體</vt:lpstr>
      <vt:lpstr>思源黑体 CN Regular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何越福</dc:creator>
  <cp:lastModifiedBy>阮玉康</cp:lastModifiedBy>
  <cp:revision>4</cp:revision>
  <dcterms:created xsi:type="dcterms:W3CDTF">2024-05-22T00:55:31Z</dcterms:created>
  <dcterms:modified xsi:type="dcterms:W3CDTF">2024-05-24T09:01:47Z</dcterms:modified>
</cp:coreProperties>
</file>