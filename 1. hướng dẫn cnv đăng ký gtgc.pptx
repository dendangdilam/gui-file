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4" r:id="rId3"/>
    <p:sldId id="260" r:id="rId4"/>
    <p:sldId id="258" r:id="rId5"/>
    <p:sldId id="262" r:id="rId6"/>
    <p:sldId id="263" r:id="rId7"/>
    <p:sldId id="265" r:id="rId8"/>
    <p:sldId id="261" r:id="rId9"/>
    <p:sldId id="266"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233" autoAdjust="0"/>
  </p:normalViewPr>
  <p:slideViewPr>
    <p:cSldViewPr snapToGrid="0">
      <p:cViewPr varScale="1">
        <p:scale>
          <a:sx n="109" d="100"/>
          <a:sy n="109" d="100"/>
        </p:scale>
        <p:origin x="6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1076199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idx="1"/>
          </p:nvPr>
        </p:nvSpPr>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1437241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4229018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2992516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3215492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136236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3770179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2558612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3442755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3079839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3065720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pic>
        <p:nvPicPr>
          <p:cNvPr id="7"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92116"/>
            <a:ext cx="1041400" cy="579071"/>
          </a:xfrm>
          <a:prstGeom prst="rect">
            <a:avLst/>
          </a:prstGeom>
        </p:spPr>
      </p:pic>
      <p:sp>
        <p:nvSpPr>
          <p:cNvPr id="47" name="灯片编号占位符 3"/>
          <p:cNvSpPr txBox="1"/>
          <p:nvPr userDrawn="1"/>
        </p:nvSpPr>
        <p:spPr>
          <a:xfrm>
            <a:off x="11358161" y="6579854"/>
            <a:ext cx="740300" cy="365125"/>
          </a:xfrm>
          <a:prstGeom prst="rect">
            <a:avLst/>
          </a:prstGeom>
        </p:spPr>
        <p:txBody>
          <a:bodyPr/>
          <a:lstStyle>
            <a:defPPr>
              <a:defRPr lang="zh-CN"/>
            </a:defPPr>
            <a:lvl1pPr marL="0" algn="r" defTabSz="914400" rtl="0" eaLnBrk="1" latinLnBrk="0" hangingPunct="1">
              <a:defRPr sz="1200" kern="1200">
                <a:solidFill>
                  <a:schemeClr val="tx1"/>
                </a:solidFill>
                <a:latin typeface="思源黑体 CN Regular" panose="020B0500000000000000" pitchFamily="34" charset="-122"/>
                <a:ea typeface="思源黑体 CN Regular" panose="020B0500000000000000"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5386DCD-524C-4D6B-849A-07B12901B9AD}" type="slidenum">
              <a:rPr lang="zh-CN" altLang="en-US" smtClean="0">
                <a:solidFill>
                  <a:schemeClr val="bg1"/>
                </a:solidFill>
              </a:rPr>
              <a:t>‹#›</a:t>
            </a:fld>
            <a:r>
              <a:rPr lang="en-US" altLang="zh-CN">
                <a:solidFill>
                  <a:schemeClr val="bg1"/>
                </a:solidFill>
              </a:rPr>
              <a:t>/</a:t>
            </a:r>
            <a:r>
              <a:rPr lang="vi-VN" altLang="zh-CN">
                <a:solidFill>
                  <a:schemeClr val="bg1"/>
                </a:solidFill>
              </a:rPr>
              <a:t>44</a:t>
            </a:r>
            <a:endParaRPr lang="en-US" altLang="zh-CN">
              <a:solidFill>
                <a:schemeClr val="bg1"/>
              </a:solidFill>
            </a:endParaRPr>
          </a:p>
        </p:txBody>
      </p:sp>
    </p:spTree>
    <p:extLst>
      <p:ext uri="{BB962C8B-B14F-4D97-AF65-F5344CB8AC3E}">
        <p14:creationId xmlns:p14="http://schemas.microsoft.com/office/powerpoint/2010/main" val="3491214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495815-6641-4D42-A388-8FC2A2867C99}" type="datetimeFigureOut">
              <a:rPr lang="zh-TW" altLang="en-US" smtClean="0"/>
              <a:t>2025/2/4</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09789A-F087-4AE1-80CE-D14FE9BB41B0}" type="slidenum">
              <a:rPr lang="zh-TW" altLang="en-US" smtClean="0"/>
              <a:t>‹#›</a:t>
            </a:fld>
            <a:endParaRPr lang="zh-TW" altLang="en-US"/>
          </a:p>
        </p:txBody>
      </p:sp>
    </p:spTree>
    <p:extLst>
      <p:ext uri="{BB962C8B-B14F-4D97-AF65-F5344CB8AC3E}">
        <p14:creationId xmlns:p14="http://schemas.microsoft.com/office/powerpoint/2010/main" val="2341038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0253"/>
            <a:ext cx="12248341" cy="6918253"/>
          </a:xfrm>
          <a:prstGeom prst="rect">
            <a:avLst/>
          </a:prstGeom>
        </p:spPr>
      </p:pic>
      <p:sp>
        <p:nvSpPr>
          <p:cNvPr id="7" name="TextBox 6">
            <a:extLst>
              <a:ext uri="{FF2B5EF4-FFF2-40B4-BE49-F238E27FC236}">
                <a16:creationId xmlns:a16="http://schemas.microsoft.com/office/drawing/2014/main" id="{A4FFB242-D882-13E4-1189-C66AE034F292}"/>
              </a:ext>
            </a:extLst>
          </p:cNvPr>
          <p:cNvSpPr txBox="1"/>
          <p:nvPr/>
        </p:nvSpPr>
        <p:spPr>
          <a:xfrm>
            <a:off x="2351116" y="1729841"/>
            <a:ext cx="7489767" cy="1477328"/>
          </a:xfrm>
          <a:prstGeom prst="rect">
            <a:avLst/>
          </a:prstGeom>
          <a:noFill/>
        </p:spPr>
        <p:txBody>
          <a:bodyPr wrap="square" rtlCol="0">
            <a:spAutoFit/>
          </a:bodyPr>
          <a:lstStyle/>
          <a:p>
            <a:pPr algn="ctr"/>
            <a:r>
              <a:rPr lang="en-US" sz="4500" b="1" dirty="0">
                <a:solidFill>
                  <a:srgbClr val="0000FF"/>
                </a:solidFill>
                <a:latin typeface="Times New Roman" panose="02020603050405020304" pitchFamily="18" charset="0"/>
                <a:cs typeface="Times New Roman" panose="02020603050405020304" pitchFamily="18" charset="0"/>
              </a:rPr>
              <a:t>HƯỚNG DẪN CNV </a:t>
            </a:r>
            <a:r>
              <a:rPr lang="vi-VN" sz="4500" b="1" dirty="0">
                <a:solidFill>
                  <a:srgbClr val="0000FF"/>
                </a:solidFill>
                <a:latin typeface="Times New Roman" panose="02020603050405020304" pitchFamily="18" charset="0"/>
                <a:cs typeface="Times New Roman" panose="02020603050405020304" pitchFamily="18" charset="0"/>
              </a:rPr>
              <a:t>ĐĂNG KÝ GIẢM TRỪ GIA CẢNH</a:t>
            </a:r>
            <a:endParaRPr lang="en-US" sz="45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437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523220"/>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 Thông tin tham gia thuế của các pháp nhân</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31" name="TextBox 30"/>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graphicFrame>
        <p:nvGraphicFramePr>
          <p:cNvPr id="3" name="Table 2">
            <a:extLst>
              <a:ext uri="{FF2B5EF4-FFF2-40B4-BE49-F238E27FC236}">
                <a16:creationId xmlns:a16="http://schemas.microsoft.com/office/drawing/2014/main" id="{3D84B35E-93C7-433B-813E-69D309A0BE75}"/>
              </a:ext>
            </a:extLst>
          </p:cNvPr>
          <p:cNvGraphicFramePr>
            <a:graphicFrameLocks noGrp="1"/>
          </p:cNvGraphicFramePr>
          <p:nvPr>
            <p:extLst>
              <p:ext uri="{D42A27DB-BD31-4B8C-83A1-F6EECF244321}">
                <p14:modId xmlns:p14="http://schemas.microsoft.com/office/powerpoint/2010/main" val="477959400"/>
              </p:ext>
            </p:extLst>
          </p:nvPr>
        </p:nvGraphicFramePr>
        <p:xfrm>
          <a:off x="430823" y="1081453"/>
          <a:ext cx="11412415" cy="5679833"/>
        </p:xfrm>
        <a:graphic>
          <a:graphicData uri="http://schemas.openxmlformats.org/drawingml/2006/table">
            <a:tbl>
              <a:tblPr/>
              <a:tblGrid>
                <a:gridCol w="1155688">
                  <a:extLst>
                    <a:ext uri="{9D8B030D-6E8A-4147-A177-3AD203B41FA5}">
                      <a16:colId xmlns:a16="http://schemas.microsoft.com/office/drawing/2014/main" val="1276056198"/>
                    </a:ext>
                  </a:extLst>
                </a:gridCol>
                <a:gridCol w="2123576">
                  <a:extLst>
                    <a:ext uri="{9D8B030D-6E8A-4147-A177-3AD203B41FA5}">
                      <a16:colId xmlns:a16="http://schemas.microsoft.com/office/drawing/2014/main" val="2080948267"/>
                    </a:ext>
                  </a:extLst>
                </a:gridCol>
                <a:gridCol w="1256811">
                  <a:extLst>
                    <a:ext uri="{9D8B030D-6E8A-4147-A177-3AD203B41FA5}">
                      <a16:colId xmlns:a16="http://schemas.microsoft.com/office/drawing/2014/main" val="3445744562"/>
                    </a:ext>
                  </a:extLst>
                </a:gridCol>
                <a:gridCol w="1719085">
                  <a:extLst>
                    <a:ext uri="{9D8B030D-6E8A-4147-A177-3AD203B41FA5}">
                      <a16:colId xmlns:a16="http://schemas.microsoft.com/office/drawing/2014/main" val="2396290632"/>
                    </a:ext>
                  </a:extLst>
                </a:gridCol>
                <a:gridCol w="1719085">
                  <a:extLst>
                    <a:ext uri="{9D8B030D-6E8A-4147-A177-3AD203B41FA5}">
                      <a16:colId xmlns:a16="http://schemas.microsoft.com/office/drawing/2014/main" val="989733391"/>
                    </a:ext>
                  </a:extLst>
                </a:gridCol>
                <a:gridCol w="1719085">
                  <a:extLst>
                    <a:ext uri="{9D8B030D-6E8A-4147-A177-3AD203B41FA5}">
                      <a16:colId xmlns:a16="http://schemas.microsoft.com/office/drawing/2014/main" val="1413369268"/>
                    </a:ext>
                  </a:extLst>
                </a:gridCol>
                <a:gridCol w="1719085">
                  <a:extLst>
                    <a:ext uri="{9D8B030D-6E8A-4147-A177-3AD203B41FA5}">
                      <a16:colId xmlns:a16="http://schemas.microsoft.com/office/drawing/2014/main" val="470855852"/>
                    </a:ext>
                  </a:extLst>
                </a:gridCol>
              </a:tblGrid>
              <a:tr h="849321">
                <a:tc>
                  <a:txBody>
                    <a:bodyPr/>
                    <a:lstStyle/>
                    <a:p>
                      <a:pPr algn="ctr" rtl="0" fontAlgn="ctr"/>
                      <a:r>
                        <a:rPr lang="en-US" sz="1300" b="1" i="0" u="none" strike="noStrike">
                          <a:solidFill>
                            <a:srgbClr val="000000"/>
                          </a:solidFill>
                          <a:effectLst/>
                          <a:latin typeface="Times New Roman" panose="02020603050405020304" pitchFamily="18" charset="0"/>
                          <a:ea typeface="新細明體" panose="02020500000000000000" pitchFamily="18" charset="-120"/>
                        </a:rPr>
                        <a:t>PHÁP NHÂN</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US" sz="1300" b="1" i="0" u="none" strike="noStrike">
                          <a:solidFill>
                            <a:srgbClr val="000000"/>
                          </a:solidFill>
                          <a:effectLst/>
                          <a:latin typeface="Times New Roman" panose="02020603050405020304" pitchFamily="18" charset="0"/>
                          <a:ea typeface="新細明體" panose="02020500000000000000" pitchFamily="18" charset="-120"/>
                        </a:rPr>
                        <a:t>TÊN CÔNG TY</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US" sz="1300" b="1" i="0" u="none" strike="noStrike">
                          <a:solidFill>
                            <a:srgbClr val="000000"/>
                          </a:solidFill>
                          <a:effectLst/>
                          <a:latin typeface="Times New Roman" panose="02020603050405020304" pitchFamily="18" charset="0"/>
                          <a:ea typeface="新細明體" panose="02020500000000000000" pitchFamily="18" charset="-120"/>
                        </a:rPr>
                        <a:t>MÃ SỐ THU</a:t>
                      </a:r>
                      <a:r>
                        <a:rPr lang="en-US" sz="1300" b="1" i="0" u="none" strike="noStrike">
                          <a:solidFill>
                            <a:srgbClr val="000000"/>
                          </a:solidFill>
                          <a:effectLst/>
                          <a:latin typeface="Arial" panose="020B0604020202020204" pitchFamily="34" charset="0"/>
                          <a:ea typeface="新細明體" panose="02020500000000000000" pitchFamily="18" charset="-120"/>
                        </a:rPr>
                        <a:t>Ế</a:t>
                      </a:r>
                      <a:r>
                        <a:rPr lang="en-US" sz="1300" b="1" i="0" u="none" strike="noStrike">
                          <a:solidFill>
                            <a:srgbClr val="000000"/>
                          </a:solidFill>
                          <a:effectLst/>
                          <a:latin typeface="Times New Roman" panose="02020603050405020304" pitchFamily="18" charset="0"/>
                          <a:ea typeface="新細明體" panose="02020500000000000000" pitchFamily="18" charset="-120"/>
                        </a:rPr>
                        <a:t> CÔNG TY</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US" sz="1300" b="1" i="0" u="none" strike="noStrike">
                          <a:solidFill>
                            <a:srgbClr val="000000"/>
                          </a:solidFill>
                          <a:effectLst/>
                          <a:latin typeface="Times New Roman" panose="02020603050405020304" pitchFamily="18" charset="0"/>
                          <a:ea typeface="新細明體" panose="02020500000000000000" pitchFamily="18" charset="-120"/>
                        </a:rPr>
                        <a:t>ĐỊA CHỈ TRỤ SỞ</a:t>
                      </a:r>
                      <a:br>
                        <a:rPr lang="en-US" sz="1300" b="1" i="0" u="none" strike="noStrike">
                          <a:solidFill>
                            <a:srgbClr val="000000"/>
                          </a:solidFill>
                          <a:effectLst/>
                          <a:latin typeface="Times New Roman" panose="02020603050405020304" pitchFamily="18" charset="0"/>
                          <a:ea typeface="新細明體" panose="02020500000000000000" pitchFamily="18" charset="-120"/>
                        </a:rPr>
                      </a:br>
                      <a:r>
                        <a:rPr lang="en-US" sz="1300" b="1" i="0" u="none" strike="noStrike">
                          <a:solidFill>
                            <a:srgbClr val="000000"/>
                          </a:solidFill>
                          <a:effectLst/>
                          <a:latin typeface="Times New Roman" panose="02020603050405020304" pitchFamily="18" charset="0"/>
                          <a:ea typeface="新細明體" panose="02020500000000000000" pitchFamily="18" charset="-120"/>
                        </a:rPr>
                        <a:t> CHÍNH</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vi-VN" sz="1300" b="1" i="0" u="none" strike="noStrike">
                          <a:solidFill>
                            <a:srgbClr val="000000"/>
                          </a:solidFill>
                          <a:effectLst/>
                          <a:latin typeface="Times New Roman" panose="02020603050405020304" pitchFamily="18" charset="0"/>
                          <a:ea typeface="新細明體" panose="02020500000000000000" pitchFamily="18" charset="-120"/>
                        </a:rPr>
                        <a:t>NGƯỜI ĐẠI DIỆN PHÁP LUẬT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vi-VN" sz="1300" b="1" i="0" u="none" strike="noStrike">
                          <a:solidFill>
                            <a:srgbClr val="000000"/>
                          </a:solidFill>
                          <a:effectLst/>
                          <a:latin typeface="Times New Roman" panose="02020603050405020304" pitchFamily="18" charset="0"/>
                          <a:ea typeface="新細明體" panose="02020500000000000000" pitchFamily="18" charset="-120"/>
                        </a:rPr>
                        <a:t>CHỨC VỤ NGƯỜI ĐẠI DIỆN PHÁP LUẬT</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US" sz="1300" b="1" i="0" u="none" strike="noStrike">
                          <a:solidFill>
                            <a:srgbClr val="000000"/>
                          </a:solidFill>
                          <a:effectLst/>
                          <a:latin typeface="Times New Roman" panose="02020603050405020304" pitchFamily="18" charset="0"/>
                          <a:ea typeface="新細明體" panose="02020500000000000000" pitchFamily="18" charset="-120"/>
                        </a:rPr>
                        <a:t>CƠ QUAN THAM GIA THUẾ</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2548558021"/>
                  </a:ext>
                </a:extLst>
              </a:tr>
              <a:tr h="1207628">
                <a:tc>
                  <a:txBody>
                    <a:bodyPr/>
                    <a:lstStyle/>
                    <a:p>
                      <a:pPr algn="ctr" rtl="0" fontAlgn="ctr"/>
                      <a:r>
                        <a:rPr lang="en-US" sz="1300" b="1" i="0" u="none" strike="noStrike" dirty="0">
                          <a:solidFill>
                            <a:srgbClr val="000000"/>
                          </a:solidFill>
                          <a:effectLst/>
                          <a:latin typeface="Times New Roman" panose="02020603050405020304" pitchFamily="18" charset="0"/>
                          <a:ea typeface="新細明體" panose="02020500000000000000" pitchFamily="18" charset="-120"/>
                        </a:rPr>
                        <a:t>FUNING</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300" b="0" i="0" u="none" strike="noStrike" dirty="0">
                          <a:solidFill>
                            <a:srgbClr val="000000"/>
                          </a:solidFill>
                          <a:effectLst/>
                          <a:latin typeface="Times New Roman" panose="02020603050405020304" pitchFamily="18" charset="0"/>
                          <a:ea typeface="新細明體" panose="02020500000000000000" pitchFamily="18" charset="-120"/>
                        </a:rPr>
                        <a:t>Công ty TNHH Funing Precision Component</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altLang="zh-TW" sz="1300" b="0" i="0" u="none" strike="noStrike">
                          <a:solidFill>
                            <a:srgbClr val="000000"/>
                          </a:solidFill>
                          <a:effectLst/>
                          <a:latin typeface="Times New Roman" panose="02020603050405020304" pitchFamily="18" charset="0"/>
                          <a:ea typeface="新細明體" panose="02020500000000000000" pitchFamily="18" charset="-120"/>
                        </a:rPr>
                        <a:t>2300297891</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300" b="0" i="0" u="none" strike="noStrike">
                          <a:solidFill>
                            <a:srgbClr val="000000"/>
                          </a:solidFill>
                          <a:effectLst/>
                          <a:latin typeface="Times New Roman" panose="02020603050405020304" pitchFamily="18" charset="0"/>
                          <a:ea typeface="新細明體" panose="02020500000000000000" pitchFamily="18" charset="-120"/>
                        </a:rPr>
                        <a:t>Lô B, KCN Quế Võ 1, Phường Nam Sơn, TP Bắc Ninh, Bắc Ninh</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300" b="0" i="0" u="none" strike="noStrike">
                          <a:solidFill>
                            <a:srgbClr val="000000"/>
                          </a:solidFill>
                          <a:effectLst/>
                          <a:latin typeface="Times New Roman" panose="02020603050405020304" pitchFamily="18" charset="0"/>
                          <a:ea typeface="新細明體" panose="02020500000000000000" pitchFamily="18" charset="-120"/>
                        </a:rPr>
                        <a:t>CHANG TZU-YI</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300" b="0" i="0" u="none" strike="noStrike" dirty="0">
                          <a:solidFill>
                            <a:srgbClr val="000000"/>
                          </a:solidFill>
                          <a:effectLst/>
                          <a:latin typeface="Times New Roman" panose="02020603050405020304" pitchFamily="18" charset="0"/>
                          <a:ea typeface="新細明體" panose="02020500000000000000" pitchFamily="18" charset="-120"/>
                        </a:rPr>
                        <a:t>Chủ tịch kiêm Tổng giám đốc</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300" b="0" i="0" u="none" strike="noStrike" dirty="0">
                          <a:solidFill>
                            <a:srgbClr val="000000"/>
                          </a:solidFill>
                          <a:effectLst/>
                          <a:latin typeface="Times New Roman" panose="02020603050405020304" pitchFamily="18" charset="0"/>
                          <a:ea typeface="新細明體" panose="02020500000000000000" pitchFamily="18" charset="-120"/>
                        </a:rPr>
                        <a:t>Cục thuế tỉnh Bắc Ninh</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594561895"/>
                  </a:ext>
                </a:extLst>
              </a:tr>
              <a:tr h="1207628">
                <a:tc>
                  <a:txBody>
                    <a:bodyPr/>
                    <a:lstStyle/>
                    <a:p>
                      <a:pPr algn="ctr" rtl="0" fontAlgn="ctr"/>
                      <a:r>
                        <a:rPr lang="en-US" sz="1300" b="1" i="0" u="none" strike="noStrike" dirty="0">
                          <a:solidFill>
                            <a:srgbClr val="000000"/>
                          </a:solidFill>
                          <a:effectLst/>
                          <a:latin typeface="Times New Roman" panose="02020603050405020304" pitchFamily="18" charset="0"/>
                          <a:ea typeface="新細明體" panose="02020500000000000000" pitchFamily="18" charset="-120"/>
                        </a:rPr>
                        <a:t>FUHONG</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Công ty TNHH Fuhong Precision Component (Bắc Giang)</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新細明體" panose="02020500000000000000" pitchFamily="18" charset="-120"/>
                        </a:rPr>
                        <a:t>2400373024</a:t>
                      </a:r>
                      <a:r>
                        <a:rPr lang="zh-TW" altLang="en-US" sz="1300" b="0" i="0" u="none" strike="noStrike" dirty="0">
                          <a:solidFill>
                            <a:srgbClr val="000000"/>
                          </a:solidFill>
                          <a:effectLst/>
                          <a:latin typeface="Times New Roman" panose="02020603050405020304" pitchFamily="18" charset="0"/>
                          <a:ea typeface="新細明體" panose="02020500000000000000" pitchFamily="18" charset="-120"/>
                        </a:rPr>
                        <a:t>　</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新細明體" panose="02020500000000000000" pitchFamily="18" charset="-120"/>
                        </a:rPr>
                        <a:t>KCN Đình Trám, Phường Nếnh, Thị Xã Việt Yên, Bắc Giang</a:t>
                      </a:r>
                      <a:r>
                        <a:rPr lang="zh-TW" altLang="en-US" sz="1300" b="0" i="0" u="none" strike="noStrike" dirty="0">
                          <a:solidFill>
                            <a:srgbClr val="000000"/>
                          </a:solidFill>
                          <a:effectLst/>
                          <a:latin typeface="Times New Roman" panose="02020603050405020304" pitchFamily="18" charset="0"/>
                          <a:ea typeface="新細明體" panose="02020500000000000000" pitchFamily="18" charset="-120"/>
                        </a:rPr>
                        <a:t>　</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en-US" sz="1300" b="0" i="0" u="none" strike="noStrike">
                          <a:solidFill>
                            <a:srgbClr val="000000"/>
                          </a:solidFill>
                          <a:effectLst/>
                          <a:latin typeface="Times New Roman" panose="02020603050405020304" pitchFamily="18" charset="0"/>
                          <a:ea typeface="新細明體" panose="02020500000000000000" pitchFamily="18" charset="-120"/>
                        </a:rPr>
                        <a:t>CHANG TZU-YI</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Chủ tịch kiêm Tổng giám đốc</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Cục thuế tỉnh Bắc Giang</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extLst>
                  <a:ext uri="{0D108BD9-81ED-4DB2-BD59-A6C34878D82A}">
                    <a16:rowId xmlns:a16="http://schemas.microsoft.com/office/drawing/2014/main" val="3868969479"/>
                  </a:ext>
                </a:extLst>
              </a:tr>
              <a:tr h="1207628">
                <a:tc>
                  <a:txBody>
                    <a:bodyPr/>
                    <a:lstStyle/>
                    <a:p>
                      <a:pPr algn="ctr" rtl="0" fontAlgn="ctr"/>
                      <a:r>
                        <a:rPr lang="en-US" sz="1300" b="1" i="0" u="none" strike="noStrike" dirty="0">
                          <a:solidFill>
                            <a:srgbClr val="000000"/>
                          </a:solidFill>
                          <a:effectLst/>
                          <a:latin typeface="Times New Roman" panose="02020603050405020304" pitchFamily="18" charset="0"/>
                          <a:ea typeface="新細明體" panose="02020500000000000000" pitchFamily="18" charset="-120"/>
                        </a:rPr>
                        <a:t>FUYU</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300" b="0" i="0" u="none" strike="noStrike" dirty="0">
                          <a:solidFill>
                            <a:srgbClr val="000000"/>
                          </a:solidFill>
                          <a:effectLst/>
                          <a:latin typeface="Times New Roman" panose="02020603050405020304" pitchFamily="18" charset="0"/>
                          <a:ea typeface="新細明體" panose="02020500000000000000" pitchFamily="18" charset="-120"/>
                        </a:rPr>
                        <a:t>Công ty TNHH công nghệ chính xác Fuyu</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altLang="zh-TW" sz="1300" b="0" i="0" u="none" strike="noStrike" dirty="0">
                          <a:solidFill>
                            <a:srgbClr val="000000"/>
                          </a:solidFill>
                          <a:effectLst/>
                          <a:latin typeface="Times New Roman" panose="02020603050405020304" pitchFamily="18" charset="0"/>
                          <a:ea typeface="新細明體" panose="02020500000000000000" pitchFamily="18" charset="-120"/>
                        </a:rPr>
                        <a:t>2400879766</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300" b="0" i="0" u="none" strike="noStrike" dirty="0">
                          <a:solidFill>
                            <a:srgbClr val="000000"/>
                          </a:solidFill>
                          <a:effectLst/>
                          <a:latin typeface="Times New Roman" panose="02020603050405020304" pitchFamily="18" charset="0"/>
                          <a:ea typeface="新細明體" panose="02020500000000000000" pitchFamily="18" charset="-120"/>
                        </a:rPr>
                        <a:t>Lô M1&amp;Lô F, KCN Quang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Châu</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Vân</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Trung</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Việt</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Yên</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Bắc</a:t>
                      </a:r>
                      <a:r>
                        <a:rPr lang="en-US" sz="13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300" b="0" i="0" u="none" strike="noStrike" dirty="0" err="1">
                          <a:solidFill>
                            <a:srgbClr val="000000"/>
                          </a:solidFill>
                          <a:effectLst/>
                          <a:latin typeface="Times New Roman" panose="02020603050405020304" pitchFamily="18" charset="0"/>
                          <a:ea typeface="新細明體" panose="02020500000000000000" pitchFamily="18" charset="-120"/>
                        </a:rPr>
                        <a:t>Giang</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300" b="0" i="0" u="none" strike="noStrike" dirty="0">
                          <a:solidFill>
                            <a:srgbClr val="000000"/>
                          </a:solidFill>
                          <a:effectLst/>
                          <a:latin typeface="Times New Roman" panose="02020603050405020304" pitchFamily="18" charset="0"/>
                          <a:ea typeface="新細明體" panose="02020500000000000000" pitchFamily="18" charset="-120"/>
                        </a:rPr>
                        <a:t>CHANG TZU-YI</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Tổng giám đốc</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Cục thuế tỉnh Bắc Giang</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307983839"/>
                  </a:ext>
                </a:extLst>
              </a:tr>
              <a:tr h="1207628">
                <a:tc>
                  <a:txBody>
                    <a:bodyPr/>
                    <a:lstStyle/>
                    <a:p>
                      <a:pPr algn="ctr" rtl="0" fontAlgn="ctr"/>
                      <a:r>
                        <a:rPr lang="en-US" sz="1300" b="1" i="0" u="none" strike="noStrike" dirty="0">
                          <a:solidFill>
                            <a:srgbClr val="000000"/>
                          </a:solidFill>
                          <a:effectLst/>
                          <a:latin typeface="Times New Roman" panose="02020603050405020304" pitchFamily="18" charset="0"/>
                          <a:ea typeface="新細明體" panose="02020500000000000000" pitchFamily="18" charset="-120"/>
                        </a:rPr>
                        <a:t>FUIAN</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sz="1300" b="0" i="0" u="none" strike="noStrike" dirty="0">
                          <a:solidFill>
                            <a:srgbClr val="000000"/>
                          </a:solidFill>
                          <a:effectLst/>
                          <a:latin typeface="Times New Roman" panose="02020603050405020304" pitchFamily="18" charset="0"/>
                          <a:ea typeface="新細明體" panose="02020500000000000000" pitchFamily="18" charset="-120"/>
                        </a:rPr>
                        <a:t>Công ty Precision Technology Component Fulian</a:t>
                      </a:r>
                      <a:endParaRPr lang="en-US" sz="13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en-US" altLang="zh-TW" sz="1300" b="0" i="0" u="none" strike="noStrike" dirty="0">
                          <a:solidFill>
                            <a:srgbClr val="000000"/>
                          </a:solidFill>
                          <a:effectLst/>
                          <a:latin typeface="Times New Roman" panose="02020603050405020304" pitchFamily="18" charset="0"/>
                          <a:ea typeface="新細明體" panose="02020500000000000000" pitchFamily="18" charset="-120"/>
                        </a:rPr>
                        <a:t>2400952127</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en-US" sz="1300" b="0" i="0" u="none" strike="noStrike">
                          <a:solidFill>
                            <a:srgbClr val="000000"/>
                          </a:solidFill>
                          <a:effectLst/>
                          <a:latin typeface="Times New Roman" panose="02020603050405020304" pitchFamily="18" charset="0"/>
                          <a:ea typeface="新細明體" panose="02020500000000000000" pitchFamily="18" charset="-120"/>
                        </a:rPr>
                        <a:t> Lô CN1, KCN Quang Châu, Quang Châu, Việt Yên, Bắc Giang</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en-US" sz="1300" b="0" i="0" u="none" strike="noStrike" dirty="0">
                          <a:solidFill>
                            <a:srgbClr val="000000"/>
                          </a:solidFill>
                          <a:effectLst/>
                          <a:latin typeface="Times New Roman" panose="02020603050405020304" pitchFamily="18" charset="0"/>
                          <a:ea typeface="新細明體" panose="02020500000000000000" pitchFamily="18" charset="-120"/>
                        </a:rPr>
                        <a:t>CHANG TZU-YI</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Chủ tịch kiêm Tổng giám đốc</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altLang="zh-TW" sz="1300" b="0" i="0" u="none" strike="noStrike" dirty="0">
                          <a:solidFill>
                            <a:srgbClr val="000000"/>
                          </a:solidFill>
                          <a:effectLst/>
                          <a:latin typeface="Times New Roman" panose="02020603050405020304" pitchFamily="18" charset="0"/>
                          <a:ea typeface="+mn-ea"/>
                        </a:rPr>
                        <a:t>Cục thuế tỉnh Bắc Giang</a:t>
                      </a:r>
                      <a:endParaRPr lang="en-US" altLang="zh-TW" sz="1300" b="0" i="0" u="none" strike="noStrike" dirty="0">
                        <a:solidFill>
                          <a:srgbClr val="000000"/>
                        </a:solidFill>
                        <a:effectLst/>
                        <a:latin typeface="Times New Roman" panose="02020603050405020304" pitchFamily="18" charset="0"/>
                        <a:ea typeface="+mn-ea"/>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extLst>
                  <a:ext uri="{0D108BD9-81ED-4DB2-BD59-A6C34878D82A}">
                    <a16:rowId xmlns:a16="http://schemas.microsoft.com/office/drawing/2014/main" val="284688589"/>
                  </a:ext>
                </a:extLst>
              </a:tr>
            </a:tbl>
          </a:graphicData>
        </a:graphic>
      </p:graphicFrame>
    </p:spTree>
    <p:extLst>
      <p:ext uri="{BB962C8B-B14F-4D97-AF65-F5344CB8AC3E}">
        <p14:creationId xmlns:p14="http://schemas.microsoft.com/office/powerpoint/2010/main" val="4009376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954107"/>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II</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Các</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loại</a:t>
            </a:r>
            <a:r>
              <a:rPr lang="en-US" altLang="zh-TW" sz="2800" b="1" dirty="0">
                <a:solidFill>
                  <a:srgbClr val="032FEB"/>
                </a:solidFill>
                <a:latin typeface="Times New Roman" panose="02020603050405020304" pitchFamily="18" charset="0"/>
                <a:cs typeface="Times New Roman" panose="02020603050405020304" pitchFamily="18" charset="0"/>
              </a:rPr>
              <a:t> </a:t>
            </a:r>
            <a:r>
              <a:rPr lang="vi-VN" altLang="zh-TW" sz="2800" b="1" dirty="0">
                <a:solidFill>
                  <a:srgbClr val="032FEB"/>
                </a:solidFill>
                <a:latin typeface="Times New Roman" panose="02020603050405020304" pitchFamily="18" charset="0"/>
                <a:cs typeface="Times New Roman" panose="02020603050405020304" pitchFamily="18" charset="0"/>
              </a:rPr>
              <a:t>trường hợp làm hồ sơ GTGC</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thường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gặp</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và</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giấy</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tờ</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kèm</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theo</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17" name="TextBox 16"/>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graphicFrame>
        <p:nvGraphicFramePr>
          <p:cNvPr id="3" name="Table 2">
            <a:extLst>
              <a:ext uri="{FF2B5EF4-FFF2-40B4-BE49-F238E27FC236}">
                <a16:creationId xmlns:a16="http://schemas.microsoft.com/office/drawing/2014/main" id="{E47D2426-D11C-42F1-A077-ABA2A9EBF6B8}"/>
              </a:ext>
            </a:extLst>
          </p:cNvPr>
          <p:cNvGraphicFramePr>
            <a:graphicFrameLocks noGrp="1"/>
          </p:cNvGraphicFramePr>
          <p:nvPr>
            <p:extLst>
              <p:ext uri="{D42A27DB-BD31-4B8C-83A1-F6EECF244321}">
                <p14:modId xmlns:p14="http://schemas.microsoft.com/office/powerpoint/2010/main" val="862498997"/>
              </p:ext>
            </p:extLst>
          </p:nvPr>
        </p:nvGraphicFramePr>
        <p:xfrm>
          <a:off x="434915" y="1209579"/>
          <a:ext cx="11610547" cy="5648418"/>
        </p:xfrm>
        <a:graphic>
          <a:graphicData uri="http://schemas.openxmlformats.org/drawingml/2006/table">
            <a:tbl>
              <a:tblPr/>
              <a:tblGrid>
                <a:gridCol w="639172">
                  <a:extLst>
                    <a:ext uri="{9D8B030D-6E8A-4147-A177-3AD203B41FA5}">
                      <a16:colId xmlns:a16="http://schemas.microsoft.com/office/drawing/2014/main" val="1616041057"/>
                    </a:ext>
                  </a:extLst>
                </a:gridCol>
                <a:gridCol w="1717113">
                  <a:extLst>
                    <a:ext uri="{9D8B030D-6E8A-4147-A177-3AD203B41FA5}">
                      <a16:colId xmlns:a16="http://schemas.microsoft.com/office/drawing/2014/main" val="3287152456"/>
                    </a:ext>
                  </a:extLst>
                </a:gridCol>
                <a:gridCol w="3635977">
                  <a:extLst>
                    <a:ext uri="{9D8B030D-6E8A-4147-A177-3AD203B41FA5}">
                      <a16:colId xmlns:a16="http://schemas.microsoft.com/office/drawing/2014/main" val="1660042957"/>
                    </a:ext>
                  </a:extLst>
                </a:gridCol>
                <a:gridCol w="2479431">
                  <a:extLst>
                    <a:ext uri="{9D8B030D-6E8A-4147-A177-3AD203B41FA5}">
                      <a16:colId xmlns:a16="http://schemas.microsoft.com/office/drawing/2014/main" val="3452879367"/>
                    </a:ext>
                  </a:extLst>
                </a:gridCol>
                <a:gridCol w="3138854">
                  <a:extLst>
                    <a:ext uri="{9D8B030D-6E8A-4147-A177-3AD203B41FA5}">
                      <a16:colId xmlns:a16="http://schemas.microsoft.com/office/drawing/2014/main" val="1650234126"/>
                    </a:ext>
                  </a:extLst>
                </a:gridCol>
              </a:tblGrid>
              <a:tr h="329801">
                <a:tc rowSpan="2">
                  <a:txBody>
                    <a:bodyPr/>
                    <a:lstStyle/>
                    <a:p>
                      <a:pPr algn="ctr" rtl="0" fontAlgn="ctr"/>
                      <a:r>
                        <a:rPr lang="en-US" sz="1200" b="1" i="0" u="none" strike="noStrike">
                          <a:solidFill>
                            <a:srgbClr val="000000"/>
                          </a:solidFill>
                          <a:effectLst/>
                          <a:latin typeface="Times New Roman" panose="02020603050405020304" pitchFamily="18" charset="0"/>
                          <a:ea typeface="新細明體" panose="02020500000000000000" pitchFamily="18" charset="-120"/>
                        </a:rPr>
                        <a:t>STT</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rowSpan="2">
                  <a:txBody>
                    <a:bodyPr/>
                    <a:lstStyle/>
                    <a:p>
                      <a:pPr algn="ctr" rtl="0" fontAlgn="ctr"/>
                      <a:r>
                        <a:rPr lang="vi-VN" sz="1200" b="1" i="0" u="none" strike="noStrike">
                          <a:solidFill>
                            <a:srgbClr val="000000"/>
                          </a:solidFill>
                          <a:effectLst/>
                          <a:latin typeface="Times New Roman" panose="02020603050405020304" pitchFamily="18" charset="0"/>
                          <a:ea typeface="新細明體" panose="02020500000000000000" pitchFamily="18" charset="-120"/>
                        </a:rPr>
                        <a:t>TRƯỜNG HỢP</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gridSpan="2">
                  <a:txBody>
                    <a:bodyPr/>
                    <a:lstStyle/>
                    <a:p>
                      <a:pPr algn="ctr" rtl="0" fontAlgn="ctr"/>
                      <a:r>
                        <a:rPr lang="vi-VN" sz="1200" b="1" i="0" u="none" strike="noStrike" dirty="0">
                          <a:solidFill>
                            <a:srgbClr val="000000"/>
                          </a:solidFill>
                          <a:effectLst/>
                          <a:latin typeface="Times New Roman" panose="02020603050405020304" pitchFamily="18" charset="0"/>
                          <a:ea typeface="新細明體" panose="02020500000000000000" pitchFamily="18" charset="-120"/>
                        </a:rPr>
                        <a:t>HỒ SƠ CẦN CÓ</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hMerge="1">
                  <a:txBody>
                    <a:bodyPr/>
                    <a:lstStyle/>
                    <a:p>
                      <a:endParaRPr lang="zh-TW" altLang="en-US"/>
                    </a:p>
                  </a:txBody>
                  <a:tcPr/>
                </a:tc>
                <a:tc rowSpan="2">
                  <a:txBody>
                    <a:bodyPr/>
                    <a:lstStyle/>
                    <a:p>
                      <a:pPr algn="ctr" rtl="0" fontAlgn="ctr"/>
                      <a:r>
                        <a:rPr lang="en-US" sz="1200" b="1" i="0" u="none" strike="noStrike">
                          <a:solidFill>
                            <a:srgbClr val="000000"/>
                          </a:solidFill>
                          <a:effectLst/>
                          <a:latin typeface="Times New Roman" panose="02020603050405020304" pitchFamily="18" charset="0"/>
                          <a:ea typeface="新細明體" panose="02020500000000000000" pitchFamily="18" charset="-120"/>
                        </a:rPr>
                        <a:t>CHÚ Ý</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3380873157"/>
                  </a:ext>
                </a:extLst>
              </a:tr>
              <a:tr h="329801">
                <a:tc vMerge="1">
                  <a:txBody>
                    <a:bodyPr/>
                    <a:lstStyle/>
                    <a:p>
                      <a:endParaRPr lang="zh-TW" altLang="en-US"/>
                    </a:p>
                  </a:txBody>
                  <a:tcPr/>
                </a:tc>
                <a:tc vMerge="1">
                  <a:txBody>
                    <a:bodyPr/>
                    <a:lstStyle/>
                    <a:p>
                      <a:endParaRPr lang="zh-TW" altLang="en-US"/>
                    </a:p>
                  </a:txBody>
                  <a:tcPr/>
                </a:tc>
                <a:tc>
                  <a:txBody>
                    <a:bodyPr/>
                    <a:lstStyle/>
                    <a:p>
                      <a:pPr algn="ctr" rtl="0" fontAlgn="ctr"/>
                      <a:r>
                        <a:rPr lang="en-US" sz="1200" b="1" i="0" u="none" strike="noStrike">
                          <a:solidFill>
                            <a:srgbClr val="000000"/>
                          </a:solidFill>
                          <a:effectLst/>
                          <a:latin typeface="Times New Roman" panose="02020603050405020304" pitchFamily="18" charset="0"/>
                          <a:ea typeface="新細明體" panose="02020500000000000000" pitchFamily="18" charset="-120"/>
                        </a:rPr>
                        <a:t>Tên biểu mẫu</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vi-VN" sz="1200" b="1" i="0" u="none" strike="noStrike">
                          <a:solidFill>
                            <a:srgbClr val="000000"/>
                          </a:solidFill>
                          <a:effectLst/>
                          <a:latin typeface="Times New Roman" panose="02020603050405020304" pitchFamily="18" charset="0"/>
                          <a:ea typeface="新細明體" panose="02020500000000000000" pitchFamily="18" charset="-120"/>
                        </a:rPr>
                        <a:t>Nơi cấp</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vMerge="1">
                  <a:txBody>
                    <a:bodyPr/>
                    <a:lstStyle/>
                    <a:p>
                      <a:endParaRPr lang="zh-TW" altLang="en-US"/>
                    </a:p>
                  </a:txBody>
                  <a:tcPr/>
                </a:tc>
                <a:extLst>
                  <a:ext uri="{0D108BD9-81ED-4DB2-BD59-A6C34878D82A}">
                    <a16:rowId xmlns:a16="http://schemas.microsoft.com/office/drawing/2014/main" val="3267621304"/>
                  </a:ext>
                </a:extLst>
              </a:tr>
              <a:tr h="477345">
                <a:tc rowSpan="4">
                  <a:txBody>
                    <a:bodyPr/>
                    <a:lstStyle/>
                    <a:p>
                      <a:pPr algn="ctr" rtl="0" fontAlgn="ctr"/>
                      <a:r>
                        <a:rPr lang="en-US" altLang="zh-TW" sz="1200" b="1" i="0" u="none" strike="noStrike">
                          <a:solidFill>
                            <a:srgbClr val="000000"/>
                          </a:solidFill>
                          <a:effectLst/>
                          <a:latin typeface="Times New Roman" panose="02020603050405020304" pitchFamily="18" charset="0"/>
                          <a:ea typeface="新細明體" panose="02020500000000000000" pitchFamily="18" charset="-120"/>
                        </a:rPr>
                        <a:t>1</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rowSpan="4">
                  <a:txBody>
                    <a:bodyPr/>
                    <a:lstStyle/>
                    <a:p>
                      <a:pPr algn="ctr" rtl="0" fontAlgn="ctr"/>
                      <a:r>
                        <a:rPr lang="it-IT" sz="1200" b="1" i="0" u="none" strike="noStrike" dirty="0">
                          <a:solidFill>
                            <a:srgbClr val="000000"/>
                          </a:solidFill>
                          <a:effectLst/>
                          <a:latin typeface="Times New Roman" panose="02020603050405020304" pitchFamily="18" charset="0"/>
                          <a:ea typeface="新細明體" panose="02020500000000000000" pitchFamily="18" charset="-120"/>
                        </a:rPr>
                        <a:t>CON NHỎ DƯỚI 18 TUỔI</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 - 01 Bản đăng ký người phụ thuộc 07DK</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200" b="0" i="0" u="none" strike="noStrike">
                          <a:solidFill>
                            <a:srgbClr val="000000"/>
                          </a:solidFill>
                          <a:effectLst/>
                          <a:latin typeface="Times New Roman" panose="02020603050405020304" pitchFamily="18" charset="0"/>
                          <a:ea typeface="新細明體" panose="02020500000000000000" pitchFamily="18" charset="-120"/>
                        </a:rPr>
                        <a:t>Nhận từ trợ lý bộ phận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rowSpan="4">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Trường hợp con dưới 14 tuổi, </a:t>
                      </a:r>
                      <a:r>
                        <a:rPr lang="vi-VN" sz="1200" b="0" i="0" u="none" strike="noStrike" dirty="0">
                          <a:solidFill>
                            <a:srgbClr val="000000"/>
                          </a:solidFill>
                          <a:effectLst/>
                          <a:latin typeface="Times New Roman" panose="02020603050405020304" pitchFamily="18" charset="0"/>
                          <a:ea typeface="+mn-ea"/>
                        </a:rPr>
                        <a:t>n</a:t>
                      </a:r>
                      <a:r>
                        <a:rPr lang="vi-VN" altLang="zh-TW" sz="1200" b="0" i="0" u="none" strike="noStrike" dirty="0">
                          <a:solidFill>
                            <a:srgbClr val="000000"/>
                          </a:solidFill>
                          <a:effectLst/>
                          <a:latin typeface="Times New Roman" panose="02020603050405020304" pitchFamily="18" charset="0"/>
                          <a:ea typeface="+mn-ea"/>
                        </a:rPr>
                        <a:t>ếu trong GKS không có số định danh cá nhân của con, cần bổ sung thêm CCCD của con bản photo hoặc photo hình ảnh thông tin có số định danh của con chụp từ phần </a:t>
                      </a:r>
                      <a:r>
                        <a:rPr lang="vi-VN" altLang="zh-TW" sz="1200" b="1" i="1" u="none" strike="noStrike" dirty="0">
                          <a:solidFill>
                            <a:srgbClr val="000000"/>
                          </a:solidFill>
                          <a:effectLst/>
                          <a:latin typeface="Times New Roman" panose="02020603050405020304" pitchFamily="18" charset="0"/>
                          <a:ea typeface="+mn-ea"/>
                        </a:rPr>
                        <a:t>Thông tin cư trú</a:t>
                      </a:r>
                      <a:r>
                        <a:rPr lang="vi-VN" altLang="zh-TW" sz="1200" b="0" i="0" u="none" strike="noStrike" dirty="0">
                          <a:solidFill>
                            <a:srgbClr val="000000"/>
                          </a:solidFill>
                          <a:effectLst/>
                          <a:latin typeface="Times New Roman" panose="02020603050405020304" pitchFamily="18" charset="0"/>
                          <a:ea typeface="+mn-ea"/>
                        </a:rPr>
                        <a:t> trên </a:t>
                      </a:r>
                      <a:r>
                        <a:rPr lang="vi-VN" altLang="zh-TW" sz="1200" b="1" i="1" u="none" strike="noStrike" dirty="0">
                          <a:solidFill>
                            <a:srgbClr val="000000"/>
                          </a:solidFill>
                          <a:effectLst/>
                          <a:latin typeface="Times New Roman" panose="02020603050405020304" pitchFamily="18" charset="0"/>
                          <a:ea typeface="+mn-ea"/>
                        </a:rPr>
                        <a:t>ứng dụng VNeID</a:t>
                      </a:r>
                      <a:endParaRPr lang="vi-VN" sz="1200" b="1" i="1" u="none" strike="noStrike" dirty="0">
                        <a:solidFill>
                          <a:srgbClr val="000000"/>
                        </a:solidFill>
                        <a:effectLst/>
                        <a:latin typeface="Times New Roman" panose="02020603050405020304" pitchFamily="18" charset="0"/>
                        <a:ea typeface="新細明體" panose="02020500000000000000" pitchFamily="18" charset="-120"/>
                      </a:endParaRPr>
                    </a:p>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Khi người phụ thuộc đủ 18 tuổi, nếu tiếp tục tham gia học đại học, cao đẳng, trung cấp chuyên nghiệp, học nghề... CNV cần nộp 01 bộ hồ sơ như trên kèm theo 01 thẻ sinh viên bản photo hoặc giấy xác nhận có dấu đỏ của cơ sở mà người phụ thuộc đang theo học.</a:t>
                      </a:r>
                      <a:br>
                        <a:rPr lang="vi-VN" sz="1200" b="0" i="0" u="none" strike="noStrike" dirty="0">
                          <a:solidFill>
                            <a:srgbClr val="000000"/>
                          </a:solidFill>
                          <a:effectLst/>
                          <a:latin typeface="Times New Roman" panose="02020603050405020304" pitchFamily="18" charset="0"/>
                          <a:ea typeface="新細明體" panose="02020500000000000000" pitchFamily="18" charset="-120"/>
                        </a:rPr>
                      </a:br>
                      <a:r>
                        <a:rPr lang="vi-VN" sz="1200" b="0" i="0" u="none" strike="noStrike" dirty="0">
                          <a:solidFill>
                            <a:srgbClr val="000000"/>
                          </a:solidFill>
                          <a:effectLst/>
                          <a:latin typeface="Times New Roman" panose="02020603050405020304" pitchFamily="18" charset="0"/>
                          <a:ea typeface="新細明體" panose="02020500000000000000" pitchFamily="18" charset="-120"/>
                        </a:rPr>
                        <a:t>* Nếu không kịp thời bổ sung hồ sơ sẽ bị cắt giảm trừ từ tháng người phụ thuộc đủ 18 tuổi</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386449384"/>
                  </a:ext>
                </a:extLst>
              </a:tr>
              <a:tr h="477345">
                <a:tc vMerge="1">
                  <a:txBody>
                    <a:bodyPr/>
                    <a:lstStyle/>
                    <a:p>
                      <a:endParaRPr lang="zh-TW" altLang="en-US"/>
                    </a:p>
                  </a:txBody>
                  <a:tcPr/>
                </a:tc>
                <a:tc vMerge="1">
                  <a:txBody>
                    <a:bodyPr/>
                    <a:lstStyle/>
                    <a:p>
                      <a:endParaRPr lang="zh-TW" altLang="en-US"/>
                    </a:p>
                  </a:txBody>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 - 01 Bản giấy ủy quyền đăng ký mã số thuế người phụ thuộc</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200" b="0" i="0" u="none" strike="noStrike">
                          <a:solidFill>
                            <a:srgbClr val="000000"/>
                          </a:solidFill>
                          <a:effectLst/>
                          <a:latin typeface="Times New Roman" panose="02020603050405020304" pitchFamily="18" charset="0"/>
                          <a:ea typeface="新細明體" panose="02020500000000000000" pitchFamily="18" charset="-120"/>
                        </a:rPr>
                        <a:t>Nhận từ trợ lý bộ phận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vMerge="1">
                  <a:txBody>
                    <a:bodyPr/>
                    <a:lstStyle/>
                    <a:p>
                      <a:endParaRPr lang="zh-TW" altLang="en-US"/>
                    </a:p>
                  </a:txBody>
                  <a:tcPr/>
                </a:tc>
                <a:extLst>
                  <a:ext uri="{0D108BD9-81ED-4DB2-BD59-A6C34878D82A}">
                    <a16:rowId xmlns:a16="http://schemas.microsoft.com/office/drawing/2014/main" val="1679779602"/>
                  </a:ext>
                </a:extLst>
              </a:tr>
              <a:tr h="477345">
                <a:tc vMerge="1">
                  <a:txBody>
                    <a:bodyPr/>
                    <a:lstStyle/>
                    <a:p>
                      <a:endParaRPr lang="zh-TW" altLang="en-US"/>
                    </a:p>
                  </a:txBody>
                  <a:tcPr/>
                </a:tc>
                <a:tc vMerge="1">
                  <a:txBody>
                    <a:bodyPr/>
                    <a:lstStyle/>
                    <a:p>
                      <a:endParaRPr lang="zh-TW" altLang="en-US"/>
                    </a:p>
                  </a:txBody>
                  <a:tcPr/>
                </a:tc>
                <a:tc>
                  <a:txBody>
                    <a:bodyPr/>
                    <a:lstStyle/>
                    <a:p>
                      <a:pPr algn="ctr" rtl="0" fontAlgn="ctr"/>
                      <a:r>
                        <a:rPr lang="en-US" sz="1200" b="0" i="0" u="none" strike="noStrike" dirty="0">
                          <a:solidFill>
                            <a:srgbClr val="000000"/>
                          </a:solidFill>
                          <a:effectLst/>
                          <a:latin typeface="Times New Roman" panose="02020603050405020304" pitchFamily="18" charset="0"/>
                          <a:ea typeface="新細明體" panose="02020500000000000000" pitchFamily="18" charset="-120"/>
                        </a:rPr>
                        <a:t> - 01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Giấy</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khai</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sinh</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của</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con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bản</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sao</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hoặc</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photo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công</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chứng</a:t>
                      </a:r>
                      <a:endParaRPr lang="vi-VN" sz="12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2DEEF"/>
                    </a:solidFill>
                  </a:tcPr>
                </a:tc>
                <a:tc vMerge="1">
                  <a:txBody>
                    <a:bodyPr/>
                    <a:lstStyle/>
                    <a:p>
                      <a:endParaRPr lang="zh-TW" altLang="en-US"/>
                    </a:p>
                  </a:txBody>
                  <a:tcPr/>
                </a:tc>
                <a:extLst>
                  <a:ext uri="{0D108BD9-81ED-4DB2-BD59-A6C34878D82A}">
                    <a16:rowId xmlns:a16="http://schemas.microsoft.com/office/drawing/2014/main" val="528920596"/>
                  </a:ext>
                </a:extLst>
              </a:tr>
              <a:tr h="979683">
                <a:tc vMerge="1">
                  <a:txBody>
                    <a:bodyPr/>
                    <a:lstStyle/>
                    <a:p>
                      <a:endParaRPr lang="zh-TW" altLang="en-US"/>
                    </a:p>
                  </a:txBody>
                  <a:tcPr/>
                </a:tc>
                <a:tc vMerge="1">
                  <a:txBody>
                    <a:bodyPr/>
                    <a:lstStyle/>
                    <a:p>
                      <a:endParaRPr lang="zh-TW" altLang="en-US"/>
                    </a:p>
                  </a:txBody>
                  <a:tcPr/>
                </a:tc>
                <a:tc>
                  <a:txBody>
                    <a:bodyPr/>
                    <a:lstStyle/>
                    <a:p>
                      <a:pPr algn="ctr" rtl="0" fontAlgn="ctr"/>
                      <a:r>
                        <a:rPr lang="en-US" sz="1200" b="0" i="0" u="none" strike="noStrike" dirty="0">
                          <a:solidFill>
                            <a:srgbClr val="000000"/>
                          </a:solidFill>
                          <a:effectLst/>
                          <a:latin typeface="Times New Roman" panose="02020603050405020304" pitchFamily="18" charset="0"/>
                          <a:ea typeface="新細明體" panose="02020500000000000000" pitchFamily="18" charset="-120"/>
                        </a:rPr>
                        <a:t> - 01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Bản</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CCCD photo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công</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chứng</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nếu</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con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từ</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14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tuổi</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trở</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lên</a:t>
                      </a:r>
                      <a:endParaRPr lang="en-US" sz="12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vMerge="1">
                  <a:txBody>
                    <a:bodyPr/>
                    <a:lstStyle/>
                    <a:p>
                      <a:endParaRPr lang="zh-TW" altLang="en-US"/>
                    </a:p>
                  </a:txBody>
                  <a:tcPr/>
                </a:tc>
                <a:extLst>
                  <a:ext uri="{0D108BD9-81ED-4DB2-BD59-A6C34878D82A}">
                    <a16:rowId xmlns:a16="http://schemas.microsoft.com/office/drawing/2014/main" val="1866000287"/>
                  </a:ext>
                </a:extLst>
              </a:tr>
              <a:tr h="346064">
                <a:tc rowSpan="6">
                  <a:txBody>
                    <a:bodyPr/>
                    <a:lstStyle/>
                    <a:p>
                      <a:pPr algn="ctr" rtl="0" fontAlgn="ctr"/>
                      <a:r>
                        <a:rPr lang="en-US" altLang="zh-TW" sz="1200" b="1" i="0" u="none" strike="noStrike">
                          <a:solidFill>
                            <a:srgbClr val="000000"/>
                          </a:solidFill>
                          <a:effectLst/>
                          <a:latin typeface="Times New Roman" panose="02020603050405020304" pitchFamily="18" charset="0"/>
                          <a:ea typeface="新細明體" panose="02020500000000000000" pitchFamily="18" charset="-120"/>
                        </a:rPr>
                        <a:t>2</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rowSpan="6">
                  <a:txBody>
                    <a:bodyPr/>
                    <a:lstStyle/>
                    <a:p>
                      <a:pPr algn="ctr" rtl="0" fontAlgn="ctr"/>
                      <a:r>
                        <a:rPr lang="en-US" sz="1200" b="1" i="0" u="none" strike="noStrike" dirty="0">
                          <a:solidFill>
                            <a:srgbClr val="000000"/>
                          </a:solidFill>
                          <a:effectLst/>
                          <a:latin typeface="Times New Roman" panose="02020603050405020304" pitchFamily="18" charset="0"/>
                          <a:ea typeface="新細明體" panose="02020500000000000000" pitchFamily="18" charset="-120"/>
                        </a:rPr>
                        <a:t>BỐ, MẸ (BỐ MẸ ĐẺ, BỐ MẸ VỢ, BỐ MẸ CHỒNG) NGOÀI ĐỘ TUỔI LAO ĐỘNG (</a:t>
                      </a:r>
                      <a:r>
                        <a:rPr lang="vi-VN" sz="1200" b="1" i="0" u="none" strike="noStrike" dirty="0">
                          <a:solidFill>
                            <a:srgbClr val="000000"/>
                          </a:solidFill>
                          <a:effectLst/>
                          <a:latin typeface="Times New Roman" panose="02020603050405020304" pitchFamily="18" charset="0"/>
                          <a:ea typeface="新細明體" panose="02020500000000000000" pitchFamily="18" charset="-120"/>
                        </a:rPr>
                        <a:t>TÍNH ĐẾN NĂM 2025 NỮ 56 TUỔI 8 THÁNG, NĂM 61 TUỔI 3 THÁNG, SAU ĐÓ </a:t>
                      </a:r>
                      <a:r>
                        <a:rPr lang="en-US" sz="1200" b="1" i="0" u="none" strike="noStrike" dirty="0">
                          <a:solidFill>
                            <a:srgbClr val="000000"/>
                          </a:solidFill>
                          <a:effectLst/>
                          <a:latin typeface="Times New Roman" panose="02020603050405020304" pitchFamily="18" charset="0"/>
                          <a:ea typeface="新細明體" panose="02020500000000000000" pitchFamily="18" charset="-120"/>
                        </a:rPr>
                        <a:t>MỖI NĂM NAM TĂNG THÊM 3 THÁNG, NỮ TĂNG THÊM 4 THÁNG)</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- 01 Bản đăng ký người phụ thuộc 07DK</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200" b="0" i="0" u="none" strike="noStrike">
                          <a:solidFill>
                            <a:srgbClr val="000000"/>
                          </a:solidFill>
                          <a:effectLst/>
                          <a:latin typeface="Times New Roman" panose="02020603050405020304" pitchFamily="18" charset="0"/>
                          <a:ea typeface="新細明體" panose="02020500000000000000" pitchFamily="18" charset="-120"/>
                        </a:rPr>
                        <a:t>Nhận từ trợ lý bộ phận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rowSpan="6">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Khi người phụ thuộc không còn, CNV báo lại cho HR kèm theo giấy báo tử hoặc trích lục khai tử để cắt giảm trừ gia cảnh</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extLst>
                  <a:ext uri="{0D108BD9-81ED-4DB2-BD59-A6C34878D82A}">
                    <a16:rowId xmlns:a16="http://schemas.microsoft.com/office/drawing/2014/main" val="702350262"/>
                  </a:ext>
                </a:extLst>
              </a:tr>
              <a:tr h="376925">
                <a:tc vMerge="1">
                  <a:txBody>
                    <a:bodyPr/>
                    <a:lstStyle/>
                    <a:p>
                      <a:endParaRPr lang="zh-TW" altLang="en-US"/>
                    </a:p>
                  </a:txBody>
                  <a:tcPr/>
                </a:tc>
                <a:tc vMerge="1">
                  <a:txBody>
                    <a:bodyPr/>
                    <a:lstStyle/>
                    <a:p>
                      <a:endParaRPr lang="zh-TW" altLang="en-US"/>
                    </a:p>
                  </a:txBody>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- 01 Bản giấy ủy quyền đăng ký mã số thuế người phụ thuộc</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200" b="0" i="0" u="none" strike="noStrike">
                          <a:solidFill>
                            <a:srgbClr val="000000"/>
                          </a:solidFill>
                          <a:effectLst/>
                          <a:latin typeface="Times New Roman" panose="02020603050405020304" pitchFamily="18" charset="0"/>
                          <a:ea typeface="新細明體" panose="02020500000000000000" pitchFamily="18" charset="-120"/>
                        </a:rPr>
                        <a:t>Nhận từ trợ lý bộ phận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vMerge="1">
                  <a:txBody>
                    <a:bodyPr/>
                    <a:lstStyle/>
                    <a:p>
                      <a:endParaRPr lang="zh-TW" altLang="en-US"/>
                    </a:p>
                  </a:txBody>
                  <a:tcPr/>
                </a:tc>
                <a:extLst>
                  <a:ext uri="{0D108BD9-81ED-4DB2-BD59-A6C34878D82A}">
                    <a16:rowId xmlns:a16="http://schemas.microsoft.com/office/drawing/2014/main" val="2246941700"/>
                  </a:ext>
                </a:extLst>
              </a:tr>
              <a:tr h="340635">
                <a:tc vMerge="1">
                  <a:txBody>
                    <a:bodyPr/>
                    <a:lstStyle/>
                    <a:p>
                      <a:endParaRPr lang="zh-TW" altLang="en-US"/>
                    </a:p>
                  </a:txBody>
                  <a:tcPr/>
                </a:tc>
                <a:tc vMerge="1">
                  <a:txBody>
                    <a:bodyPr/>
                    <a:lstStyle/>
                    <a:p>
                      <a:endParaRPr lang="zh-TW" altLang="en-US"/>
                    </a:p>
                  </a:txBody>
                  <a:tcPr/>
                </a:tc>
                <a:tc>
                  <a:txBody>
                    <a:bodyPr/>
                    <a:lstStyle/>
                    <a:p>
                      <a:pPr algn="ctr" rtl="0" fontAlgn="ctr"/>
                      <a:r>
                        <a:rPr lang="en-US" sz="1200" b="0" i="0" u="none" strike="noStrike" dirty="0">
                          <a:solidFill>
                            <a:srgbClr val="000000"/>
                          </a:solidFill>
                          <a:effectLst/>
                          <a:latin typeface="Times New Roman" panose="02020603050405020304" pitchFamily="18" charset="0"/>
                          <a:ea typeface="新細明體" panose="02020500000000000000" pitchFamily="18" charset="-120"/>
                        </a:rPr>
                        <a:t> - 01 CCCD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của</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bố</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mẹ</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photo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công</a:t>
                      </a:r>
                      <a:r>
                        <a:rPr lang="en-US" sz="1200" b="0" i="0" u="none" strike="noStrike" dirty="0">
                          <a:solidFill>
                            <a:srgbClr val="000000"/>
                          </a:solidFill>
                          <a:effectLst/>
                          <a:latin typeface="Times New Roman" panose="02020603050405020304" pitchFamily="18" charset="0"/>
                          <a:ea typeface="新細明體" panose="02020500000000000000" pitchFamily="18" charset="-120"/>
                        </a:rPr>
                        <a:t> </a:t>
                      </a:r>
                      <a:r>
                        <a:rPr lang="en-US" sz="1200" b="0" i="0" u="none" strike="noStrike" dirty="0" err="1">
                          <a:solidFill>
                            <a:srgbClr val="000000"/>
                          </a:solidFill>
                          <a:effectLst/>
                          <a:latin typeface="Times New Roman" panose="02020603050405020304" pitchFamily="18" charset="0"/>
                          <a:ea typeface="新細明體" panose="02020500000000000000" pitchFamily="18" charset="-120"/>
                        </a:rPr>
                        <a:t>chứng</a:t>
                      </a:r>
                      <a:endParaRPr lang="en-US" sz="12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vMerge="1">
                  <a:txBody>
                    <a:bodyPr/>
                    <a:lstStyle/>
                    <a:p>
                      <a:endParaRPr lang="zh-TW" altLang="en-US"/>
                    </a:p>
                  </a:txBody>
                  <a:tcPr/>
                </a:tc>
                <a:extLst>
                  <a:ext uri="{0D108BD9-81ED-4DB2-BD59-A6C34878D82A}">
                    <a16:rowId xmlns:a16="http://schemas.microsoft.com/office/drawing/2014/main" val="345959989"/>
                  </a:ext>
                </a:extLst>
              </a:tr>
              <a:tr h="508589">
                <a:tc vMerge="1">
                  <a:txBody>
                    <a:bodyPr/>
                    <a:lstStyle/>
                    <a:p>
                      <a:endParaRPr lang="zh-TW" altLang="en-US"/>
                    </a:p>
                  </a:txBody>
                  <a:tcPr/>
                </a:tc>
                <a:tc vMerge="1">
                  <a:txBody>
                    <a:bodyPr/>
                    <a:lstStyle/>
                    <a:p>
                      <a:endParaRPr lang="zh-TW" altLang="en-US"/>
                    </a:p>
                  </a:txBody>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- 01 Bản xác nhận bố mẹ có thu nhập dưới 1.000.000 VNĐ</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vMerge="1">
                  <a:txBody>
                    <a:bodyPr/>
                    <a:lstStyle/>
                    <a:p>
                      <a:endParaRPr lang="zh-TW" altLang="en-US"/>
                    </a:p>
                  </a:txBody>
                  <a:tcPr/>
                </a:tc>
                <a:extLst>
                  <a:ext uri="{0D108BD9-81ED-4DB2-BD59-A6C34878D82A}">
                    <a16:rowId xmlns:a16="http://schemas.microsoft.com/office/drawing/2014/main" val="2976849682"/>
                  </a:ext>
                </a:extLst>
              </a:tr>
              <a:tr h="477345">
                <a:tc vMerge="1">
                  <a:txBody>
                    <a:bodyPr/>
                    <a:lstStyle/>
                    <a:p>
                      <a:endParaRPr lang="zh-TW" altLang="en-US"/>
                    </a:p>
                  </a:txBody>
                  <a:tcPr/>
                </a:tc>
                <a:tc vMerge="1">
                  <a:txBody>
                    <a:bodyPr/>
                    <a:lstStyle/>
                    <a:p>
                      <a:endParaRPr lang="zh-TW" altLang="en-US"/>
                    </a:p>
                  </a:txBody>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- 01 Bản xác nhận tình trạng cư trú có dấu đỏ (nếu chung hộ khẩu)</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vi-VN" sz="1200" b="0" i="0" u="none" strike="noStrike">
                          <a:solidFill>
                            <a:srgbClr val="000000"/>
                          </a:solidFill>
                          <a:effectLst/>
                          <a:latin typeface="Times New Roman" panose="02020603050405020304" pitchFamily="18" charset="0"/>
                          <a:ea typeface="新細明體" panose="02020500000000000000" pitchFamily="18" charset="-120"/>
                        </a:rPr>
                        <a:t>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vMerge="1">
                  <a:txBody>
                    <a:bodyPr/>
                    <a:lstStyle/>
                    <a:p>
                      <a:endParaRPr lang="zh-TW" altLang="en-US"/>
                    </a:p>
                  </a:txBody>
                  <a:tcPr/>
                </a:tc>
                <a:extLst>
                  <a:ext uri="{0D108BD9-81ED-4DB2-BD59-A6C34878D82A}">
                    <a16:rowId xmlns:a16="http://schemas.microsoft.com/office/drawing/2014/main" val="2225618182"/>
                  </a:ext>
                </a:extLst>
              </a:tr>
              <a:tr h="527540">
                <a:tc vMerge="1">
                  <a:txBody>
                    <a:bodyPr/>
                    <a:lstStyle/>
                    <a:p>
                      <a:endParaRPr lang="zh-TW" altLang="en-US"/>
                    </a:p>
                  </a:txBody>
                  <a:tcPr/>
                </a:tc>
                <a:tc vMerge="1">
                  <a:txBody>
                    <a:bodyPr/>
                    <a:lstStyle/>
                    <a:p>
                      <a:endParaRPr lang="zh-TW" altLang="en-US"/>
                    </a:p>
                  </a:txBody>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 - Hoặc 01 mẫu xác nhận trực tiếp nuôi dưỡng có dấu đỏ (nếu không chung hộ khẩu)</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vi-VN" sz="1200" b="0" i="0" u="none" strike="noStrike" dirty="0">
                          <a:solidFill>
                            <a:srgbClr val="000000"/>
                          </a:solidFill>
                          <a:effectLst/>
                          <a:latin typeface="Times New Roman" panose="02020603050405020304" pitchFamily="18" charset="0"/>
                          <a:ea typeface="新細明體" panose="02020500000000000000" pitchFamily="18" charset="-120"/>
                        </a:rPr>
                        <a:t>Nhận từ trợ lý bộ phận, điền thông tin và về chính quyền địa phương xác nhận</a:t>
                      </a:r>
                    </a:p>
                  </a:txBody>
                  <a:tcPr marL="6883" marR="6883" marT="688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vMerge="1">
                  <a:txBody>
                    <a:bodyPr/>
                    <a:lstStyle/>
                    <a:p>
                      <a:endParaRPr lang="zh-TW" altLang="en-US"/>
                    </a:p>
                  </a:txBody>
                  <a:tcPr/>
                </a:tc>
                <a:extLst>
                  <a:ext uri="{0D108BD9-81ED-4DB2-BD59-A6C34878D82A}">
                    <a16:rowId xmlns:a16="http://schemas.microsoft.com/office/drawing/2014/main" val="785885032"/>
                  </a:ext>
                </a:extLst>
              </a:tr>
            </a:tbl>
          </a:graphicData>
        </a:graphic>
      </p:graphicFrame>
    </p:spTree>
    <p:extLst>
      <p:ext uri="{BB962C8B-B14F-4D97-AF65-F5344CB8AC3E}">
        <p14:creationId xmlns:p14="http://schemas.microsoft.com/office/powerpoint/2010/main" val="3784439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523220"/>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III</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Hướng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dẫn</a:t>
            </a:r>
            <a:r>
              <a:rPr lang="en-US" altLang="zh-TW" sz="2800" b="1" dirty="0">
                <a:solidFill>
                  <a:srgbClr val="032FEB"/>
                </a:solidFill>
                <a:latin typeface="Times New Roman" panose="02020603050405020304" pitchFamily="18" charset="0"/>
                <a:cs typeface="Times New Roman" panose="02020603050405020304" pitchFamily="18" charset="0"/>
              </a:rPr>
              <a:t> </a:t>
            </a:r>
            <a:r>
              <a:rPr lang="vi-VN" altLang="zh-TW" sz="2800" b="1" dirty="0">
                <a:solidFill>
                  <a:srgbClr val="032FEB"/>
                </a:solidFill>
                <a:latin typeface="Times New Roman" panose="02020603050405020304" pitchFamily="18" charset="0"/>
                <a:cs typeface="Times New Roman" panose="02020603050405020304" pitchFamily="18" charset="0"/>
              </a:rPr>
              <a:t>viết “BẢN ĐĂNG KÝ NGƯỜI PHỤ THUỘC”</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33" name="TextBox 32">
            <a:extLst>
              <a:ext uri="{FF2B5EF4-FFF2-40B4-BE49-F238E27FC236}">
                <a16:creationId xmlns:a16="http://schemas.microsoft.com/office/drawing/2014/main" id="{879F00AA-9B32-44B8-90A6-95A71B8D8923}"/>
              </a:ext>
            </a:extLst>
          </p:cNvPr>
          <p:cNvSpPr txBox="1"/>
          <p:nvPr/>
        </p:nvSpPr>
        <p:spPr>
          <a:xfrm>
            <a:off x="7491046" y="929710"/>
            <a:ext cx="4639408" cy="5324535"/>
          </a:xfrm>
          <a:prstGeom prst="rect">
            <a:avLst/>
          </a:prstGeom>
          <a:gradFill flip="none" rotWithShape="1">
            <a:gsLst>
              <a:gs pos="0">
                <a:schemeClr val="accent4">
                  <a:lumMod val="5000"/>
                  <a:lumOff val="95000"/>
                </a:schemeClr>
              </a:gs>
              <a:gs pos="74000">
                <a:schemeClr val="accent4">
                  <a:lumMod val="45000"/>
                  <a:lumOff val="55000"/>
                </a:schemeClr>
              </a:gs>
              <a:gs pos="62000">
                <a:schemeClr val="accent4">
                  <a:lumMod val="45000"/>
                  <a:lumOff val="55000"/>
                </a:schemeClr>
              </a:gs>
              <a:gs pos="100000">
                <a:schemeClr val="accent4">
                  <a:lumMod val="30000"/>
                  <a:lumOff val="70000"/>
                </a:schemeClr>
              </a:gs>
            </a:gsLst>
            <a:lin ang="5400000" scaled="1"/>
            <a:tileRect/>
          </a:gradFill>
          <a:ln w="19050">
            <a:solidFill>
              <a:schemeClr val="bg1"/>
            </a:solidFill>
          </a:ln>
        </p:spPr>
        <p:txBody>
          <a:bodyPr wrap="square" rtlCol="0">
            <a:spAutoFit/>
          </a:bodyPr>
          <a:lstStyle>
            <a:defPPr>
              <a:defRPr lang="zh-CN"/>
            </a:defPPr>
            <a:lvl1pPr>
              <a:defRPr sz="3000" b="1">
                <a:latin typeface="Times New Roman" panose="02020603050405020304" pitchFamily="18" charset="0"/>
                <a:cs typeface="Times New Roman" panose="02020603050405020304" pitchFamily="18" charset="0"/>
              </a:defRPr>
            </a:lvl1pPr>
          </a:lstStyle>
          <a:p>
            <a:r>
              <a:rPr lang="vi-VN" sz="2000" dirty="0"/>
              <a:t>1. </a:t>
            </a:r>
            <a:r>
              <a:rPr lang="vi-VN" sz="2000" b="0" dirty="0"/>
              <a:t>Điền mã nhân viên của CNV đăng ký giảm trừ và số máy lẻ của trợ lý bằng </a:t>
            </a:r>
            <a:r>
              <a:rPr lang="vi-VN" sz="2000" dirty="0"/>
              <a:t>BÚT CHÌ</a:t>
            </a:r>
          </a:p>
          <a:p>
            <a:endParaRPr lang="vi-VN" sz="2000" b="0" dirty="0"/>
          </a:p>
          <a:p>
            <a:r>
              <a:rPr lang="vi-VN" sz="2000" dirty="0"/>
              <a:t>2. </a:t>
            </a:r>
            <a:r>
              <a:rPr lang="vi-VN" sz="2000" b="0" dirty="0"/>
              <a:t>Điền thông tin của CNV: họ tên, mã số thuế, địa chỉ thường trú</a:t>
            </a:r>
          </a:p>
          <a:p>
            <a:endParaRPr lang="vi-VN" sz="2000" b="0" dirty="0"/>
          </a:p>
          <a:p>
            <a:r>
              <a:rPr lang="vi-VN" sz="2000" dirty="0"/>
              <a:t>3. </a:t>
            </a:r>
            <a:r>
              <a:rPr lang="vi-VN" sz="2000" b="0" dirty="0"/>
              <a:t>Điền tên công ty, mã số thuế của cty</a:t>
            </a:r>
          </a:p>
          <a:p>
            <a:endParaRPr lang="vi-VN" sz="2000" b="0" dirty="0"/>
          </a:p>
          <a:p>
            <a:r>
              <a:rPr lang="vi-VN" sz="2000" dirty="0"/>
              <a:t>4. </a:t>
            </a:r>
            <a:r>
              <a:rPr lang="vi-VN" sz="2000" b="0" dirty="0"/>
              <a:t>Điền thông tin người phụ thuộc từ mục 10 đến mục 16. </a:t>
            </a:r>
          </a:p>
          <a:p>
            <a:r>
              <a:rPr lang="vi-VN" sz="2000" b="0" dirty="0"/>
              <a:t>* Đối với trường hợp người phụ thuộc đã từng đăng ký giảm trừ cần điền mã số thuế của người phụ thuộc tại mục 11 để đồng nhất dữ liệu quyết toán thuế</a:t>
            </a:r>
          </a:p>
          <a:p>
            <a:r>
              <a:rPr lang="vi-VN" sz="2000" b="0" dirty="0"/>
              <a:t>* Thời điểm bắt đầu tính theo tháng nộp hồ sơ, không điền thời điểm kết thúc.</a:t>
            </a:r>
          </a:p>
        </p:txBody>
      </p:sp>
      <p:sp>
        <p:nvSpPr>
          <p:cNvPr id="31" name="TextBox 30"/>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pic>
        <p:nvPicPr>
          <p:cNvPr id="7" name="Picture 6">
            <a:extLst>
              <a:ext uri="{FF2B5EF4-FFF2-40B4-BE49-F238E27FC236}">
                <a16:creationId xmlns:a16="http://schemas.microsoft.com/office/drawing/2014/main" id="{25D7D788-2B64-412E-B60E-65E5BD76FFEC}"/>
              </a:ext>
            </a:extLst>
          </p:cNvPr>
          <p:cNvPicPr>
            <a:picLocks noChangeAspect="1"/>
          </p:cNvPicPr>
          <p:nvPr/>
        </p:nvPicPr>
        <p:blipFill>
          <a:blip r:embed="rId2"/>
          <a:stretch>
            <a:fillRect/>
          </a:stretch>
        </p:blipFill>
        <p:spPr>
          <a:xfrm>
            <a:off x="176989" y="1404521"/>
            <a:ext cx="6840416" cy="4396154"/>
          </a:xfrm>
          <a:prstGeom prst="rect">
            <a:avLst/>
          </a:prstGeom>
        </p:spPr>
      </p:pic>
      <p:sp>
        <p:nvSpPr>
          <p:cNvPr id="22" name="Rectangle 21">
            <a:extLst>
              <a:ext uri="{FF2B5EF4-FFF2-40B4-BE49-F238E27FC236}">
                <a16:creationId xmlns:a16="http://schemas.microsoft.com/office/drawing/2014/main" id="{B5357E19-F1A7-4825-958A-A4CA0E85D6F5}"/>
              </a:ext>
            </a:extLst>
          </p:cNvPr>
          <p:cNvSpPr/>
          <p:nvPr/>
        </p:nvSpPr>
        <p:spPr>
          <a:xfrm>
            <a:off x="540273" y="1532813"/>
            <a:ext cx="1170283" cy="31865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Rectangle 24">
            <a:extLst>
              <a:ext uri="{FF2B5EF4-FFF2-40B4-BE49-F238E27FC236}">
                <a16:creationId xmlns:a16="http://schemas.microsoft.com/office/drawing/2014/main" id="{326D863E-FE71-49EA-B6B9-1B6D02F3C214}"/>
              </a:ext>
            </a:extLst>
          </p:cNvPr>
          <p:cNvSpPr/>
          <p:nvPr/>
        </p:nvSpPr>
        <p:spPr>
          <a:xfrm>
            <a:off x="1873586" y="2913401"/>
            <a:ext cx="4563946" cy="5318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Rectangle 27">
            <a:extLst>
              <a:ext uri="{FF2B5EF4-FFF2-40B4-BE49-F238E27FC236}">
                <a16:creationId xmlns:a16="http://schemas.microsoft.com/office/drawing/2014/main" id="{2660641B-5B76-4102-8A16-262303D075A8}"/>
              </a:ext>
            </a:extLst>
          </p:cNvPr>
          <p:cNvSpPr/>
          <p:nvPr/>
        </p:nvSpPr>
        <p:spPr>
          <a:xfrm>
            <a:off x="1623438" y="3611126"/>
            <a:ext cx="4563946" cy="4194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Rectangle 28">
            <a:extLst>
              <a:ext uri="{FF2B5EF4-FFF2-40B4-BE49-F238E27FC236}">
                <a16:creationId xmlns:a16="http://schemas.microsoft.com/office/drawing/2014/main" id="{7404DC85-BC9D-43D6-9C81-EC80CDF3F161}"/>
              </a:ext>
            </a:extLst>
          </p:cNvPr>
          <p:cNvSpPr/>
          <p:nvPr/>
        </p:nvSpPr>
        <p:spPr>
          <a:xfrm>
            <a:off x="556065" y="5206663"/>
            <a:ext cx="5655287" cy="5881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Oval 10">
            <a:extLst>
              <a:ext uri="{FF2B5EF4-FFF2-40B4-BE49-F238E27FC236}">
                <a16:creationId xmlns:a16="http://schemas.microsoft.com/office/drawing/2014/main" id="{D70A033D-C06D-4238-9121-2C1291AA3499}"/>
              </a:ext>
            </a:extLst>
          </p:cNvPr>
          <p:cNvSpPr/>
          <p:nvPr/>
        </p:nvSpPr>
        <p:spPr>
          <a:xfrm>
            <a:off x="6527282" y="2888361"/>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TextBox 37">
            <a:extLst>
              <a:ext uri="{FF2B5EF4-FFF2-40B4-BE49-F238E27FC236}">
                <a16:creationId xmlns:a16="http://schemas.microsoft.com/office/drawing/2014/main" id="{B14536D3-7E22-4A29-9E45-790BA823F835}"/>
              </a:ext>
            </a:extLst>
          </p:cNvPr>
          <p:cNvSpPr txBox="1"/>
          <p:nvPr/>
        </p:nvSpPr>
        <p:spPr>
          <a:xfrm>
            <a:off x="6632792" y="2969597"/>
            <a:ext cx="501161" cy="369332"/>
          </a:xfrm>
          <a:prstGeom prst="rect">
            <a:avLst/>
          </a:prstGeom>
          <a:noFill/>
        </p:spPr>
        <p:txBody>
          <a:bodyPr wrap="square" rtlCol="0">
            <a:spAutoFit/>
          </a:bodyPr>
          <a:lstStyle/>
          <a:p>
            <a:r>
              <a:rPr lang="vi-VN" altLang="zh-TW" b="1" dirty="0">
                <a:solidFill>
                  <a:srgbClr val="FF0000"/>
                </a:solidFill>
              </a:rPr>
              <a:t>2</a:t>
            </a:r>
            <a:endParaRPr lang="zh-TW" altLang="en-US" b="1" dirty="0">
              <a:solidFill>
                <a:srgbClr val="FF0000"/>
              </a:solidFill>
            </a:endParaRPr>
          </a:p>
        </p:txBody>
      </p:sp>
      <p:sp>
        <p:nvSpPr>
          <p:cNvPr id="39" name="Oval 38">
            <a:extLst>
              <a:ext uri="{FF2B5EF4-FFF2-40B4-BE49-F238E27FC236}">
                <a16:creationId xmlns:a16="http://schemas.microsoft.com/office/drawing/2014/main" id="{2D2304B1-5D22-4F1C-B19E-8FB90850C92F}"/>
              </a:ext>
            </a:extLst>
          </p:cNvPr>
          <p:cNvSpPr/>
          <p:nvPr/>
        </p:nvSpPr>
        <p:spPr>
          <a:xfrm>
            <a:off x="1857499" y="1434353"/>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Oval 41">
            <a:extLst>
              <a:ext uri="{FF2B5EF4-FFF2-40B4-BE49-F238E27FC236}">
                <a16:creationId xmlns:a16="http://schemas.microsoft.com/office/drawing/2014/main" id="{6C8F47B8-DA69-443B-803D-B1E43972D99D}"/>
              </a:ext>
            </a:extLst>
          </p:cNvPr>
          <p:cNvSpPr/>
          <p:nvPr/>
        </p:nvSpPr>
        <p:spPr>
          <a:xfrm>
            <a:off x="6282667" y="5231363"/>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Oval 42">
            <a:extLst>
              <a:ext uri="{FF2B5EF4-FFF2-40B4-BE49-F238E27FC236}">
                <a16:creationId xmlns:a16="http://schemas.microsoft.com/office/drawing/2014/main" id="{29A4B5CB-88EF-4075-8FC9-290DC1F44A5A}"/>
              </a:ext>
            </a:extLst>
          </p:cNvPr>
          <p:cNvSpPr/>
          <p:nvPr/>
        </p:nvSpPr>
        <p:spPr>
          <a:xfrm>
            <a:off x="6282667" y="3585051"/>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TextBox 46">
            <a:extLst>
              <a:ext uri="{FF2B5EF4-FFF2-40B4-BE49-F238E27FC236}">
                <a16:creationId xmlns:a16="http://schemas.microsoft.com/office/drawing/2014/main" id="{1067D260-81CB-4F4E-A169-0E44FD0CE45B}"/>
              </a:ext>
            </a:extLst>
          </p:cNvPr>
          <p:cNvSpPr txBox="1"/>
          <p:nvPr/>
        </p:nvSpPr>
        <p:spPr>
          <a:xfrm>
            <a:off x="6350072" y="5290883"/>
            <a:ext cx="501161" cy="369332"/>
          </a:xfrm>
          <a:prstGeom prst="rect">
            <a:avLst/>
          </a:prstGeom>
          <a:noFill/>
        </p:spPr>
        <p:txBody>
          <a:bodyPr wrap="square" rtlCol="0">
            <a:spAutoFit/>
          </a:bodyPr>
          <a:lstStyle/>
          <a:p>
            <a:r>
              <a:rPr lang="vi-VN" altLang="zh-TW" b="1" dirty="0">
                <a:solidFill>
                  <a:srgbClr val="FF0000"/>
                </a:solidFill>
              </a:rPr>
              <a:t>4</a:t>
            </a:r>
            <a:endParaRPr lang="zh-TW" altLang="en-US" b="1" dirty="0">
              <a:solidFill>
                <a:srgbClr val="FF0000"/>
              </a:solidFill>
            </a:endParaRPr>
          </a:p>
        </p:txBody>
      </p:sp>
      <p:sp>
        <p:nvSpPr>
          <p:cNvPr id="48" name="TextBox 47">
            <a:extLst>
              <a:ext uri="{FF2B5EF4-FFF2-40B4-BE49-F238E27FC236}">
                <a16:creationId xmlns:a16="http://schemas.microsoft.com/office/drawing/2014/main" id="{A54BCB87-5EE0-4288-A34E-002B3160E382}"/>
              </a:ext>
            </a:extLst>
          </p:cNvPr>
          <p:cNvSpPr txBox="1"/>
          <p:nvPr/>
        </p:nvSpPr>
        <p:spPr>
          <a:xfrm>
            <a:off x="6410155" y="3639230"/>
            <a:ext cx="501161" cy="369332"/>
          </a:xfrm>
          <a:prstGeom prst="rect">
            <a:avLst/>
          </a:prstGeom>
          <a:noFill/>
        </p:spPr>
        <p:txBody>
          <a:bodyPr wrap="square" rtlCol="0">
            <a:spAutoFit/>
          </a:bodyPr>
          <a:lstStyle/>
          <a:p>
            <a:r>
              <a:rPr lang="vi-VN" altLang="zh-TW" b="1" dirty="0">
                <a:solidFill>
                  <a:srgbClr val="FF0000"/>
                </a:solidFill>
              </a:rPr>
              <a:t>3</a:t>
            </a:r>
            <a:endParaRPr lang="zh-TW" altLang="en-US" b="1" dirty="0">
              <a:solidFill>
                <a:srgbClr val="FF0000"/>
              </a:solidFill>
            </a:endParaRPr>
          </a:p>
        </p:txBody>
      </p:sp>
      <p:sp>
        <p:nvSpPr>
          <p:cNvPr id="49" name="TextBox 48">
            <a:extLst>
              <a:ext uri="{FF2B5EF4-FFF2-40B4-BE49-F238E27FC236}">
                <a16:creationId xmlns:a16="http://schemas.microsoft.com/office/drawing/2014/main" id="{457E3484-C2E7-493F-925F-B9923E7FE68C}"/>
              </a:ext>
            </a:extLst>
          </p:cNvPr>
          <p:cNvSpPr txBox="1"/>
          <p:nvPr/>
        </p:nvSpPr>
        <p:spPr>
          <a:xfrm>
            <a:off x="1942823" y="1494540"/>
            <a:ext cx="501161" cy="369332"/>
          </a:xfrm>
          <a:prstGeom prst="rect">
            <a:avLst/>
          </a:prstGeom>
          <a:noFill/>
        </p:spPr>
        <p:txBody>
          <a:bodyPr wrap="square" rtlCol="0">
            <a:spAutoFit/>
          </a:bodyPr>
          <a:lstStyle/>
          <a:p>
            <a:r>
              <a:rPr lang="vi-VN" altLang="zh-TW" b="1" dirty="0">
                <a:solidFill>
                  <a:srgbClr val="FF0000"/>
                </a:solidFill>
              </a:rPr>
              <a:t>1</a:t>
            </a:r>
            <a:endParaRPr lang="zh-TW" altLang="en-US" b="1" dirty="0">
              <a:solidFill>
                <a:srgbClr val="FF0000"/>
              </a:solidFill>
            </a:endParaRPr>
          </a:p>
        </p:txBody>
      </p:sp>
    </p:spTree>
    <p:extLst>
      <p:ext uri="{BB962C8B-B14F-4D97-AF65-F5344CB8AC3E}">
        <p14:creationId xmlns:p14="http://schemas.microsoft.com/office/powerpoint/2010/main" val="1900479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523220"/>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III</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Hướng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dẫn</a:t>
            </a:r>
            <a:r>
              <a:rPr lang="en-US" altLang="zh-TW" sz="2800" b="1" dirty="0">
                <a:solidFill>
                  <a:srgbClr val="032FEB"/>
                </a:solidFill>
                <a:latin typeface="Times New Roman" panose="02020603050405020304" pitchFamily="18" charset="0"/>
                <a:cs typeface="Times New Roman" panose="02020603050405020304" pitchFamily="18" charset="0"/>
              </a:rPr>
              <a:t> </a:t>
            </a:r>
            <a:r>
              <a:rPr lang="vi-VN" altLang="zh-TW" sz="2800" b="1" dirty="0">
                <a:solidFill>
                  <a:srgbClr val="032FEB"/>
                </a:solidFill>
                <a:latin typeface="Times New Roman" panose="02020603050405020304" pitchFamily="18" charset="0"/>
                <a:cs typeface="Times New Roman" panose="02020603050405020304" pitchFamily="18" charset="0"/>
              </a:rPr>
              <a:t>viết “BẢN ĐĂNG KÝ NGƯỜI PHỤ THUỘC”</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31" name="TextBox 30"/>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pic>
        <p:nvPicPr>
          <p:cNvPr id="4" name="Picture 3">
            <a:extLst>
              <a:ext uri="{FF2B5EF4-FFF2-40B4-BE49-F238E27FC236}">
                <a16:creationId xmlns:a16="http://schemas.microsoft.com/office/drawing/2014/main" id="{59D67BF4-5DDA-4FC2-8252-CB1A802CB23B}"/>
              </a:ext>
            </a:extLst>
          </p:cNvPr>
          <p:cNvPicPr>
            <a:picLocks noChangeAspect="1"/>
          </p:cNvPicPr>
          <p:nvPr/>
        </p:nvPicPr>
        <p:blipFill>
          <a:blip r:embed="rId2"/>
          <a:stretch>
            <a:fillRect/>
          </a:stretch>
        </p:blipFill>
        <p:spPr>
          <a:xfrm>
            <a:off x="425533" y="1250705"/>
            <a:ext cx="7619429" cy="3848833"/>
          </a:xfrm>
          <a:prstGeom prst="rect">
            <a:avLst/>
          </a:prstGeom>
        </p:spPr>
      </p:pic>
      <p:sp>
        <p:nvSpPr>
          <p:cNvPr id="7" name="Rectangle 6">
            <a:extLst>
              <a:ext uri="{FF2B5EF4-FFF2-40B4-BE49-F238E27FC236}">
                <a16:creationId xmlns:a16="http://schemas.microsoft.com/office/drawing/2014/main" id="{E8A36597-5315-44B9-8C41-5B16E740DAA3}"/>
              </a:ext>
            </a:extLst>
          </p:cNvPr>
          <p:cNvSpPr/>
          <p:nvPr/>
        </p:nvSpPr>
        <p:spPr>
          <a:xfrm>
            <a:off x="4932283" y="4167924"/>
            <a:ext cx="2327431" cy="7770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Rectangle 7">
            <a:extLst>
              <a:ext uri="{FF2B5EF4-FFF2-40B4-BE49-F238E27FC236}">
                <a16:creationId xmlns:a16="http://schemas.microsoft.com/office/drawing/2014/main" id="{89497D82-9200-45BA-B7C3-D3328FDAC6C7}"/>
              </a:ext>
            </a:extLst>
          </p:cNvPr>
          <p:cNvSpPr/>
          <p:nvPr/>
        </p:nvSpPr>
        <p:spPr>
          <a:xfrm>
            <a:off x="4622328" y="3437792"/>
            <a:ext cx="2947343" cy="254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TextBox 9">
            <a:extLst>
              <a:ext uri="{FF2B5EF4-FFF2-40B4-BE49-F238E27FC236}">
                <a16:creationId xmlns:a16="http://schemas.microsoft.com/office/drawing/2014/main" id="{9EF81581-9511-479F-8FE4-9FC6B1194A1D}"/>
              </a:ext>
            </a:extLst>
          </p:cNvPr>
          <p:cNvSpPr txBox="1"/>
          <p:nvPr/>
        </p:nvSpPr>
        <p:spPr>
          <a:xfrm>
            <a:off x="8581292" y="3429000"/>
            <a:ext cx="2426677" cy="1323439"/>
          </a:xfrm>
          <a:prstGeom prst="rect">
            <a:avLst/>
          </a:prstGeom>
          <a:gradFill flip="none" rotWithShape="1">
            <a:gsLst>
              <a:gs pos="0">
                <a:schemeClr val="accent4">
                  <a:lumMod val="5000"/>
                  <a:lumOff val="95000"/>
                </a:schemeClr>
              </a:gs>
              <a:gs pos="74000">
                <a:schemeClr val="accent4">
                  <a:lumMod val="45000"/>
                  <a:lumOff val="55000"/>
                </a:schemeClr>
              </a:gs>
              <a:gs pos="62000">
                <a:schemeClr val="accent4">
                  <a:lumMod val="45000"/>
                  <a:lumOff val="55000"/>
                </a:schemeClr>
              </a:gs>
              <a:gs pos="100000">
                <a:schemeClr val="accent4">
                  <a:lumMod val="30000"/>
                  <a:lumOff val="70000"/>
                </a:schemeClr>
              </a:gs>
            </a:gsLst>
            <a:lin ang="5400000" scaled="1"/>
            <a:tileRect/>
          </a:gradFill>
          <a:ln w="19050">
            <a:solidFill>
              <a:schemeClr val="bg1"/>
            </a:solidFill>
          </a:ln>
        </p:spPr>
        <p:txBody>
          <a:bodyPr wrap="square" rtlCol="0">
            <a:spAutoFit/>
          </a:bodyPr>
          <a:lstStyle>
            <a:defPPr>
              <a:defRPr lang="zh-CN"/>
            </a:defPPr>
            <a:lvl1pPr>
              <a:defRPr sz="3000" b="1">
                <a:latin typeface="Times New Roman" panose="02020603050405020304" pitchFamily="18" charset="0"/>
                <a:cs typeface="Times New Roman" panose="02020603050405020304" pitchFamily="18" charset="0"/>
              </a:defRPr>
            </a:lvl1pPr>
          </a:lstStyle>
          <a:p>
            <a:r>
              <a:rPr lang="vi-VN" sz="2000" b="0" dirty="0"/>
              <a:t>CNV điền địa chỉ, ngày tháng năm khai đơn, ký và ghi rõ họ tên.</a:t>
            </a:r>
          </a:p>
        </p:txBody>
      </p:sp>
    </p:spTree>
    <p:extLst>
      <p:ext uri="{BB962C8B-B14F-4D97-AF65-F5344CB8AC3E}">
        <p14:creationId xmlns:p14="http://schemas.microsoft.com/office/powerpoint/2010/main" val="312111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954107"/>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IV</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Hướng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dẫn</a:t>
            </a:r>
            <a:r>
              <a:rPr lang="en-US" altLang="zh-TW" sz="2800" b="1" dirty="0">
                <a:solidFill>
                  <a:srgbClr val="032FEB"/>
                </a:solidFill>
                <a:latin typeface="Times New Roman" panose="02020603050405020304" pitchFamily="18" charset="0"/>
                <a:cs typeface="Times New Roman" panose="02020603050405020304" pitchFamily="18" charset="0"/>
              </a:rPr>
              <a:t> </a:t>
            </a:r>
            <a:r>
              <a:rPr lang="vi-VN" altLang="zh-TW" sz="2800" b="1" dirty="0">
                <a:solidFill>
                  <a:srgbClr val="032FEB"/>
                </a:solidFill>
                <a:latin typeface="Times New Roman" panose="02020603050405020304" pitchFamily="18" charset="0"/>
                <a:cs typeface="Times New Roman" panose="02020603050405020304" pitchFamily="18" charset="0"/>
              </a:rPr>
              <a:t>viết “GIẤY ỦY QUYỀN ĐĂNG KÝ NGƯỜI PHỤ THUỘC”</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31" name="TextBox 30"/>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pic>
        <p:nvPicPr>
          <p:cNvPr id="6" name="Picture 5">
            <a:extLst>
              <a:ext uri="{FF2B5EF4-FFF2-40B4-BE49-F238E27FC236}">
                <a16:creationId xmlns:a16="http://schemas.microsoft.com/office/drawing/2014/main" id="{C8EC0EAB-153D-40AE-8154-9ABADFFCE760}"/>
              </a:ext>
            </a:extLst>
          </p:cNvPr>
          <p:cNvPicPr>
            <a:picLocks noChangeAspect="1"/>
          </p:cNvPicPr>
          <p:nvPr/>
        </p:nvPicPr>
        <p:blipFill>
          <a:blip r:embed="rId2"/>
          <a:stretch>
            <a:fillRect/>
          </a:stretch>
        </p:blipFill>
        <p:spPr>
          <a:xfrm>
            <a:off x="963276" y="1323384"/>
            <a:ext cx="5138208" cy="5244470"/>
          </a:xfrm>
          <a:prstGeom prst="rect">
            <a:avLst/>
          </a:prstGeom>
        </p:spPr>
      </p:pic>
      <p:sp>
        <p:nvSpPr>
          <p:cNvPr id="11" name="Rectangle 10">
            <a:extLst>
              <a:ext uri="{FF2B5EF4-FFF2-40B4-BE49-F238E27FC236}">
                <a16:creationId xmlns:a16="http://schemas.microsoft.com/office/drawing/2014/main" id="{5677CEF4-4C8C-4F48-89BD-29FCF65AFBA8}"/>
              </a:ext>
            </a:extLst>
          </p:cNvPr>
          <p:cNvSpPr/>
          <p:nvPr/>
        </p:nvSpPr>
        <p:spPr>
          <a:xfrm>
            <a:off x="1085412" y="2550574"/>
            <a:ext cx="3843198" cy="13452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Rectangle 11">
            <a:extLst>
              <a:ext uri="{FF2B5EF4-FFF2-40B4-BE49-F238E27FC236}">
                <a16:creationId xmlns:a16="http://schemas.microsoft.com/office/drawing/2014/main" id="{CDA0C75B-969E-4880-BBCD-9907C1AAA3EB}"/>
              </a:ext>
            </a:extLst>
          </p:cNvPr>
          <p:cNvSpPr/>
          <p:nvPr/>
        </p:nvSpPr>
        <p:spPr>
          <a:xfrm>
            <a:off x="1085412" y="3999072"/>
            <a:ext cx="3843198" cy="10823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TextBox 15">
            <a:extLst>
              <a:ext uri="{FF2B5EF4-FFF2-40B4-BE49-F238E27FC236}">
                <a16:creationId xmlns:a16="http://schemas.microsoft.com/office/drawing/2014/main" id="{999E0210-8CF2-4357-A403-C6FE82AB78CD}"/>
              </a:ext>
            </a:extLst>
          </p:cNvPr>
          <p:cNvSpPr txBox="1"/>
          <p:nvPr/>
        </p:nvSpPr>
        <p:spPr>
          <a:xfrm>
            <a:off x="6793525" y="1813433"/>
            <a:ext cx="4569069" cy="4708981"/>
          </a:xfrm>
          <a:prstGeom prst="rect">
            <a:avLst/>
          </a:prstGeom>
          <a:gradFill flip="none" rotWithShape="1">
            <a:gsLst>
              <a:gs pos="0">
                <a:schemeClr val="accent4">
                  <a:lumMod val="5000"/>
                  <a:lumOff val="95000"/>
                </a:schemeClr>
              </a:gs>
              <a:gs pos="74000">
                <a:schemeClr val="accent4">
                  <a:lumMod val="45000"/>
                  <a:lumOff val="55000"/>
                </a:schemeClr>
              </a:gs>
              <a:gs pos="62000">
                <a:schemeClr val="accent4">
                  <a:lumMod val="45000"/>
                  <a:lumOff val="55000"/>
                </a:schemeClr>
              </a:gs>
              <a:gs pos="100000">
                <a:schemeClr val="accent4">
                  <a:lumMod val="30000"/>
                  <a:lumOff val="70000"/>
                </a:schemeClr>
              </a:gs>
            </a:gsLst>
            <a:lin ang="5400000" scaled="1"/>
            <a:tileRect/>
          </a:gradFill>
          <a:ln w="19050">
            <a:solidFill>
              <a:schemeClr val="bg1"/>
            </a:solidFill>
          </a:ln>
        </p:spPr>
        <p:txBody>
          <a:bodyPr wrap="square" rtlCol="0">
            <a:spAutoFit/>
          </a:bodyPr>
          <a:lstStyle>
            <a:defPPr>
              <a:defRPr lang="zh-CN"/>
            </a:defPPr>
            <a:lvl1pPr>
              <a:defRPr sz="3000" b="1">
                <a:latin typeface="Times New Roman" panose="02020603050405020304" pitchFamily="18" charset="0"/>
                <a:cs typeface="Times New Roman" panose="02020603050405020304" pitchFamily="18" charset="0"/>
              </a:defRPr>
            </a:lvl1pPr>
          </a:lstStyle>
          <a:p>
            <a:r>
              <a:rPr lang="vi-VN" sz="2000" dirty="0"/>
              <a:t>1. </a:t>
            </a:r>
            <a:r>
              <a:rPr lang="vi-VN" sz="2000" b="0" dirty="0"/>
              <a:t>Điền thông tin của CNV (người nộp thuế)</a:t>
            </a:r>
          </a:p>
          <a:p>
            <a:endParaRPr lang="vi-VN" sz="2000" b="0" dirty="0"/>
          </a:p>
          <a:p>
            <a:r>
              <a:rPr lang="vi-VN" sz="2000" dirty="0"/>
              <a:t>2. </a:t>
            </a:r>
            <a:r>
              <a:rPr lang="vi-VN" sz="2000" b="0" dirty="0"/>
              <a:t>Điền thông tin của công ty theo hướng dẫn tại phần I</a:t>
            </a:r>
          </a:p>
          <a:p>
            <a:endParaRPr lang="vi-VN" sz="2000" b="0" dirty="0"/>
          </a:p>
          <a:p>
            <a:r>
              <a:rPr lang="vi-VN" sz="2000" dirty="0"/>
              <a:t>3. </a:t>
            </a:r>
            <a:r>
              <a:rPr lang="vi-VN" sz="2000" b="0" dirty="0"/>
              <a:t>Điền tên tỉnh mà công ty tham gia thuế:</a:t>
            </a:r>
          </a:p>
          <a:p>
            <a:r>
              <a:rPr lang="vi-VN" sz="2000" b="0" dirty="0"/>
              <a:t>Fuyu, Fuhong, Fulian: Bắc Giang</a:t>
            </a:r>
          </a:p>
          <a:p>
            <a:r>
              <a:rPr lang="vi-VN" sz="2000" b="0" dirty="0"/>
              <a:t>Funing: Bắc Ninh</a:t>
            </a:r>
          </a:p>
          <a:p>
            <a:endParaRPr lang="vi-VN" sz="2000" b="0" dirty="0"/>
          </a:p>
          <a:p>
            <a:r>
              <a:rPr lang="vi-VN" sz="2000" dirty="0"/>
              <a:t>4. </a:t>
            </a:r>
            <a:r>
              <a:rPr lang="vi-VN" sz="2000" b="0" dirty="0"/>
              <a:t>Điền tên của CNV </a:t>
            </a:r>
            <a:r>
              <a:rPr lang="vi-VN" altLang="zh-TW" sz="2000" b="0" dirty="0"/>
              <a:t>(người nộp thuế)</a:t>
            </a:r>
          </a:p>
          <a:p>
            <a:endParaRPr lang="vi-VN" altLang="zh-TW" sz="2000" b="0" dirty="0"/>
          </a:p>
          <a:p>
            <a:r>
              <a:rPr lang="vi-VN" sz="2000" dirty="0"/>
              <a:t>5. </a:t>
            </a:r>
            <a:r>
              <a:rPr lang="vi-VN" sz="2000" b="0" dirty="0"/>
              <a:t>Điền thông tin người phụ thuộc của CNV</a:t>
            </a:r>
          </a:p>
          <a:p>
            <a:pPr marL="457200" indent="-457200">
              <a:buAutoNum type="arabicPeriod"/>
            </a:pPr>
            <a:endParaRPr lang="vi-VN" sz="2000" b="0" dirty="0"/>
          </a:p>
        </p:txBody>
      </p:sp>
      <p:sp>
        <p:nvSpPr>
          <p:cNvPr id="17" name="Oval 16">
            <a:extLst>
              <a:ext uri="{FF2B5EF4-FFF2-40B4-BE49-F238E27FC236}">
                <a16:creationId xmlns:a16="http://schemas.microsoft.com/office/drawing/2014/main" id="{3BC52142-09A7-4BCD-A5B4-38FC22891874}"/>
              </a:ext>
            </a:extLst>
          </p:cNvPr>
          <p:cNvSpPr/>
          <p:nvPr/>
        </p:nvSpPr>
        <p:spPr>
          <a:xfrm>
            <a:off x="5050746" y="2988220"/>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TextBox 17">
            <a:extLst>
              <a:ext uri="{FF2B5EF4-FFF2-40B4-BE49-F238E27FC236}">
                <a16:creationId xmlns:a16="http://schemas.microsoft.com/office/drawing/2014/main" id="{E8AD813C-3678-44A6-B1E9-72C746129F0E}"/>
              </a:ext>
            </a:extLst>
          </p:cNvPr>
          <p:cNvSpPr txBox="1"/>
          <p:nvPr/>
        </p:nvSpPr>
        <p:spPr>
          <a:xfrm>
            <a:off x="5136070" y="3048407"/>
            <a:ext cx="501161" cy="369332"/>
          </a:xfrm>
          <a:prstGeom prst="rect">
            <a:avLst/>
          </a:prstGeom>
          <a:noFill/>
        </p:spPr>
        <p:txBody>
          <a:bodyPr wrap="square" rtlCol="0">
            <a:spAutoFit/>
          </a:bodyPr>
          <a:lstStyle/>
          <a:p>
            <a:r>
              <a:rPr lang="vi-VN" altLang="zh-TW" b="1" dirty="0">
                <a:solidFill>
                  <a:srgbClr val="FF0000"/>
                </a:solidFill>
              </a:rPr>
              <a:t>1</a:t>
            </a:r>
            <a:endParaRPr lang="zh-TW" altLang="en-US" b="1" dirty="0">
              <a:solidFill>
                <a:srgbClr val="FF0000"/>
              </a:solidFill>
            </a:endParaRPr>
          </a:p>
        </p:txBody>
      </p:sp>
      <p:sp>
        <p:nvSpPr>
          <p:cNvPr id="19" name="Oval 18">
            <a:extLst>
              <a:ext uri="{FF2B5EF4-FFF2-40B4-BE49-F238E27FC236}">
                <a16:creationId xmlns:a16="http://schemas.microsoft.com/office/drawing/2014/main" id="{1CF5D955-490C-4D09-852E-60F836198B71}"/>
              </a:ext>
            </a:extLst>
          </p:cNvPr>
          <p:cNvSpPr/>
          <p:nvPr/>
        </p:nvSpPr>
        <p:spPr>
          <a:xfrm>
            <a:off x="5053125" y="4160935"/>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TextBox 19">
            <a:extLst>
              <a:ext uri="{FF2B5EF4-FFF2-40B4-BE49-F238E27FC236}">
                <a16:creationId xmlns:a16="http://schemas.microsoft.com/office/drawing/2014/main" id="{CE61D679-E31A-4FA8-A732-8CA06F9DD283}"/>
              </a:ext>
            </a:extLst>
          </p:cNvPr>
          <p:cNvSpPr txBox="1"/>
          <p:nvPr/>
        </p:nvSpPr>
        <p:spPr>
          <a:xfrm>
            <a:off x="5138449" y="4221122"/>
            <a:ext cx="501161" cy="369332"/>
          </a:xfrm>
          <a:prstGeom prst="rect">
            <a:avLst/>
          </a:prstGeom>
          <a:noFill/>
        </p:spPr>
        <p:txBody>
          <a:bodyPr wrap="square" rtlCol="0">
            <a:spAutoFit/>
          </a:bodyPr>
          <a:lstStyle/>
          <a:p>
            <a:r>
              <a:rPr lang="vi-VN" altLang="zh-TW" b="1" dirty="0">
                <a:solidFill>
                  <a:srgbClr val="FF0000"/>
                </a:solidFill>
              </a:rPr>
              <a:t>2</a:t>
            </a:r>
            <a:endParaRPr lang="zh-TW" altLang="en-US" b="1" dirty="0">
              <a:solidFill>
                <a:srgbClr val="FF0000"/>
              </a:solidFill>
            </a:endParaRPr>
          </a:p>
        </p:txBody>
      </p:sp>
      <p:sp>
        <p:nvSpPr>
          <p:cNvPr id="21" name="Oval 20">
            <a:extLst>
              <a:ext uri="{FF2B5EF4-FFF2-40B4-BE49-F238E27FC236}">
                <a16:creationId xmlns:a16="http://schemas.microsoft.com/office/drawing/2014/main" id="{9D7B21C3-D38D-47A5-B0FD-7D90143F1BE1}"/>
              </a:ext>
            </a:extLst>
          </p:cNvPr>
          <p:cNvSpPr/>
          <p:nvPr/>
        </p:nvSpPr>
        <p:spPr>
          <a:xfrm>
            <a:off x="2760026" y="5431568"/>
            <a:ext cx="362459" cy="38634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TextBox 21">
            <a:extLst>
              <a:ext uri="{FF2B5EF4-FFF2-40B4-BE49-F238E27FC236}">
                <a16:creationId xmlns:a16="http://schemas.microsoft.com/office/drawing/2014/main" id="{7E5BC833-EF75-4B73-BD34-353043BDB234}"/>
              </a:ext>
            </a:extLst>
          </p:cNvPr>
          <p:cNvSpPr txBox="1"/>
          <p:nvPr/>
        </p:nvSpPr>
        <p:spPr>
          <a:xfrm>
            <a:off x="2795742" y="5448581"/>
            <a:ext cx="350172" cy="369332"/>
          </a:xfrm>
          <a:prstGeom prst="rect">
            <a:avLst/>
          </a:prstGeom>
          <a:noFill/>
        </p:spPr>
        <p:txBody>
          <a:bodyPr wrap="square" rtlCol="0">
            <a:spAutoFit/>
          </a:bodyPr>
          <a:lstStyle/>
          <a:p>
            <a:r>
              <a:rPr lang="vi-VN" altLang="zh-TW" b="1" dirty="0">
                <a:solidFill>
                  <a:srgbClr val="FF0000"/>
                </a:solidFill>
              </a:rPr>
              <a:t>3</a:t>
            </a:r>
            <a:endParaRPr lang="zh-TW" altLang="en-US" b="1" dirty="0">
              <a:solidFill>
                <a:srgbClr val="FF0000"/>
              </a:solidFill>
            </a:endParaRPr>
          </a:p>
        </p:txBody>
      </p:sp>
      <p:sp>
        <p:nvSpPr>
          <p:cNvPr id="24" name="Oval 23">
            <a:extLst>
              <a:ext uri="{FF2B5EF4-FFF2-40B4-BE49-F238E27FC236}">
                <a16:creationId xmlns:a16="http://schemas.microsoft.com/office/drawing/2014/main" id="{B831F520-11A4-436C-A964-81D21D0FE907}"/>
              </a:ext>
            </a:extLst>
          </p:cNvPr>
          <p:cNvSpPr/>
          <p:nvPr/>
        </p:nvSpPr>
        <p:spPr>
          <a:xfrm>
            <a:off x="2015959" y="5551533"/>
            <a:ext cx="362459" cy="38634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TextBox 24">
            <a:extLst>
              <a:ext uri="{FF2B5EF4-FFF2-40B4-BE49-F238E27FC236}">
                <a16:creationId xmlns:a16="http://schemas.microsoft.com/office/drawing/2014/main" id="{00E5653B-051D-4146-B61A-F6FEC75E5016}"/>
              </a:ext>
            </a:extLst>
          </p:cNvPr>
          <p:cNvSpPr txBox="1"/>
          <p:nvPr/>
        </p:nvSpPr>
        <p:spPr>
          <a:xfrm>
            <a:off x="2022103" y="5560039"/>
            <a:ext cx="350172" cy="369332"/>
          </a:xfrm>
          <a:prstGeom prst="rect">
            <a:avLst/>
          </a:prstGeom>
          <a:noFill/>
        </p:spPr>
        <p:txBody>
          <a:bodyPr wrap="square" rtlCol="0">
            <a:spAutoFit/>
          </a:bodyPr>
          <a:lstStyle/>
          <a:p>
            <a:r>
              <a:rPr lang="vi-VN" altLang="zh-TW" b="1" dirty="0">
                <a:solidFill>
                  <a:srgbClr val="FF0000"/>
                </a:solidFill>
              </a:rPr>
              <a:t>4</a:t>
            </a:r>
            <a:endParaRPr lang="zh-TW" altLang="en-US" b="1" dirty="0">
              <a:solidFill>
                <a:srgbClr val="FF0000"/>
              </a:solidFill>
            </a:endParaRPr>
          </a:p>
        </p:txBody>
      </p:sp>
      <p:sp>
        <p:nvSpPr>
          <p:cNvPr id="29" name="Rectangle 28">
            <a:extLst>
              <a:ext uri="{FF2B5EF4-FFF2-40B4-BE49-F238E27FC236}">
                <a16:creationId xmlns:a16="http://schemas.microsoft.com/office/drawing/2014/main" id="{C5F2437A-23A7-4085-A302-BACAD32D9149}"/>
              </a:ext>
            </a:extLst>
          </p:cNvPr>
          <p:cNvSpPr/>
          <p:nvPr/>
        </p:nvSpPr>
        <p:spPr>
          <a:xfrm>
            <a:off x="1085412" y="5937877"/>
            <a:ext cx="3875401" cy="44046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Oval 29">
            <a:extLst>
              <a:ext uri="{FF2B5EF4-FFF2-40B4-BE49-F238E27FC236}">
                <a16:creationId xmlns:a16="http://schemas.microsoft.com/office/drawing/2014/main" id="{A87D52BA-0A72-4CEE-B466-7B50394D276D}"/>
              </a:ext>
            </a:extLst>
          </p:cNvPr>
          <p:cNvSpPr/>
          <p:nvPr/>
        </p:nvSpPr>
        <p:spPr>
          <a:xfrm>
            <a:off x="5087148" y="5929414"/>
            <a:ext cx="448630" cy="45067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TextBox 31">
            <a:extLst>
              <a:ext uri="{FF2B5EF4-FFF2-40B4-BE49-F238E27FC236}">
                <a16:creationId xmlns:a16="http://schemas.microsoft.com/office/drawing/2014/main" id="{54AB3B49-D3ED-4429-BA57-F0B2F41DCE25}"/>
              </a:ext>
            </a:extLst>
          </p:cNvPr>
          <p:cNvSpPr txBox="1"/>
          <p:nvPr/>
        </p:nvSpPr>
        <p:spPr>
          <a:xfrm>
            <a:off x="5147770" y="5970083"/>
            <a:ext cx="433422" cy="369332"/>
          </a:xfrm>
          <a:prstGeom prst="rect">
            <a:avLst/>
          </a:prstGeom>
          <a:noFill/>
        </p:spPr>
        <p:txBody>
          <a:bodyPr wrap="square" rtlCol="0">
            <a:spAutoFit/>
          </a:bodyPr>
          <a:lstStyle/>
          <a:p>
            <a:r>
              <a:rPr lang="vi-VN" altLang="zh-TW" b="1" dirty="0">
                <a:solidFill>
                  <a:srgbClr val="FF0000"/>
                </a:solidFill>
              </a:rPr>
              <a:t>5</a:t>
            </a:r>
          </a:p>
        </p:txBody>
      </p:sp>
    </p:spTree>
    <p:extLst>
      <p:ext uri="{BB962C8B-B14F-4D97-AF65-F5344CB8AC3E}">
        <p14:creationId xmlns:p14="http://schemas.microsoft.com/office/powerpoint/2010/main" val="204549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954107"/>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IV</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Hướng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dẫn</a:t>
            </a:r>
            <a:r>
              <a:rPr lang="en-US" altLang="zh-TW" sz="2800" b="1" dirty="0">
                <a:solidFill>
                  <a:srgbClr val="032FEB"/>
                </a:solidFill>
                <a:latin typeface="Times New Roman" panose="02020603050405020304" pitchFamily="18" charset="0"/>
                <a:cs typeface="Times New Roman" panose="02020603050405020304" pitchFamily="18" charset="0"/>
              </a:rPr>
              <a:t> </a:t>
            </a:r>
            <a:r>
              <a:rPr lang="vi-VN" altLang="zh-TW" sz="2800" b="1" dirty="0">
                <a:solidFill>
                  <a:srgbClr val="032FEB"/>
                </a:solidFill>
                <a:latin typeface="Times New Roman" panose="02020603050405020304" pitchFamily="18" charset="0"/>
                <a:cs typeface="Times New Roman" panose="02020603050405020304" pitchFamily="18" charset="0"/>
              </a:rPr>
              <a:t>viết “GIẤY ỦY QUYỀN ĐĂNG KÝ NGƯỜI PHỤ THUỘC”</a:t>
            </a:r>
            <a:endParaRPr lang="en-US" altLang="zh-TW" sz="2800" b="1" dirty="0">
              <a:solidFill>
                <a:srgbClr val="032FEB"/>
              </a:solidFill>
              <a:latin typeface="Times New Roman" panose="02020603050405020304" pitchFamily="18" charset="0"/>
              <a:cs typeface="Times New Roman" panose="02020603050405020304" pitchFamily="18" charset="0"/>
            </a:endParaRP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31" name="TextBox 30"/>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sp>
        <p:nvSpPr>
          <p:cNvPr id="16" name="TextBox 15">
            <a:extLst>
              <a:ext uri="{FF2B5EF4-FFF2-40B4-BE49-F238E27FC236}">
                <a16:creationId xmlns:a16="http://schemas.microsoft.com/office/drawing/2014/main" id="{999E0210-8CF2-4357-A403-C6FE82AB78CD}"/>
              </a:ext>
            </a:extLst>
          </p:cNvPr>
          <p:cNvSpPr txBox="1"/>
          <p:nvPr/>
        </p:nvSpPr>
        <p:spPr>
          <a:xfrm>
            <a:off x="6881448" y="1950840"/>
            <a:ext cx="4569069" cy="2246769"/>
          </a:xfrm>
          <a:prstGeom prst="rect">
            <a:avLst/>
          </a:prstGeom>
          <a:gradFill flip="none" rotWithShape="1">
            <a:gsLst>
              <a:gs pos="0">
                <a:schemeClr val="accent4">
                  <a:lumMod val="5000"/>
                  <a:lumOff val="95000"/>
                </a:schemeClr>
              </a:gs>
              <a:gs pos="74000">
                <a:schemeClr val="accent4">
                  <a:lumMod val="45000"/>
                  <a:lumOff val="55000"/>
                </a:schemeClr>
              </a:gs>
              <a:gs pos="62000">
                <a:schemeClr val="accent4">
                  <a:lumMod val="45000"/>
                  <a:lumOff val="55000"/>
                </a:schemeClr>
              </a:gs>
              <a:gs pos="100000">
                <a:schemeClr val="accent4">
                  <a:lumMod val="30000"/>
                  <a:lumOff val="70000"/>
                </a:schemeClr>
              </a:gs>
            </a:gsLst>
            <a:lin ang="5400000" scaled="1"/>
            <a:tileRect/>
          </a:gradFill>
          <a:ln w="19050">
            <a:solidFill>
              <a:schemeClr val="bg1"/>
            </a:solidFill>
          </a:ln>
        </p:spPr>
        <p:txBody>
          <a:bodyPr wrap="square" rtlCol="0">
            <a:spAutoFit/>
          </a:bodyPr>
          <a:lstStyle>
            <a:defPPr>
              <a:defRPr lang="zh-CN"/>
            </a:defPPr>
            <a:lvl1pPr>
              <a:defRPr sz="3000" b="1">
                <a:latin typeface="Times New Roman" panose="02020603050405020304" pitchFamily="18" charset="0"/>
                <a:cs typeface="Times New Roman" panose="02020603050405020304" pitchFamily="18" charset="0"/>
              </a:defRPr>
            </a:lvl1pPr>
          </a:lstStyle>
          <a:p>
            <a:r>
              <a:rPr lang="vi-VN" sz="2000" dirty="0"/>
              <a:t>1. </a:t>
            </a:r>
            <a:r>
              <a:rPr lang="vi-VN" sz="2000" b="0" dirty="0"/>
              <a:t>Điền thông tin người phụ thuộc của CNV</a:t>
            </a:r>
          </a:p>
          <a:p>
            <a:endParaRPr lang="vi-VN" sz="2000" b="0" dirty="0"/>
          </a:p>
          <a:p>
            <a:r>
              <a:rPr lang="vi-VN" sz="2000" dirty="0"/>
              <a:t>2. </a:t>
            </a:r>
            <a:r>
              <a:rPr lang="vi-VN" altLang="zh-TW" sz="2000" b="0" dirty="0"/>
              <a:t>Thời điểm bắt đầu tính theo tháng nộp hồ sơ, không điền thời điểm kết thúc</a:t>
            </a:r>
          </a:p>
          <a:p>
            <a:endParaRPr lang="vi-VN" altLang="zh-TW" sz="2000" b="0" dirty="0"/>
          </a:p>
          <a:p>
            <a:r>
              <a:rPr lang="vi-VN" sz="2000" dirty="0"/>
              <a:t>3. </a:t>
            </a:r>
            <a:r>
              <a:rPr lang="vi-VN" sz="2000" b="0" dirty="0"/>
              <a:t>CNV ký và ghi rõ họ tên</a:t>
            </a:r>
          </a:p>
        </p:txBody>
      </p:sp>
      <p:pic>
        <p:nvPicPr>
          <p:cNvPr id="4" name="Picture 3">
            <a:extLst>
              <a:ext uri="{FF2B5EF4-FFF2-40B4-BE49-F238E27FC236}">
                <a16:creationId xmlns:a16="http://schemas.microsoft.com/office/drawing/2014/main" id="{8D5F1396-ADA3-4F8B-84BA-9693BC45DD60}"/>
              </a:ext>
            </a:extLst>
          </p:cNvPr>
          <p:cNvPicPr>
            <a:picLocks noChangeAspect="1"/>
          </p:cNvPicPr>
          <p:nvPr/>
        </p:nvPicPr>
        <p:blipFill>
          <a:blip r:embed="rId2"/>
          <a:stretch>
            <a:fillRect/>
          </a:stretch>
        </p:blipFill>
        <p:spPr>
          <a:xfrm>
            <a:off x="851066" y="1323384"/>
            <a:ext cx="4885021" cy="5473070"/>
          </a:xfrm>
          <a:prstGeom prst="rect">
            <a:avLst/>
          </a:prstGeom>
        </p:spPr>
      </p:pic>
      <p:sp>
        <p:nvSpPr>
          <p:cNvPr id="23" name="Rectangle 22">
            <a:extLst>
              <a:ext uri="{FF2B5EF4-FFF2-40B4-BE49-F238E27FC236}">
                <a16:creationId xmlns:a16="http://schemas.microsoft.com/office/drawing/2014/main" id="{BF78C26D-6832-4F73-B143-0A157FEFF45E}"/>
              </a:ext>
            </a:extLst>
          </p:cNvPr>
          <p:cNvSpPr/>
          <p:nvPr/>
        </p:nvSpPr>
        <p:spPr>
          <a:xfrm>
            <a:off x="960040" y="1363423"/>
            <a:ext cx="4172065" cy="7072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Rectangle 26">
            <a:extLst>
              <a:ext uri="{FF2B5EF4-FFF2-40B4-BE49-F238E27FC236}">
                <a16:creationId xmlns:a16="http://schemas.microsoft.com/office/drawing/2014/main" id="{7E9C7E47-39DB-4C1F-B1F1-A52D716FF2FD}"/>
              </a:ext>
            </a:extLst>
          </p:cNvPr>
          <p:cNvSpPr/>
          <p:nvPr/>
        </p:nvSpPr>
        <p:spPr>
          <a:xfrm>
            <a:off x="960040" y="2153043"/>
            <a:ext cx="4172065" cy="7072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Rectangle 27">
            <a:extLst>
              <a:ext uri="{FF2B5EF4-FFF2-40B4-BE49-F238E27FC236}">
                <a16:creationId xmlns:a16="http://schemas.microsoft.com/office/drawing/2014/main" id="{4FA464B8-713D-4DE8-867E-72AD575C2B29}"/>
              </a:ext>
            </a:extLst>
          </p:cNvPr>
          <p:cNvSpPr/>
          <p:nvPr/>
        </p:nvSpPr>
        <p:spPr>
          <a:xfrm>
            <a:off x="761500" y="6084277"/>
            <a:ext cx="1404459" cy="7072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Oval 32">
            <a:extLst>
              <a:ext uri="{FF2B5EF4-FFF2-40B4-BE49-F238E27FC236}">
                <a16:creationId xmlns:a16="http://schemas.microsoft.com/office/drawing/2014/main" id="{8346506A-256C-4966-8023-974946F2C851}"/>
              </a:ext>
            </a:extLst>
          </p:cNvPr>
          <p:cNvSpPr/>
          <p:nvPr/>
        </p:nvSpPr>
        <p:spPr>
          <a:xfrm>
            <a:off x="5225479" y="1451156"/>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TextBox 33">
            <a:extLst>
              <a:ext uri="{FF2B5EF4-FFF2-40B4-BE49-F238E27FC236}">
                <a16:creationId xmlns:a16="http://schemas.microsoft.com/office/drawing/2014/main" id="{3312C29A-32DC-4A94-BF87-9B770D485187}"/>
              </a:ext>
            </a:extLst>
          </p:cNvPr>
          <p:cNvSpPr txBox="1"/>
          <p:nvPr/>
        </p:nvSpPr>
        <p:spPr>
          <a:xfrm>
            <a:off x="5310803" y="1511343"/>
            <a:ext cx="501161" cy="369332"/>
          </a:xfrm>
          <a:prstGeom prst="rect">
            <a:avLst/>
          </a:prstGeom>
          <a:noFill/>
        </p:spPr>
        <p:txBody>
          <a:bodyPr wrap="square" rtlCol="0">
            <a:spAutoFit/>
          </a:bodyPr>
          <a:lstStyle/>
          <a:p>
            <a:r>
              <a:rPr lang="vi-VN" altLang="zh-TW" b="1" dirty="0">
                <a:solidFill>
                  <a:srgbClr val="FF0000"/>
                </a:solidFill>
              </a:rPr>
              <a:t>1</a:t>
            </a:r>
            <a:endParaRPr lang="zh-TW" altLang="en-US" b="1" dirty="0">
              <a:solidFill>
                <a:srgbClr val="FF0000"/>
              </a:solidFill>
            </a:endParaRPr>
          </a:p>
        </p:txBody>
      </p:sp>
      <p:sp>
        <p:nvSpPr>
          <p:cNvPr id="35" name="Oval 34">
            <a:extLst>
              <a:ext uri="{FF2B5EF4-FFF2-40B4-BE49-F238E27FC236}">
                <a16:creationId xmlns:a16="http://schemas.microsoft.com/office/drawing/2014/main" id="{1437520A-3296-4D76-BEE3-ADCD7711344D}"/>
              </a:ext>
            </a:extLst>
          </p:cNvPr>
          <p:cNvSpPr/>
          <p:nvPr/>
        </p:nvSpPr>
        <p:spPr>
          <a:xfrm>
            <a:off x="5241078" y="2258586"/>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TextBox 35">
            <a:extLst>
              <a:ext uri="{FF2B5EF4-FFF2-40B4-BE49-F238E27FC236}">
                <a16:creationId xmlns:a16="http://schemas.microsoft.com/office/drawing/2014/main" id="{BA4E0B15-D5CF-4D9C-880F-A6BEDC34AF36}"/>
              </a:ext>
            </a:extLst>
          </p:cNvPr>
          <p:cNvSpPr txBox="1"/>
          <p:nvPr/>
        </p:nvSpPr>
        <p:spPr>
          <a:xfrm>
            <a:off x="5326402" y="2318773"/>
            <a:ext cx="501161" cy="369332"/>
          </a:xfrm>
          <a:prstGeom prst="rect">
            <a:avLst/>
          </a:prstGeom>
          <a:noFill/>
        </p:spPr>
        <p:txBody>
          <a:bodyPr wrap="square" rtlCol="0">
            <a:spAutoFit/>
          </a:bodyPr>
          <a:lstStyle/>
          <a:p>
            <a:r>
              <a:rPr lang="vi-VN" altLang="zh-TW" b="1" dirty="0">
                <a:solidFill>
                  <a:srgbClr val="FF0000"/>
                </a:solidFill>
              </a:rPr>
              <a:t>2</a:t>
            </a:r>
            <a:endParaRPr lang="zh-TW" altLang="en-US" b="1" dirty="0">
              <a:solidFill>
                <a:srgbClr val="FF0000"/>
              </a:solidFill>
            </a:endParaRPr>
          </a:p>
        </p:txBody>
      </p:sp>
      <p:sp>
        <p:nvSpPr>
          <p:cNvPr id="37" name="Oval 36">
            <a:extLst>
              <a:ext uri="{FF2B5EF4-FFF2-40B4-BE49-F238E27FC236}">
                <a16:creationId xmlns:a16="http://schemas.microsoft.com/office/drawing/2014/main" id="{543322C3-0AC4-4DAC-87AB-F5C51071195E}"/>
              </a:ext>
            </a:extLst>
          </p:cNvPr>
          <p:cNvSpPr/>
          <p:nvPr/>
        </p:nvSpPr>
        <p:spPr>
          <a:xfrm>
            <a:off x="2255525" y="6084277"/>
            <a:ext cx="518746" cy="5318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TextBox 37">
            <a:extLst>
              <a:ext uri="{FF2B5EF4-FFF2-40B4-BE49-F238E27FC236}">
                <a16:creationId xmlns:a16="http://schemas.microsoft.com/office/drawing/2014/main" id="{2F4441F3-5662-4525-8C10-F50D75D5DB9F}"/>
              </a:ext>
            </a:extLst>
          </p:cNvPr>
          <p:cNvSpPr txBox="1"/>
          <p:nvPr/>
        </p:nvSpPr>
        <p:spPr>
          <a:xfrm>
            <a:off x="2340849" y="6144464"/>
            <a:ext cx="501161" cy="369332"/>
          </a:xfrm>
          <a:prstGeom prst="rect">
            <a:avLst/>
          </a:prstGeom>
          <a:noFill/>
        </p:spPr>
        <p:txBody>
          <a:bodyPr wrap="square" rtlCol="0">
            <a:spAutoFit/>
          </a:bodyPr>
          <a:lstStyle/>
          <a:p>
            <a:r>
              <a:rPr lang="vi-VN" altLang="zh-TW" b="1" dirty="0">
                <a:solidFill>
                  <a:srgbClr val="FF0000"/>
                </a:solidFill>
              </a:rPr>
              <a:t>3</a:t>
            </a:r>
            <a:endParaRPr lang="zh-TW" altLang="en-US" b="1" dirty="0">
              <a:solidFill>
                <a:srgbClr val="FF0000"/>
              </a:solidFill>
            </a:endParaRPr>
          </a:p>
        </p:txBody>
      </p:sp>
    </p:spTree>
    <p:extLst>
      <p:ext uri="{BB962C8B-B14F-4D97-AF65-F5344CB8AC3E}">
        <p14:creationId xmlns:p14="http://schemas.microsoft.com/office/powerpoint/2010/main" val="1348555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E770-FDDC-4EE0-939F-3D3CB577CC30}"/>
              </a:ext>
            </a:extLst>
          </p:cNvPr>
          <p:cNvSpPr txBox="1"/>
          <p:nvPr/>
        </p:nvSpPr>
        <p:spPr>
          <a:xfrm>
            <a:off x="1125415" y="369277"/>
            <a:ext cx="9969871" cy="523220"/>
          </a:xfrm>
          <a:prstGeom prst="rect">
            <a:avLst/>
          </a:prstGeom>
          <a:noFill/>
        </p:spPr>
        <p:txBody>
          <a:bodyPr wrap="square" rtlCol="0">
            <a:spAutoFit/>
          </a:bodyPr>
          <a:lstStyle/>
          <a:p>
            <a:r>
              <a:rPr lang="vi-VN" altLang="zh-TW" sz="2800" b="1" dirty="0">
                <a:solidFill>
                  <a:srgbClr val="032FEB"/>
                </a:solidFill>
                <a:latin typeface="Times New Roman" panose="02020603050405020304" pitchFamily="18" charset="0"/>
                <a:cs typeface="Times New Roman" panose="02020603050405020304" pitchFamily="18" charset="0"/>
              </a:rPr>
              <a:t>V</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Những</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điều</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cần</a:t>
            </a:r>
            <a:r>
              <a:rPr lang="en-US" altLang="zh-TW" sz="2800" b="1" dirty="0">
                <a:solidFill>
                  <a:srgbClr val="032FEB"/>
                </a:solidFill>
                <a:latin typeface="Times New Roman" panose="02020603050405020304" pitchFamily="18" charset="0"/>
                <a:cs typeface="Times New Roman" panose="02020603050405020304" pitchFamily="18" charset="0"/>
              </a:rPr>
              <a:t> </a:t>
            </a:r>
            <a:r>
              <a:rPr lang="en-US" altLang="zh-TW" sz="2800" b="1" dirty="0" err="1">
                <a:solidFill>
                  <a:srgbClr val="032FEB"/>
                </a:solidFill>
                <a:latin typeface="Times New Roman" panose="02020603050405020304" pitchFamily="18" charset="0"/>
                <a:cs typeface="Times New Roman" panose="02020603050405020304" pitchFamily="18" charset="0"/>
              </a:rPr>
              <a:t>lưu</a:t>
            </a:r>
            <a:r>
              <a:rPr lang="en-US" altLang="zh-TW" sz="2800" b="1" dirty="0">
                <a:solidFill>
                  <a:srgbClr val="032FEB"/>
                </a:solidFill>
                <a:latin typeface="Times New Roman" panose="02020603050405020304" pitchFamily="18" charset="0"/>
                <a:cs typeface="Times New Roman" panose="02020603050405020304" pitchFamily="18" charset="0"/>
              </a:rPr>
              <a:t> ý </a:t>
            </a:r>
          </a:p>
        </p:txBody>
      </p:sp>
      <p:sp>
        <p:nvSpPr>
          <p:cNvPr id="26" name="Oval 4"/>
          <p:cNvSpPr txBox="1"/>
          <p:nvPr/>
        </p:nvSpPr>
        <p:spPr>
          <a:xfrm>
            <a:off x="1942823" y="3872880"/>
            <a:ext cx="537227" cy="29504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lvl="0" algn="ctr" defTabSz="1066800">
              <a:lnSpc>
                <a:spcPct val="100000"/>
              </a:lnSpc>
              <a:spcBef>
                <a:spcPct val="0"/>
              </a:spcBef>
              <a:spcAft>
                <a:spcPct val="35000"/>
              </a:spcAft>
            </a:pPr>
            <a:r>
              <a:rPr lang="en-US" altLang="zh-TW" sz="2400" b="1" kern="1200" dirty="0">
                <a:latin typeface="+mn-lt"/>
                <a:cs typeface="Times New Roman" panose="02020603050405020304" pitchFamily="18" charset="0"/>
              </a:rPr>
              <a:t>1</a:t>
            </a:r>
          </a:p>
        </p:txBody>
      </p:sp>
      <p:sp>
        <p:nvSpPr>
          <p:cNvPr id="17" name="TextBox 16"/>
          <p:cNvSpPr txBox="1"/>
          <p:nvPr/>
        </p:nvSpPr>
        <p:spPr>
          <a:xfrm>
            <a:off x="0" y="406490"/>
            <a:ext cx="851066" cy="523220"/>
          </a:xfrm>
          <a:prstGeom prst="rect">
            <a:avLst/>
          </a:prstGeom>
          <a:noFill/>
        </p:spPr>
        <p:txBody>
          <a:bodyPr wrap="square" rtlCol="0">
            <a:spAutoFit/>
          </a:bodyPr>
          <a:lstStyle/>
          <a:p>
            <a:r>
              <a:rPr lang="en-US" altLang="zh-TW" sz="2800">
                <a:solidFill>
                  <a:schemeClr val="bg1"/>
                </a:solidFill>
                <a:latin typeface=".VnBodoni" panose="020B7200000000000000" pitchFamily="34" charset="0"/>
              </a:rPr>
              <a:t>Fii</a:t>
            </a:r>
            <a:endParaRPr lang="zh-TW" altLang="en-US" sz="2800">
              <a:solidFill>
                <a:schemeClr val="bg1"/>
              </a:solidFill>
              <a:latin typeface=".VnBodoni" panose="020B7200000000000000" pitchFamily="34" charset="0"/>
            </a:endParaRPr>
          </a:p>
        </p:txBody>
      </p:sp>
      <p:sp>
        <p:nvSpPr>
          <p:cNvPr id="4" name="TextBox 3"/>
          <p:cNvSpPr txBox="1"/>
          <p:nvPr/>
        </p:nvSpPr>
        <p:spPr>
          <a:xfrm>
            <a:off x="851065" y="1184366"/>
            <a:ext cx="10719611" cy="5016758"/>
          </a:xfrm>
          <a:prstGeom prst="rect">
            <a:avLst/>
          </a:prstGeom>
          <a:noFill/>
        </p:spPr>
        <p:txBody>
          <a:bodyPr wrap="square" rtlCol="0">
            <a:spAutoFit/>
          </a:bodyPr>
          <a:lstStyle/>
          <a:p>
            <a:pPr marL="285750" indent="-285750">
              <a:buFont typeface="Arial" panose="020B0604020202020204" pitchFamily="34" charset="0"/>
              <a:buChar char="•"/>
            </a:pPr>
            <a:r>
              <a:rPr lang="vi-VN" altLang="zh-TW" sz="2000" dirty="0">
                <a:latin typeface="Times New Roman" panose="02020603050405020304" pitchFamily="18" charset="0"/>
                <a:cs typeface="Times New Roman" panose="02020603050405020304" pitchFamily="18" charset="0"/>
              </a:rPr>
              <a:t>HR nhận hồ sơ đăng ký giảm trừ gia cảnh từ ngày 10 đến ngày 15 hàng tháng, nộp tháng nào sẽ đăng ký từ tháng đó</a:t>
            </a:r>
          </a:p>
          <a:p>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TW" sz="2000" dirty="0">
                <a:latin typeface="Times New Roman" panose="02020603050405020304" pitchFamily="18" charset="0"/>
                <a:cs typeface="Times New Roman" panose="02020603050405020304" pitchFamily="18" charset="0"/>
              </a:rPr>
              <a:t>CNV muốn cắt giảm trừ gia cảnh cần chuẩn bị 1 bộ hồ sơ như khi đăng ký cho đối tượng đó và nộp cho HR (bỏ bản giấy ủy quyền)</a:t>
            </a:r>
          </a:p>
          <a:p>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TW" sz="2000" dirty="0">
                <a:latin typeface="Times New Roman" panose="02020603050405020304" pitchFamily="18" charset="0"/>
                <a:cs typeface="Times New Roman" panose="02020603050405020304" pitchFamily="18" charset="0"/>
              </a:rPr>
              <a:t>Chủ động liên hệ người phụ trách của công ty để chấm dứt giảm trừ khi người phụ thuộc không còn hoặc không đủ điều kiện tính giảm trừ gia cảnh</a:t>
            </a:r>
          </a:p>
          <a:p>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sz="2000" dirty="0" err="1">
                <a:latin typeface="Times New Roman" panose="02020603050405020304" pitchFamily="18" charset="0"/>
                <a:cs typeface="Times New Roman" panose="02020603050405020304" pitchFamily="18" charset="0"/>
              </a:rPr>
              <a:t>Trợ</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lý</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bộ</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phận</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hướng</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dẫn</a:t>
            </a:r>
            <a:r>
              <a:rPr lang="en-US" altLang="zh-TW" sz="2000" dirty="0">
                <a:latin typeface="Times New Roman" panose="02020603050405020304" pitchFamily="18" charset="0"/>
                <a:cs typeface="Times New Roman" panose="02020603050405020304" pitchFamily="18" charset="0"/>
              </a:rPr>
              <a:t> CNV </a:t>
            </a:r>
            <a:r>
              <a:rPr lang="en-US" altLang="zh-TW" sz="2000" dirty="0" err="1">
                <a:latin typeface="Times New Roman" panose="02020603050405020304" pitchFamily="18" charset="0"/>
                <a:cs typeface="Times New Roman" panose="02020603050405020304" pitchFamily="18" charset="0"/>
              </a:rPr>
              <a:t>viết</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tờ</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khai</a:t>
            </a:r>
            <a:r>
              <a:rPr lang="vi-VN" altLang="zh-TW" sz="2000" dirty="0">
                <a:latin typeface="Times New Roman" panose="02020603050405020304" pitchFamily="18" charset="0"/>
                <a:cs typeface="Times New Roman" panose="02020603050405020304" pitchFamily="18" charset="0"/>
              </a:rPr>
              <a:t> theo hướng dẫn của HR</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kiểm</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tra</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lại</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hồ</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sơ</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thông</a:t>
            </a:r>
            <a:r>
              <a:rPr lang="en-US" altLang="zh-TW" sz="2000" dirty="0">
                <a:latin typeface="Times New Roman" panose="02020603050405020304" pitchFamily="18" charset="0"/>
                <a:cs typeface="Times New Roman" panose="02020603050405020304" pitchFamily="18" charset="0"/>
              </a:rPr>
              <a:t> tin </a:t>
            </a:r>
            <a:r>
              <a:rPr lang="en-US" altLang="zh-TW" sz="2000" dirty="0" err="1">
                <a:latin typeface="Times New Roman" panose="02020603050405020304" pitchFamily="18" charset="0"/>
                <a:cs typeface="Times New Roman" panose="02020603050405020304" pitchFamily="18" charset="0"/>
              </a:rPr>
              <a:t>và</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nội</a:t>
            </a:r>
            <a:r>
              <a:rPr lang="en-US" altLang="zh-TW" sz="2000" dirty="0">
                <a:latin typeface="Times New Roman" panose="02020603050405020304" pitchFamily="18" charset="0"/>
                <a:cs typeface="Times New Roman" panose="02020603050405020304" pitchFamily="18" charset="0"/>
              </a:rPr>
              <a:t> dung </a:t>
            </a:r>
            <a:r>
              <a:rPr lang="en-US" altLang="zh-TW" sz="2000" dirty="0" err="1">
                <a:latin typeface="Times New Roman" panose="02020603050405020304" pitchFamily="18" charset="0"/>
                <a:cs typeface="Times New Roman" panose="02020603050405020304" pitchFamily="18" charset="0"/>
              </a:rPr>
              <a:t>trước</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khi</a:t>
            </a:r>
            <a:r>
              <a:rPr lang="vi-VN" altLang="zh-TW" sz="2000" dirty="0">
                <a:latin typeface="Times New Roman" panose="02020603050405020304" pitchFamily="18" charset="0"/>
                <a:cs typeface="Times New Roman" panose="02020603050405020304" pitchFamily="18" charset="0"/>
              </a:rPr>
              <a:t> nộp</a:t>
            </a:r>
          </a:p>
          <a:p>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TW" sz="2000" dirty="0">
                <a:latin typeface="Times New Roman" panose="02020603050405020304" pitchFamily="18" charset="0"/>
                <a:cs typeface="Times New Roman" panose="02020603050405020304" pitchFamily="18" charset="0"/>
              </a:rPr>
              <a:t>Kẹp hồ sơ theo thứ tự sau: đăng ký NPT 07DK, giấy tờ liên quan của NPT, giấy </a:t>
            </a:r>
            <a:r>
              <a:rPr lang="vi-VN" altLang="zh-TW" sz="2000">
                <a:latin typeface="Times New Roman" panose="02020603050405020304" pitchFamily="18" charset="0"/>
                <a:cs typeface="Times New Roman" panose="02020603050405020304" pitchFamily="18" charset="0"/>
              </a:rPr>
              <a:t>ủy quyền</a:t>
            </a:r>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vi-VN"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altLang="zh-TW" sz="2000" b="1" dirty="0">
                <a:latin typeface="Times New Roman" panose="02020603050405020304" pitchFamily="18" charset="0"/>
                <a:cs typeface="Times New Roman" panose="02020603050405020304" pitchFamily="18" charset="0"/>
              </a:rPr>
              <a:t>Trường hợp CNV được điều động khác pháp nhân cần làm lại hồ sơ GTGC để tránh ảnh hưởng đến việc quyết toán thuế và quyền lợi của cá nhân CNV.</a:t>
            </a:r>
            <a:endParaRPr lang="en-US" altLang="zh-TW"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07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0253"/>
            <a:ext cx="12248341" cy="6918253"/>
          </a:xfrm>
          <a:prstGeom prst="rect">
            <a:avLst/>
          </a:prstGeom>
        </p:spPr>
      </p:pic>
      <p:sp>
        <p:nvSpPr>
          <p:cNvPr id="2" name="TextBox 1">
            <a:extLst>
              <a:ext uri="{FF2B5EF4-FFF2-40B4-BE49-F238E27FC236}">
                <a16:creationId xmlns:a16="http://schemas.microsoft.com/office/drawing/2014/main" id="{2044FC71-EF74-4D47-A9A7-EC61B21F10C5}"/>
              </a:ext>
            </a:extLst>
          </p:cNvPr>
          <p:cNvSpPr txBox="1"/>
          <p:nvPr/>
        </p:nvSpPr>
        <p:spPr>
          <a:xfrm>
            <a:off x="433753" y="2162907"/>
            <a:ext cx="11324493" cy="707886"/>
          </a:xfrm>
          <a:prstGeom prst="rect">
            <a:avLst/>
          </a:prstGeom>
          <a:noFill/>
        </p:spPr>
        <p:txBody>
          <a:bodyPr wrap="square" rtlCol="0">
            <a:spAutoFit/>
          </a:bodyPr>
          <a:lstStyle/>
          <a:p>
            <a:r>
              <a:rPr lang="vi-VN" altLang="zh-TW" sz="4000" b="1" dirty="0">
                <a:solidFill>
                  <a:srgbClr val="0000FF"/>
                </a:solidFill>
                <a:latin typeface="+mj-lt"/>
              </a:rPr>
              <a:t>CẢM ƠN CÁC BẠN ĐÃ PHỐI HỢP THỰC HIỆN</a:t>
            </a:r>
            <a:endParaRPr lang="zh-TW" altLang="en-US" sz="4000" b="1" dirty="0">
              <a:solidFill>
                <a:srgbClr val="0000FF"/>
              </a:solidFill>
              <a:latin typeface="+mj-lt"/>
            </a:endParaRPr>
          </a:p>
        </p:txBody>
      </p:sp>
    </p:spTree>
    <p:extLst>
      <p:ext uri="{BB962C8B-B14F-4D97-AF65-F5344CB8AC3E}">
        <p14:creationId xmlns:p14="http://schemas.microsoft.com/office/powerpoint/2010/main" val="2577457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1988</TotalTime>
  <Words>1206</Words>
  <Application>Microsoft Office PowerPoint</Application>
  <PresentationFormat>Widescreen</PresentationFormat>
  <Paragraphs>140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思源黑体 CN Regular</vt:lpstr>
      <vt:lpstr>.VnBodoni</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阮氏香</dc:creator>
  <cp:lastModifiedBy>黃氏芳李</cp:lastModifiedBy>
  <cp:revision>61</cp:revision>
  <dcterms:created xsi:type="dcterms:W3CDTF">2024-08-09T04:28:48Z</dcterms:created>
  <dcterms:modified xsi:type="dcterms:W3CDTF">2025-02-04T03:44:56Z</dcterms:modified>
</cp:coreProperties>
</file>