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0" r:id="rId2"/>
    <p:sldId id="262" r:id="rId3"/>
    <p:sldId id="259" r:id="rId4"/>
    <p:sldId id="257" r:id="rId5"/>
    <p:sldId id="263" r:id="rId6"/>
    <p:sldId id="265" r:id="rId7"/>
    <p:sldId id="268" r:id="rId8"/>
    <p:sldId id="264" r:id="rId9"/>
    <p:sldId id="266"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22" autoAdjust="0"/>
    <p:restoredTop sz="94660"/>
  </p:normalViewPr>
  <p:slideViewPr>
    <p:cSldViewPr snapToGrid="0">
      <p:cViewPr varScale="1">
        <p:scale>
          <a:sx n="83" d="100"/>
          <a:sy n="83" d="100"/>
        </p:scale>
        <p:origin x="49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624CD-957C-4F3C-8C8B-D1F178D42267}" type="datetimeFigureOut">
              <a:rPr lang="en-US" smtClean="0"/>
              <a:t>2025-11-03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17E00-CCBA-45C2-879E-8389F4D0CB7E}" type="slidenum">
              <a:rPr lang="en-US" smtClean="0"/>
              <a:t>‹#›</a:t>
            </a:fld>
            <a:endParaRPr lang="en-US"/>
          </a:p>
        </p:txBody>
      </p:sp>
    </p:spTree>
    <p:extLst>
      <p:ext uri="{BB962C8B-B14F-4D97-AF65-F5344CB8AC3E}">
        <p14:creationId xmlns:p14="http://schemas.microsoft.com/office/powerpoint/2010/main" val="3079707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BD17E00-CCBA-45C2-879E-8389F4D0CB7E}" type="slidenum">
              <a:rPr lang="en-US" smtClean="0"/>
              <a:t>1</a:t>
            </a:fld>
            <a:endParaRPr lang="en-US"/>
          </a:p>
        </p:txBody>
      </p:sp>
    </p:spTree>
    <p:extLst>
      <p:ext uri="{BB962C8B-B14F-4D97-AF65-F5344CB8AC3E}">
        <p14:creationId xmlns:p14="http://schemas.microsoft.com/office/powerpoint/2010/main" val="1061498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BD17E00-CCBA-45C2-879E-8389F4D0CB7E}" type="slidenum">
              <a:rPr lang="en-US" smtClean="0"/>
              <a:t>2</a:t>
            </a:fld>
            <a:endParaRPr lang="en-US"/>
          </a:p>
        </p:txBody>
      </p:sp>
    </p:spTree>
    <p:extLst>
      <p:ext uri="{BB962C8B-B14F-4D97-AF65-F5344CB8AC3E}">
        <p14:creationId xmlns:p14="http://schemas.microsoft.com/office/powerpoint/2010/main" val="3808086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BD17E00-CCBA-45C2-879E-8389F4D0CB7E}" type="slidenum">
              <a:rPr lang="en-US" smtClean="0"/>
              <a:t>6</a:t>
            </a:fld>
            <a:endParaRPr lang="en-US"/>
          </a:p>
        </p:txBody>
      </p:sp>
    </p:spTree>
    <p:extLst>
      <p:ext uri="{BB962C8B-B14F-4D97-AF65-F5344CB8AC3E}">
        <p14:creationId xmlns:p14="http://schemas.microsoft.com/office/powerpoint/2010/main" val="333527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26A9F1-2579-468C-B3C5-B7BFDF2FBBBC}" type="datetimeFigureOut">
              <a:rPr lang="en-US" smtClean="0"/>
              <a:t>2025-11-03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48209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26A9F1-2579-468C-B3C5-B7BFDF2FBBBC}" type="datetimeFigureOut">
              <a:rPr lang="en-US" smtClean="0"/>
              <a:t>2025-11-03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1677282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F26A9F1-2579-468C-B3C5-B7BFDF2FBBBC}" type="datetimeFigureOut">
              <a:rPr lang="en-US" smtClean="0"/>
              <a:t>2025-11-03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172096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F26A9F1-2579-468C-B3C5-B7BFDF2FBBBC}" type="datetimeFigureOut">
              <a:rPr lang="en-US" smtClean="0"/>
              <a:t>2025-11-03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2111720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26A9F1-2579-468C-B3C5-B7BFDF2FBBBC}" type="datetimeFigureOut">
              <a:rPr lang="en-US" smtClean="0"/>
              <a:t>2025-11-03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3906416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F26A9F1-2579-468C-B3C5-B7BFDF2FBBBC}" type="datetimeFigureOut">
              <a:rPr lang="en-US" smtClean="0"/>
              <a:t>2025-11-03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3824770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26A9F1-2579-468C-B3C5-B7BFDF2FBBBC}" type="datetimeFigureOut">
              <a:rPr lang="en-US" smtClean="0"/>
              <a:t>2025-11-03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3175031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F26A9F1-2579-468C-B3C5-B7BFDF2FBBBC}" type="datetimeFigureOut">
              <a:rPr lang="en-US" smtClean="0"/>
              <a:t>2025-11-03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2047491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F26A9F1-2579-468C-B3C5-B7BFDF2FBBBC}" type="datetimeFigureOut">
              <a:rPr lang="en-US" smtClean="0"/>
              <a:t>2025-11-03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327695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26A9F1-2579-468C-B3C5-B7BFDF2FBBBC}" type="datetimeFigureOut">
              <a:rPr lang="en-US" smtClean="0"/>
              <a:t>2025-11-03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365688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26A9F1-2579-468C-B3C5-B7BFDF2FBBBC}" type="datetimeFigureOut">
              <a:rPr lang="en-US" smtClean="0"/>
              <a:t>2025-11-03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E3362D-5329-44CD-B638-4D82EDF55DD1}" type="slidenum">
              <a:rPr lang="en-US" smtClean="0"/>
              <a:t>‹#›</a:t>
            </a:fld>
            <a:endParaRPr lang="en-US"/>
          </a:p>
        </p:txBody>
      </p:sp>
    </p:spTree>
    <p:extLst>
      <p:ext uri="{BB962C8B-B14F-4D97-AF65-F5344CB8AC3E}">
        <p14:creationId xmlns:p14="http://schemas.microsoft.com/office/powerpoint/2010/main" val="3858032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41204"/>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Microsoft YaHei" panose="020B0503020204020204" pitchFamily="34" charset="-122"/>
                <a:ea typeface="Microsoft YaHei" panose="020B0503020204020204" pitchFamily="34" charset="-122"/>
              </a:rPr>
              <a:t>主标题</a:t>
            </a:r>
            <a:r>
              <a:rPr kumimoji="1" lang="en-US" altLang="zh-CN" sz="3600" b="1" dirty="0">
                <a:solidFill>
                  <a:srgbClr val="002F75"/>
                </a:solidFill>
                <a:latin typeface="Microsoft YaHei" panose="020B0503020204020204" pitchFamily="34" charset="-122"/>
                <a:ea typeface="Microsoft YaHei" panose="020B0503020204020204" pitchFamily="34" charset="-122"/>
              </a:rPr>
              <a:t>-</a:t>
            </a:r>
            <a:r>
              <a:rPr kumimoji="1" lang="zh-CN" altLang="en-US" sz="3600" b="1" dirty="0">
                <a:solidFill>
                  <a:srgbClr val="002F75"/>
                </a:solidFill>
                <a:latin typeface="Microsoft YaHei" panose="020B0503020204020204" pitchFamily="34" charset="-122"/>
                <a:ea typeface="Microsoft YaHei" panose="020B0503020204020204" pitchFamily="34" charset="-122"/>
              </a:rPr>
              <a:t>字号</a:t>
            </a:r>
            <a:r>
              <a:rPr kumimoji="1" lang="en-US" altLang="zh-CN" sz="3600" b="1" dirty="0">
                <a:solidFill>
                  <a:srgbClr val="002F75"/>
                </a:solidFill>
                <a:latin typeface="Microsoft YaHei" panose="020B0503020204020204" pitchFamily="34" charset="-122"/>
                <a:ea typeface="Microsoft YaHei" panose="020B0503020204020204" pitchFamily="34" charset="-122"/>
              </a:rPr>
              <a:t>30-36</a:t>
            </a:r>
            <a:endParaRPr kumimoji="1" lang="zh-TW" altLang="en-US" sz="3600" b="1" dirty="0">
              <a:solidFill>
                <a:srgbClr val="002F75"/>
              </a:solidFill>
              <a:latin typeface="Microsoft YaHei" panose="020B0503020204020204" pitchFamily="34" charset="-122"/>
              <a:ea typeface="Microsoft YaHei"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a:rPr>
              <a:t>正文内容</a:t>
            </a:r>
            <a:r>
              <a:rPr kumimoji="1" lang="en-US" altLang="zh-CN" sz="1600" dirty="0">
                <a:latin typeface="+mj-ea"/>
                <a:ea typeface="+mj-ea"/>
                <a:sym typeface="等线"/>
              </a:rPr>
              <a:t>-</a:t>
            </a:r>
            <a:r>
              <a:rPr kumimoji="1" lang="zh-CN" altLang="en-US" sz="1600" dirty="0">
                <a:latin typeface="+mj-ea"/>
                <a:ea typeface="+mj-ea"/>
                <a:sym typeface="等线"/>
              </a:rPr>
              <a:t>字号</a:t>
            </a:r>
            <a:r>
              <a:rPr kumimoji="1" lang="en-US" altLang="zh-CN" sz="1600" dirty="0">
                <a:latin typeface="+mj-ea"/>
                <a:ea typeface="+mj-ea"/>
                <a:sym typeface="等线"/>
              </a:rPr>
              <a:t>12-18</a:t>
            </a:r>
            <a:endParaRPr lang="zh-CN" altLang="en-US" dirty="0"/>
          </a:p>
        </p:txBody>
      </p:sp>
      <p:sp>
        <p:nvSpPr>
          <p:cNvPr id="4" name="灯片编号占位符 5">
            <a:extLst>
              <a:ext uri="{FF2B5EF4-FFF2-40B4-BE49-F238E27FC236}">
                <a16:creationId xmlns:a16="http://schemas.microsoft.com/office/drawing/2014/main" id="{6D06F396-41A5-42E3-5F20-72B3893B151A}"/>
              </a:ext>
            </a:extLst>
          </p:cNvPr>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pPr/>
              <a:t>‹#›</a:t>
            </a:fld>
            <a:r>
              <a:rPr lang="en-US" altLang="zh-CN"/>
              <a:t>/N</a:t>
            </a:r>
          </a:p>
        </p:txBody>
      </p:sp>
      <p:pic>
        <p:nvPicPr>
          <p:cNvPr id="5" name="图片 4">
            <a:extLst>
              <a:ext uri="{FF2B5EF4-FFF2-40B4-BE49-F238E27FC236}">
                <a16:creationId xmlns:a16="http://schemas.microsoft.com/office/drawing/2014/main" id="{A9621F51-BC94-CE0C-016B-69E5DF3456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05882"/>
            <a:ext cx="868837" cy="483117"/>
          </a:xfrm>
          <a:prstGeom prst="rect">
            <a:avLst/>
          </a:prstGeom>
        </p:spPr>
      </p:pic>
    </p:spTree>
    <p:extLst>
      <p:ext uri="{BB962C8B-B14F-4D97-AF65-F5344CB8AC3E}">
        <p14:creationId xmlns:p14="http://schemas.microsoft.com/office/powerpoint/2010/main" val="3944362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26A9F1-2579-468C-B3C5-B7BFDF2FBBBC}" type="datetimeFigureOut">
              <a:rPr lang="en-US" smtClean="0"/>
              <a:t>2025-11-03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E3362D-5329-44CD-B638-4D82EDF55DD1}" type="slidenum">
              <a:rPr lang="en-US" smtClean="0"/>
              <a:t>‹#›</a:t>
            </a:fld>
            <a:endParaRPr lang="en-US"/>
          </a:p>
        </p:txBody>
      </p:sp>
    </p:spTree>
    <p:extLst>
      <p:ext uri="{BB962C8B-B14F-4D97-AF65-F5344CB8AC3E}">
        <p14:creationId xmlns:p14="http://schemas.microsoft.com/office/powerpoint/2010/main" val="611311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23500;&#32879;&#24288;&#21312;&#24050;&#38283;&#36890;&#32178;&#31449;&#28165;&#21934;-.da%20khai%20thong%20total%201126.xlsx"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hyperlink" Target="https://112.efoxconn.com/Home/Index"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hyperlink" Target="https://112.efoxconn.com/Home/Index"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appvn3-cns.myfiinet.com/" TargetMode="External"/><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3200055\AppData\Local\SuperNotes\hong-nhung.hu@mail.foxconn.com\mid\e7c05d4f-73af-4d27-a11b-3c835487865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250371" cy="689025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89792" y="5846885"/>
            <a:ext cx="11321562" cy="920972"/>
          </a:xfrm>
        </p:spPr>
        <p:txBody>
          <a:bodyPr>
            <a:normAutofit/>
          </a:bodyPr>
          <a:lstStyle/>
          <a:p>
            <a:pPr marL="0" indent="0">
              <a:buNone/>
            </a:pPr>
            <a:r>
              <a:rPr lang="en-US" altLang="zh-TW" b="1"/>
              <a:t>D</a:t>
            </a:r>
            <a:r>
              <a:rPr lang="en-US" altLang="zh-TW" b="1" smtClean="0"/>
              <a:t>: CN</a:t>
            </a:r>
            <a:r>
              <a:rPr lang="zh-TW" altLang="en-US" b="1"/>
              <a:t>區 辦公應用權限開</a:t>
            </a:r>
            <a:r>
              <a:rPr lang="zh-TW" altLang="en-US" b="1" smtClean="0"/>
              <a:t>通</a:t>
            </a:r>
            <a:r>
              <a:rPr lang="en-US" altLang="zh-CN" b="1" smtClean="0"/>
              <a:t>-</a:t>
            </a:r>
            <a:r>
              <a:rPr lang="zh-CN" altLang="en-US" b="1" smtClean="0"/>
              <a:t>因</a:t>
            </a:r>
            <a:r>
              <a:rPr lang="en-US" altLang="zh-CN" b="1" smtClean="0"/>
              <a:t>FII</a:t>
            </a:r>
            <a:r>
              <a:rPr lang="zh-CN" altLang="en-US" b="1" smtClean="0"/>
              <a:t>與鴻海網絡切割原因，富聯廠為第一個以獨立新廠區建制網絡之關係，所有富聯廠區外網址均需提前開通權限，</a:t>
            </a:r>
            <a:r>
              <a:rPr lang="en-US" altLang="zh-CN" b="1" smtClean="0"/>
              <a:t>IT</a:t>
            </a:r>
            <a:r>
              <a:rPr lang="zh-CN" altLang="en-US" b="1" smtClean="0"/>
              <a:t>已就部分</a:t>
            </a:r>
            <a:r>
              <a:rPr lang="zh-CN" altLang="en-US" b="1"/>
              <a:t>辦</a:t>
            </a:r>
            <a:r>
              <a:rPr lang="zh-CN" altLang="en-US" b="1" smtClean="0"/>
              <a:t>公網站提前開通了權限，清單見</a:t>
            </a:r>
            <a:r>
              <a:rPr lang="en-US" altLang="zh-CN" b="1" smtClean="0"/>
              <a:t>excel</a:t>
            </a:r>
            <a:r>
              <a:rPr lang="zh-CN" altLang="en-US" b="1" smtClean="0"/>
              <a:t>檔</a:t>
            </a:r>
            <a:r>
              <a:rPr lang="en-US" altLang="zh-CN" b="1" smtClean="0"/>
              <a:t>《</a:t>
            </a:r>
            <a:r>
              <a:rPr lang="zh-TW" altLang="en-US" b="1"/>
              <a:t>富聯廠區已開通網站清單</a:t>
            </a:r>
            <a:r>
              <a:rPr lang="en-US" altLang="zh-TW" b="1"/>
              <a:t>-.</a:t>
            </a:r>
            <a:r>
              <a:rPr lang="en-US" altLang="zh-CN" b="1"/>
              <a:t>da khai thong total 1126》</a:t>
            </a:r>
            <a:r>
              <a:rPr lang="zh-CN" altLang="en-US" b="1" smtClean="0"/>
              <a:t>，清單外網址均需重新申請開通權限，請各單位進駐時提前申請開通。</a:t>
            </a:r>
            <a:endParaRPr lang="en-US" b="1"/>
          </a:p>
        </p:txBody>
      </p:sp>
    </p:spTree>
    <p:extLst>
      <p:ext uri="{BB962C8B-B14F-4D97-AF65-F5344CB8AC3E}">
        <p14:creationId xmlns:p14="http://schemas.microsoft.com/office/powerpoint/2010/main" val="630315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5269" y="302359"/>
            <a:ext cx="10990385" cy="6124754"/>
          </a:xfrm>
          <a:prstGeom prst="rect">
            <a:avLst/>
          </a:prstGeom>
          <a:noFill/>
        </p:spPr>
        <p:txBody>
          <a:bodyPr wrap="square" rtlCol="0">
            <a:spAutoFit/>
          </a:bodyPr>
          <a:lstStyle/>
          <a:p>
            <a:r>
              <a:rPr lang="en-US" sz="2400" b="1" err="1" smtClean="0">
                <a:latin typeface="Times New Roman" panose="02020603050405020304" pitchFamily="18" charset="0"/>
                <a:cs typeface="Times New Roman" panose="02020603050405020304" pitchFamily="18" charset="0"/>
              </a:rPr>
              <a:t>Các</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vấn</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đề</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liên</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quan</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đến</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dịch</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vụ</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mạng</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trong</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khu</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vực</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nhà</a:t>
            </a:r>
            <a:r>
              <a:rPr lang="en-US" sz="2400" b="1" smtClean="0">
                <a:latin typeface="Times New Roman" panose="02020603050405020304" pitchFamily="18" charset="0"/>
                <a:cs typeface="Times New Roman" panose="02020603050405020304" pitchFamily="18" charset="0"/>
              </a:rPr>
              <a:t> </a:t>
            </a:r>
            <a:r>
              <a:rPr lang="en-US" sz="2400" b="1" err="1" smtClean="0">
                <a:latin typeface="Times New Roman" panose="02020603050405020304" pitchFamily="18" charset="0"/>
                <a:cs typeface="Times New Roman" panose="02020603050405020304" pitchFamily="18" charset="0"/>
              </a:rPr>
              <a:t>máy</a:t>
            </a:r>
            <a:r>
              <a:rPr lang="en-US" sz="2400" b="1" smtClean="0">
                <a:latin typeface="Times New Roman" panose="02020603050405020304" pitchFamily="18" charset="0"/>
                <a:cs typeface="Times New Roman" panose="02020603050405020304" pitchFamily="18" charset="0"/>
              </a:rPr>
              <a:t> CN</a:t>
            </a:r>
          </a:p>
          <a:p>
            <a:pPr marL="342900" indent="-342900">
              <a:buAutoNum type="alphaUcPeriod"/>
            </a:pPr>
            <a:r>
              <a:rPr lang="en-US" sz="1600" b="1" err="1" smtClean="0"/>
              <a:t>Thi</a:t>
            </a:r>
            <a:r>
              <a:rPr lang="en-US" sz="1600" b="1" smtClean="0"/>
              <a:t> </a:t>
            </a:r>
            <a:r>
              <a:rPr lang="en-US" sz="1600" b="1" err="1" smtClean="0"/>
              <a:t>công</a:t>
            </a:r>
            <a:r>
              <a:rPr lang="en-US" sz="1600" b="1" smtClean="0"/>
              <a:t> </a:t>
            </a:r>
            <a:r>
              <a:rPr lang="en-US" sz="1600" b="1" err="1" smtClean="0"/>
              <a:t>mạng</a:t>
            </a:r>
            <a:endParaRPr lang="en-US" sz="1600" b="1" smtClean="0"/>
          </a:p>
          <a:p>
            <a:r>
              <a:rPr lang="en-US" sz="1600" smtClean="0"/>
              <a:t>A.1 BU </a:t>
            </a:r>
            <a:r>
              <a:rPr lang="en-US" altLang="zh-CN" sz="1600" smtClean="0"/>
              <a:t>IE </a:t>
            </a:r>
            <a:r>
              <a:rPr lang="en-US" altLang="zh-CN" sz="1600" err="1" smtClean="0"/>
              <a:t>phải</a:t>
            </a:r>
            <a:r>
              <a:rPr lang="en-US" altLang="zh-CN" sz="1600" smtClean="0"/>
              <a:t> </a:t>
            </a:r>
            <a:r>
              <a:rPr lang="en-US" altLang="zh-CN" sz="1600" err="1" smtClean="0"/>
              <a:t>cung</a:t>
            </a:r>
            <a:r>
              <a:rPr lang="en-US" altLang="zh-CN" sz="1600" smtClean="0"/>
              <a:t> </a:t>
            </a:r>
            <a:r>
              <a:rPr lang="en-US" altLang="zh-CN" sz="1600" err="1" smtClean="0"/>
              <a:t>cấp</a:t>
            </a:r>
            <a:r>
              <a:rPr lang="en-US" altLang="zh-CN" sz="1600" smtClean="0"/>
              <a:t> </a:t>
            </a:r>
            <a:r>
              <a:rPr lang="en-US" altLang="zh-CN" sz="1600" err="1" smtClean="0"/>
              <a:t>các</a:t>
            </a:r>
            <a:r>
              <a:rPr lang="en-US" altLang="zh-CN" sz="1600" smtClean="0"/>
              <a:t> </a:t>
            </a:r>
            <a:r>
              <a:rPr lang="en-US" altLang="zh-CN" sz="1600" err="1" smtClean="0"/>
              <a:t>tệp</a:t>
            </a:r>
            <a:r>
              <a:rPr lang="en-US" altLang="zh-CN" sz="1600" smtClean="0"/>
              <a:t> </a:t>
            </a:r>
            <a:r>
              <a:rPr lang="en-US" altLang="zh-CN" sz="1600" err="1" smtClean="0"/>
              <a:t>điện</a:t>
            </a:r>
            <a:r>
              <a:rPr lang="en-US" altLang="zh-CN" sz="1600" smtClean="0"/>
              <a:t> </a:t>
            </a:r>
            <a:r>
              <a:rPr lang="en-US" altLang="zh-CN" sz="1600" err="1" smtClean="0"/>
              <a:t>tử</a:t>
            </a:r>
            <a:r>
              <a:rPr lang="en-US" altLang="zh-CN" sz="1600" smtClean="0"/>
              <a:t> sơ đồ </a:t>
            </a:r>
            <a:r>
              <a:rPr lang="en-US" altLang="zh-CN" sz="1600" err="1" smtClean="0"/>
              <a:t>bố</a:t>
            </a:r>
            <a:r>
              <a:rPr lang="en-US" altLang="zh-CN" sz="1600" smtClean="0"/>
              <a:t> </a:t>
            </a:r>
            <a:r>
              <a:rPr lang="en-US" altLang="zh-CN" sz="1600" err="1" smtClean="0"/>
              <a:t>trí</a:t>
            </a:r>
            <a:r>
              <a:rPr lang="en-US" altLang="zh-CN" sz="1600" smtClean="0"/>
              <a:t> </a:t>
            </a:r>
            <a:r>
              <a:rPr lang="en-US" altLang="zh-CN" sz="1600" err="1" smtClean="0"/>
              <a:t>phân</a:t>
            </a:r>
            <a:r>
              <a:rPr lang="en-US" altLang="zh-CN" sz="1600" smtClean="0"/>
              <a:t> </a:t>
            </a:r>
            <a:r>
              <a:rPr lang="en-US" altLang="zh-CN" sz="1600" err="1" smtClean="0"/>
              <a:t>phối</a:t>
            </a:r>
            <a:r>
              <a:rPr lang="en-US" altLang="zh-CN" sz="1600" smtClean="0"/>
              <a:t> </a:t>
            </a:r>
            <a:r>
              <a:rPr lang="en-US" altLang="zh-CN" sz="1600" err="1" smtClean="0"/>
              <a:t>mạng</a:t>
            </a:r>
            <a:r>
              <a:rPr lang="en-US" altLang="zh-CN" sz="1600" smtClean="0"/>
              <a:t> </a:t>
            </a:r>
            <a:r>
              <a:rPr lang="en-US" altLang="zh-CN" sz="1600" err="1" smtClean="0"/>
              <a:t>và</a:t>
            </a:r>
            <a:r>
              <a:rPr lang="en-US" altLang="zh-CN" sz="1600" smtClean="0"/>
              <a:t> </a:t>
            </a:r>
            <a:r>
              <a:rPr lang="en-US" altLang="zh-CN" sz="1600" err="1" smtClean="0"/>
              <a:t>lịch</a:t>
            </a:r>
            <a:r>
              <a:rPr lang="en-US" altLang="zh-CN" sz="1600" smtClean="0"/>
              <a:t> </a:t>
            </a:r>
            <a:r>
              <a:rPr lang="en-US" altLang="zh-CN" sz="1600" err="1" smtClean="0"/>
              <a:t>trình</a:t>
            </a:r>
            <a:r>
              <a:rPr lang="en-US" altLang="zh-CN" sz="1600" smtClean="0"/>
              <a:t> </a:t>
            </a:r>
            <a:r>
              <a:rPr lang="en-US" altLang="zh-CN" sz="1600" err="1" smtClean="0"/>
              <a:t>nhu</a:t>
            </a:r>
            <a:r>
              <a:rPr lang="en-US" altLang="zh-CN" sz="1600" smtClean="0"/>
              <a:t> </a:t>
            </a:r>
            <a:r>
              <a:rPr lang="en-US" altLang="zh-CN" sz="1600" err="1" smtClean="0"/>
              <a:t>cầu</a:t>
            </a:r>
            <a:r>
              <a:rPr lang="en-US" altLang="zh-CN" sz="1600" smtClean="0"/>
              <a:t> </a:t>
            </a:r>
            <a:r>
              <a:rPr lang="en-US" altLang="zh-CN" sz="1600" err="1" smtClean="0"/>
              <a:t>hoàn</a:t>
            </a:r>
            <a:r>
              <a:rPr lang="en-US" altLang="zh-CN" sz="1600" smtClean="0"/>
              <a:t> </a:t>
            </a:r>
            <a:r>
              <a:rPr lang="en-US" altLang="zh-CN" sz="1600" err="1" smtClean="0"/>
              <a:t>thành</a:t>
            </a:r>
            <a:r>
              <a:rPr lang="en-US" altLang="zh-CN" sz="1600"/>
              <a:t> </a:t>
            </a:r>
            <a:r>
              <a:rPr lang="en-US" altLang="zh-CN" sz="1600" smtClean="0"/>
              <a:t>mạng </a:t>
            </a:r>
            <a:r>
              <a:rPr lang="en-US" altLang="zh-CN" sz="1600" smtClean="0">
                <a:solidFill>
                  <a:srgbClr val="FF0000"/>
                </a:solidFill>
              </a:rPr>
              <a:t>ít </a:t>
            </a:r>
            <a:r>
              <a:rPr lang="en-US" altLang="zh-CN" sz="1600" err="1" smtClean="0">
                <a:solidFill>
                  <a:srgbClr val="FF0000"/>
                </a:solidFill>
              </a:rPr>
              <a:t>nhất</a:t>
            </a:r>
            <a:r>
              <a:rPr lang="en-US" altLang="zh-CN" sz="1600" smtClean="0">
                <a:solidFill>
                  <a:srgbClr val="FF0000"/>
                </a:solidFill>
              </a:rPr>
              <a:t> 2 </a:t>
            </a:r>
            <a:r>
              <a:rPr lang="en-US" altLang="zh-CN" sz="1600" err="1" smtClean="0">
                <a:solidFill>
                  <a:srgbClr val="FF0000"/>
                </a:solidFill>
              </a:rPr>
              <a:t>tuần</a:t>
            </a:r>
            <a:r>
              <a:rPr lang="en-US" altLang="zh-CN" sz="1600" smtClean="0">
                <a:solidFill>
                  <a:srgbClr val="FF0000"/>
                </a:solidFill>
              </a:rPr>
              <a:t> </a:t>
            </a:r>
            <a:r>
              <a:rPr lang="en-US" altLang="zh-CN" sz="1600" err="1" smtClean="0">
                <a:solidFill>
                  <a:srgbClr val="FF0000"/>
                </a:solidFill>
              </a:rPr>
              <a:t>làm</a:t>
            </a:r>
            <a:r>
              <a:rPr lang="en-US" altLang="zh-CN" sz="1600" smtClean="0">
                <a:solidFill>
                  <a:srgbClr val="FF0000"/>
                </a:solidFill>
              </a:rPr>
              <a:t> </a:t>
            </a:r>
            <a:r>
              <a:rPr lang="en-US" altLang="zh-CN" sz="1600" err="1" smtClean="0">
                <a:solidFill>
                  <a:srgbClr val="FF0000"/>
                </a:solidFill>
              </a:rPr>
              <a:t>việc</a:t>
            </a:r>
            <a:r>
              <a:rPr lang="en-US" altLang="zh-CN" sz="1600" smtClean="0">
                <a:solidFill>
                  <a:srgbClr val="FF0000"/>
                </a:solidFill>
              </a:rPr>
              <a:t> </a:t>
            </a:r>
            <a:r>
              <a:rPr lang="en-US" altLang="zh-CN" sz="1600" err="1" smtClean="0">
                <a:solidFill>
                  <a:srgbClr val="FF0000"/>
                </a:solidFill>
              </a:rPr>
              <a:t>trước</a:t>
            </a:r>
            <a:r>
              <a:rPr lang="en-US" altLang="zh-CN" sz="1600" smtClean="0">
                <a:solidFill>
                  <a:srgbClr val="FF0000"/>
                </a:solidFill>
              </a:rPr>
              <a:t> </a:t>
            </a:r>
            <a:r>
              <a:rPr lang="en-US" altLang="zh-CN" sz="1600" err="1" smtClean="0">
                <a:solidFill>
                  <a:srgbClr val="FF0000"/>
                </a:solidFill>
              </a:rPr>
              <a:t>khi</a:t>
            </a:r>
            <a:r>
              <a:rPr lang="en-US" altLang="zh-CN" sz="1600" smtClean="0">
                <a:solidFill>
                  <a:srgbClr val="FF0000"/>
                </a:solidFill>
              </a:rPr>
              <a:t> </a:t>
            </a:r>
            <a:r>
              <a:rPr lang="en-US" altLang="zh-CN" sz="1600" err="1" smtClean="0">
                <a:solidFill>
                  <a:srgbClr val="FF0000"/>
                </a:solidFill>
              </a:rPr>
              <a:t>xây</a:t>
            </a:r>
            <a:r>
              <a:rPr lang="en-US" altLang="zh-CN" sz="1600" smtClean="0">
                <a:solidFill>
                  <a:srgbClr val="FF0000"/>
                </a:solidFill>
              </a:rPr>
              <a:t> </a:t>
            </a:r>
            <a:r>
              <a:rPr lang="en-US" altLang="zh-CN" sz="1600" err="1" smtClean="0">
                <a:solidFill>
                  <a:srgbClr val="FF0000"/>
                </a:solidFill>
              </a:rPr>
              <a:t>dựng</a:t>
            </a:r>
            <a:r>
              <a:rPr lang="en-US" altLang="zh-CN" sz="1600" smtClean="0">
                <a:solidFill>
                  <a:srgbClr val="FF0000"/>
                </a:solidFill>
              </a:rPr>
              <a:t> </a:t>
            </a:r>
            <a:r>
              <a:rPr lang="en-US" altLang="zh-CN" sz="1600" err="1" smtClean="0"/>
              <a:t>để</a:t>
            </a:r>
            <a:r>
              <a:rPr lang="en-US" altLang="zh-CN" sz="1600" smtClean="0"/>
              <a:t> FII </a:t>
            </a:r>
            <a:r>
              <a:rPr lang="en-US" altLang="zh-CN" sz="1600" err="1" smtClean="0"/>
              <a:t>có</a:t>
            </a:r>
            <a:r>
              <a:rPr lang="en-US" altLang="zh-CN" sz="1600" smtClean="0"/>
              <a:t> </a:t>
            </a:r>
            <a:r>
              <a:rPr lang="en-US" altLang="zh-CN" sz="1600" err="1" smtClean="0"/>
              <a:t>thể</a:t>
            </a:r>
            <a:r>
              <a:rPr lang="en-US" altLang="zh-CN" sz="1600" smtClean="0"/>
              <a:t> </a:t>
            </a:r>
            <a:r>
              <a:rPr lang="en-US" altLang="zh-CN" sz="1600" err="1" smtClean="0"/>
              <a:t>điều</a:t>
            </a:r>
            <a:r>
              <a:rPr lang="en-US" altLang="zh-CN" sz="1600" smtClean="0"/>
              <a:t> </a:t>
            </a:r>
            <a:r>
              <a:rPr lang="en-US" altLang="zh-CN" sz="1600" err="1" smtClean="0"/>
              <a:t>phối</a:t>
            </a:r>
            <a:r>
              <a:rPr lang="en-US" altLang="zh-CN" sz="1600" smtClean="0"/>
              <a:t> </a:t>
            </a:r>
            <a:r>
              <a:rPr lang="en-US" altLang="zh-CN" sz="1600" err="1" smtClean="0"/>
              <a:t>nguồn</a:t>
            </a:r>
            <a:r>
              <a:rPr lang="en-US" altLang="zh-CN" sz="1600" smtClean="0"/>
              <a:t> </a:t>
            </a:r>
            <a:r>
              <a:rPr lang="en-US" altLang="zh-CN" sz="1600" err="1" smtClean="0"/>
              <a:t>lực</a:t>
            </a:r>
            <a:r>
              <a:rPr lang="en-US" altLang="zh-CN" sz="1600" smtClean="0"/>
              <a:t> </a:t>
            </a:r>
            <a:r>
              <a:rPr lang="en-US" altLang="zh-CN" sz="1600" err="1" smtClean="0"/>
              <a:t>của</a:t>
            </a:r>
            <a:r>
              <a:rPr lang="en-US" altLang="zh-CN" sz="1600" smtClean="0"/>
              <a:t> </a:t>
            </a:r>
            <a:r>
              <a:rPr lang="en-US" altLang="zh-CN" sz="1600" err="1" smtClean="0"/>
              <a:t>nhà</a:t>
            </a:r>
            <a:r>
              <a:rPr lang="en-US" altLang="zh-CN" sz="1600" smtClean="0"/>
              <a:t> </a:t>
            </a:r>
            <a:r>
              <a:rPr lang="en-US" altLang="zh-CN" sz="1600" err="1" smtClean="0"/>
              <a:t>cung</a:t>
            </a:r>
            <a:r>
              <a:rPr lang="en-US" altLang="zh-CN" sz="1600" smtClean="0"/>
              <a:t> </a:t>
            </a:r>
            <a:r>
              <a:rPr lang="en-US" altLang="zh-CN" sz="1600" err="1" smtClean="0"/>
              <a:t>cấp</a:t>
            </a:r>
            <a:r>
              <a:rPr lang="en-US" altLang="zh-CN" sz="1600" smtClean="0"/>
              <a:t> </a:t>
            </a:r>
            <a:r>
              <a:rPr lang="en-US" altLang="zh-CN" sz="1600" err="1" smtClean="0"/>
              <a:t>tránh</a:t>
            </a:r>
            <a:r>
              <a:rPr lang="en-US" altLang="zh-CN" sz="1600" smtClean="0"/>
              <a:t> </a:t>
            </a:r>
            <a:r>
              <a:rPr lang="en-US" altLang="zh-CN" sz="1600" err="1" smtClean="0"/>
              <a:t>sự</a:t>
            </a:r>
            <a:r>
              <a:rPr lang="en-US" altLang="zh-CN" sz="1600" smtClean="0"/>
              <a:t> </a:t>
            </a:r>
            <a:r>
              <a:rPr lang="en-US" altLang="zh-CN" sz="1600" err="1" smtClean="0"/>
              <a:t>chậm</a:t>
            </a:r>
            <a:r>
              <a:rPr lang="en-US" altLang="zh-CN" sz="1600" smtClean="0"/>
              <a:t> </a:t>
            </a:r>
            <a:r>
              <a:rPr lang="en-US" altLang="zh-CN" sz="1600" err="1" smtClean="0"/>
              <a:t>trễ</a:t>
            </a:r>
            <a:r>
              <a:rPr lang="en-US" altLang="zh-CN" sz="1600" smtClean="0"/>
              <a:t> </a:t>
            </a:r>
            <a:r>
              <a:rPr lang="en-US" altLang="zh-CN" sz="1600" err="1" smtClean="0"/>
              <a:t>về</a:t>
            </a:r>
            <a:r>
              <a:rPr lang="en-US" altLang="zh-CN" sz="1600" smtClean="0"/>
              <a:t> </a:t>
            </a:r>
            <a:r>
              <a:rPr lang="en-US" altLang="zh-CN" sz="1600" err="1" smtClean="0"/>
              <a:t>lịch</a:t>
            </a:r>
            <a:r>
              <a:rPr lang="en-US" altLang="zh-CN" sz="1600" smtClean="0"/>
              <a:t> </a:t>
            </a:r>
            <a:r>
              <a:rPr lang="en-US" altLang="zh-CN" sz="1600" err="1" smtClean="0"/>
              <a:t>trình</a:t>
            </a:r>
            <a:r>
              <a:rPr lang="en-US" altLang="zh-CN" sz="1600" smtClean="0"/>
              <a:t>.</a:t>
            </a:r>
          </a:p>
          <a:p>
            <a:r>
              <a:rPr lang="en-US" sz="1600" smtClean="0"/>
              <a:t>A.2 </a:t>
            </a:r>
            <a:r>
              <a:rPr lang="en-US" sz="1600" err="1" smtClean="0"/>
              <a:t>Khuyến</a:t>
            </a:r>
            <a:r>
              <a:rPr lang="en-US" sz="1600" smtClean="0"/>
              <a:t> </a:t>
            </a:r>
            <a:r>
              <a:rPr lang="en-US" sz="1600" err="1" smtClean="0"/>
              <a:t>nghị</a:t>
            </a:r>
            <a:r>
              <a:rPr lang="en-US" sz="1600" smtClean="0"/>
              <a:t> BU </a:t>
            </a:r>
            <a:r>
              <a:rPr lang="en-US" sz="1600" err="1" smtClean="0"/>
              <a:t>chuẩn</a:t>
            </a:r>
            <a:r>
              <a:rPr lang="en-US" sz="1600" smtClean="0"/>
              <a:t> </a:t>
            </a:r>
            <a:r>
              <a:rPr lang="en-US" sz="1600" err="1" smtClean="0"/>
              <a:t>bị</a:t>
            </a:r>
            <a:r>
              <a:rPr lang="en-US" sz="1600" smtClean="0"/>
              <a:t> </a:t>
            </a:r>
            <a:r>
              <a:rPr lang="en-US" sz="1600" err="1" smtClean="0"/>
              <a:t>vật</a:t>
            </a:r>
            <a:r>
              <a:rPr lang="en-US" sz="1600" smtClean="0"/>
              <a:t> </a:t>
            </a:r>
            <a:r>
              <a:rPr lang="en-US" sz="1600" err="1" smtClean="0"/>
              <a:t>liệu</a:t>
            </a:r>
            <a:r>
              <a:rPr lang="en-US" sz="1600" smtClean="0"/>
              <a:t> </a:t>
            </a:r>
            <a:r>
              <a:rPr lang="en-US" sz="1600" err="1" smtClean="0"/>
              <a:t>cần</a:t>
            </a:r>
            <a:r>
              <a:rPr lang="en-US" sz="1600" smtClean="0"/>
              <a:t> </a:t>
            </a:r>
            <a:r>
              <a:rPr lang="en-US" sz="1600" err="1" smtClean="0"/>
              <a:t>thiết</a:t>
            </a:r>
            <a:r>
              <a:rPr lang="en-US" sz="1600" smtClean="0"/>
              <a:t> </a:t>
            </a:r>
            <a:r>
              <a:rPr lang="en-US" sz="1600" smtClean="0">
                <a:solidFill>
                  <a:srgbClr val="FF0000"/>
                </a:solidFill>
              </a:rPr>
              <a:t>trước hai </a:t>
            </a:r>
            <a:r>
              <a:rPr lang="en-US" sz="1600" err="1" smtClean="0">
                <a:solidFill>
                  <a:srgbClr val="FF0000"/>
                </a:solidFill>
              </a:rPr>
              <a:t>tuần</a:t>
            </a:r>
            <a:r>
              <a:rPr lang="en-US" sz="1600" smtClean="0">
                <a:solidFill>
                  <a:srgbClr val="FF0000"/>
                </a:solidFill>
              </a:rPr>
              <a:t> </a:t>
            </a:r>
            <a:r>
              <a:rPr lang="en-US" sz="1600" err="1" smtClean="0">
                <a:solidFill>
                  <a:srgbClr val="FF0000"/>
                </a:solidFill>
              </a:rPr>
              <a:t>làm</a:t>
            </a:r>
            <a:r>
              <a:rPr lang="en-US" sz="1600" smtClean="0">
                <a:solidFill>
                  <a:srgbClr val="FF0000"/>
                </a:solidFill>
              </a:rPr>
              <a:t> </a:t>
            </a:r>
            <a:r>
              <a:rPr lang="en-US" sz="1600" err="1" smtClean="0">
                <a:solidFill>
                  <a:srgbClr val="FF0000"/>
                </a:solidFill>
              </a:rPr>
              <a:t>việc</a:t>
            </a:r>
            <a:r>
              <a:rPr lang="en-US" sz="1600" smtClean="0">
                <a:solidFill>
                  <a:srgbClr val="FF0000"/>
                </a:solidFill>
              </a:rPr>
              <a:t> </a:t>
            </a:r>
            <a:r>
              <a:rPr lang="en-US" sz="1600" err="1" smtClean="0"/>
              <a:t>trước</a:t>
            </a:r>
            <a:r>
              <a:rPr lang="en-US" sz="1600" smtClean="0"/>
              <a:t> </a:t>
            </a:r>
            <a:r>
              <a:rPr lang="en-US" sz="1600" err="1" smtClean="0"/>
              <a:t>khi</a:t>
            </a:r>
            <a:r>
              <a:rPr lang="en-US" sz="1600" smtClean="0"/>
              <a:t> </a:t>
            </a:r>
            <a:r>
              <a:rPr lang="en-US" sz="1600" err="1" smtClean="0"/>
              <a:t>thi</a:t>
            </a:r>
            <a:r>
              <a:rPr lang="en-US" sz="1600" smtClean="0"/>
              <a:t> </a:t>
            </a:r>
            <a:r>
              <a:rPr lang="en-US" sz="1600" err="1" smtClean="0"/>
              <a:t>công</a:t>
            </a:r>
            <a:r>
              <a:rPr lang="en-US" sz="1600" smtClean="0"/>
              <a:t> </a:t>
            </a:r>
            <a:r>
              <a:rPr lang="en-US" sz="1600" err="1" smtClean="0"/>
              <a:t>hoặc</a:t>
            </a:r>
            <a:r>
              <a:rPr lang="en-US" sz="1600" smtClean="0"/>
              <a:t> </a:t>
            </a:r>
            <a:r>
              <a:rPr lang="en-US" sz="1600" err="1" smtClean="0"/>
              <a:t>ít</a:t>
            </a:r>
            <a:r>
              <a:rPr lang="en-US" sz="1600" smtClean="0"/>
              <a:t> </a:t>
            </a:r>
            <a:r>
              <a:rPr lang="en-US" sz="1600" err="1" smtClean="0"/>
              <a:t>nhất</a:t>
            </a:r>
            <a:r>
              <a:rPr lang="en-US" sz="1600" smtClean="0"/>
              <a:t> </a:t>
            </a:r>
            <a:r>
              <a:rPr lang="en-US" sz="1600" err="1" smtClean="0"/>
              <a:t>đảm</a:t>
            </a:r>
            <a:r>
              <a:rPr lang="en-US" sz="1600" smtClean="0"/>
              <a:t> </a:t>
            </a:r>
            <a:r>
              <a:rPr lang="en-US" sz="1600" err="1" smtClean="0"/>
              <a:t>bảo</a:t>
            </a:r>
            <a:r>
              <a:rPr lang="en-US" sz="1600" smtClean="0"/>
              <a:t> </a:t>
            </a:r>
            <a:r>
              <a:rPr lang="en-US" sz="1600" err="1" smtClean="0"/>
              <a:t>không</a:t>
            </a:r>
            <a:r>
              <a:rPr lang="en-US" sz="1600" smtClean="0"/>
              <a:t> </a:t>
            </a:r>
            <a:r>
              <a:rPr lang="en-US" sz="1600" err="1" smtClean="0"/>
              <a:t>thiếu</a:t>
            </a:r>
            <a:r>
              <a:rPr lang="en-US" sz="1600" smtClean="0"/>
              <a:t> </a:t>
            </a:r>
            <a:r>
              <a:rPr lang="en-US" sz="1600" err="1" smtClean="0"/>
              <a:t>vật</a:t>
            </a:r>
            <a:r>
              <a:rPr lang="en-US" sz="1600" smtClean="0"/>
              <a:t> </a:t>
            </a:r>
            <a:r>
              <a:rPr lang="en-US" sz="1600" err="1" smtClean="0"/>
              <a:t>liệu</a:t>
            </a:r>
            <a:r>
              <a:rPr lang="en-US" sz="1600" smtClean="0"/>
              <a:t> </a:t>
            </a:r>
            <a:r>
              <a:rPr lang="en-US" sz="1600" err="1" smtClean="0"/>
              <a:t>trong</a:t>
            </a:r>
            <a:r>
              <a:rPr lang="en-US" sz="1600" smtClean="0"/>
              <a:t> </a:t>
            </a:r>
            <a:r>
              <a:rPr lang="en-US" sz="1600" err="1" smtClean="0"/>
              <a:t>quá</a:t>
            </a:r>
            <a:r>
              <a:rPr lang="en-US" sz="1600" smtClean="0"/>
              <a:t> </a:t>
            </a:r>
            <a:r>
              <a:rPr lang="en-US" sz="1600" err="1" smtClean="0"/>
              <a:t>trình</a:t>
            </a:r>
            <a:r>
              <a:rPr lang="en-US" sz="1600" smtClean="0"/>
              <a:t> </a:t>
            </a:r>
            <a:r>
              <a:rPr lang="en-US" sz="1600" err="1" smtClean="0"/>
              <a:t>thi</a:t>
            </a:r>
            <a:r>
              <a:rPr lang="en-US" sz="1600" smtClean="0"/>
              <a:t> </a:t>
            </a:r>
            <a:r>
              <a:rPr lang="en-US" sz="1600" err="1" smtClean="0"/>
              <a:t>công</a:t>
            </a:r>
            <a:r>
              <a:rPr lang="en-US" sz="1600" smtClean="0"/>
              <a:t> </a:t>
            </a:r>
            <a:r>
              <a:rPr lang="en-US" sz="1600" err="1" smtClean="0"/>
              <a:t>để</a:t>
            </a:r>
            <a:r>
              <a:rPr lang="en-US" sz="1600" smtClean="0"/>
              <a:t> </a:t>
            </a:r>
            <a:r>
              <a:rPr lang="en-US" sz="1600" err="1" smtClean="0"/>
              <a:t>đảm</a:t>
            </a:r>
            <a:r>
              <a:rPr lang="en-US" sz="1600" smtClean="0"/>
              <a:t> </a:t>
            </a:r>
            <a:r>
              <a:rPr lang="en-US" sz="1600" err="1" smtClean="0"/>
              <a:t>bảo</a:t>
            </a:r>
            <a:r>
              <a:rPr lang="en-US" sz="1600" smtClean="0"/>
              <a:t> </a:t>
            </a:r>
            <a:r>
              <a:rPr lang="en-US" sz="1600" err="1" smtClean="0"/>
              <a:t>tiến</a:t>
            </a:r>
            <a:r>
              <a:rPr lang="en-US" sz="1600" smtClean="0"/>
              <a:t> </a:t>
            </a:r>
            <a:r>
              <a:rPr lang="en-US" sz="1600" err="1" smtClean="0"/>
              <a:t>độ</a:t>
            </a:r>
            <a:r>
              <a:rPr lang="en-US" sz="1600" smtClean="0"/>
              <a:t> </a:t>
            </a:r>
            <a:r>
              <a:rPr lang="en-US" sz="1600" err="1" smtClean="0"/>
              <a:t>thi</a:t>
            </a:r>
            <a:r>
              <a:rPr lang="en-US" sz="1600" smtClean="0"/>
              <a:t> </a:t>
            </a:r>
            <a:r>
              <a:rPr lang="en-US" sz="1600" err="1" smtClean="0"/>
              <a:t>công</a:t>
            </a:r>
            <a:r>
              <a:rPr lang="en-US" sz="1600"/>
              <a:t> </a:t>
            </a:r>
            <a:r>
              <a:rPr lang="en-US" sz="1600" err="1" smtClean="0"/>
              <a:t>không</a:t>
            </a:r>
            <a:r>
              <a:rPr lang="en-US" sz="1600" smtClean="0"/>
              <a:t> </a:t>
            </a:r>
            <a:r>
              <a:rPr lang="en-US" sz="1600" err="1" smtClean="0"/>
              <a:t>bị</a:t>
            </a:r>
            <a:r>
              <a:rPr lang="en-US" sz="1600" smtClean="0"/>
              <a:t> </a:t>
            </a:r>
            <a:r>
              <a:rPr lang="en-US" sz="1600" err="1" smtClean="0"/>
              <a:t>gián</a:t>
            </a:r>
            <a:r>
              <a:rPr lang="en-US" sz="1600" smtClean="0"/>
              <a:t> </a:t>
            </a:r>
            <a:r>
              <a:rPr lang="en-US" sz="1600" err="1" smtClean="0"/>
              <a:t>đoạn</a:t>
            </a:r>
            <a:r>
              <a:rPr lang="en-US" sz="1600" smtClean="0"/>
              <a:t>.</a:t>
            </a:r>
          </a:p>
          <a:p>
            <a:r>
              <a:rPr lang="en-US" sz="1600" b="1" smtClean="0"/>
              <a:t>B. Internet </a:t>
            </a:r>
            <a:r>
              <a:rPr lang="en-US" sz="1600" b="1" err="1" smtClean="0"/>
              <a:t>chuyên</a:t>
            </a:r>
            <a:r>
              <a:rPr lang="en-US" sz="1600" b="1" smtClean="0"/>
              <a:t> </a:t>
            </a:r>
            <a:r>
              <a:rPr lang="en-US" sz="1600" b="1" err="1" smtClean="0"/>
              <a:t>tuyến</a:t>
            </a:r>
            <a:endParaRPr lang="en-US" sz="1600" b="1" smtClean="0"/>
          </a:p>
          <a:p>
            <a:r>
              <a:rPr lang="en-US" sz="1600" smtClean="0"/>
              <a:t>B.1 </a:t>
            </a:r>
            <a:r>
              <a:rPr lang="en-US" sz="1600" err="1" smtClean="0"/>
              <a:t>Trước</a:t>
            </a:r>
            <a:r>
              <a:rPr lang="en-US" sz="1600" smtClean="0"/>
              <a:t> </a:t>
            </a:r>
            <a:r>
              <a:rPr lang="en-US" sz="1600" err="1" smtClean="0"/>
              <a:t>khi</a:t>
            </a:r>
            <a:r>
              <a:rPr lang="en-US" sz="1600" smtClean="0"/>
              <a:t> </a:t>
            </a:r>
            <a:r>
              <a:rPr lang="en-US" sz="1600" err="1" smtClean="0"/>
              <a:t>chuyển</a:t>
            </a:r>
            <a:r>
              <a:rPr lang="en-US" sz="1600" smtClean="0"/>
              <a:t> </a:t>
            </a:r>
            <a:r>
              <a:rPr lang="en-US" sz="1600" err="1" smtClean="0"/>
              <a:t>đến</a:t>
            </a:r>
            <a:r>
              <a:rPr lang="en-US" sz="1600" smtClean="0"/>
              <a:t> BU </a:t>
            </a:r>
            <a:r>
              <a:rPr lang="en-US" sz="1600" err="1" smtClean="0"/>
              <a:t>phải</a:t>
            </a:r>
            <a:r>
              <a:rPr lang="en-US" sz="1600" smtClean="0"/>
              <a:t> </a:t>
            </a:r>
            <a:r>
              <a:rPr lang="en-US" sz="1600" err="1" smtClean="0"/>
              <a:t>tính</a:t>
            </a:r>
            <a:r>
              <a:rPr lang="en-US" sz="1600" smtClean="0"/>
              <a:t> </a:t>
            </a:r>
            <a:r>
              <a:rPr lang="en-US" sz="1600" err="1" smtClean="0"/>
              <a:t>toán</a:t>
            </a:r>
            <a:r>
              <a:rPr lang="en-US" sz="1600" smtClean="0"/>
              <a:t> các </a:t>
            </a:r>
            <a:r>
              <a:rPr lang="en-US" sz="1600" err="1" smtClean="0"/>
              <a:t>yêu</a:t>
            </a:r>
            <a:r>
              <a:rPr lang="en-US" sz="1600" smtClean="0"/>
              <a:t> </a:t>
            </a:r>
            <a:r>
              <a:rPr lang="en-US" sz="1600" err="1" smtClean="0"/>
              <a:t>cầu</a:t>
            </a:r>
            <a:r>
              <a:rPr lang="en-US" sz="1600" smtClean="0"/>
              <a:t> </a:t>
            </a:r>
            <a:r>
              <a:rPr lang="en-US" sz="1600" err="1" smtClean="0"/>
              <a:t>liên</a:t>
            </a:r>
            <a:r>
              <a:rPr lang="en-US" sz="1600" smtClean="0"/>
              <a:t> </a:t>
            </a:r>
            <a:r>
              <a:rPr lang="en-US" sz="1600" err="1" smtClean="0"/>
              <a:t>quan</a:t>
            </a:r>
            <a:r>
              <a:rPr lang="en-US" sz="1600" smtClean="0"/>
              <a:t> </a:t>
            </a:r>
            <a:r>
              <a:rPr lang="en-US" sz="1600" err="1" smtClean="0"/>
              <a:t>đối</a:t>
            </a:r>
            <a:r>
              <a:rPr lang="en-US" sz="1600" smtClean="0"/>
              <a:t> </a:t>
            </a:r>
            <a:r>
              <a:rPr lang="en-US" sz="1600" err="1" smtClean="0"/>
              <a:t>với</a:t>
            </a:r>
            <a:r>
              <a:rPr lang="en-US" sz="1600"/>
              <a:t> </a:t>
            </a:r>
            <a:r>
              <a:rPr lang="en-US" sz="1600" err="1" smtClean="0"/>
              <a:t>đường</a:t>
            </a:r>
            <a:r>
              <a:rPr lang="en-US" sz="1600" smtClean="0"/>
              <a:t> </a:t>
            </a:r>
            <a:r>
              <a:rPr lang="en-US" sz="1600" err="1" smtClean="0"/>
              <a:t>dây</a:t>
            </a:r>
            <a:r>
              <a:rPr lang="en-US" sz="1600" smtClean="0"/>
              <a:t> Internet (</a:t>
            </a:r>
            <a:r>
              <a:rPr lang="en-US" sz="1600" err="1" smtClean="0"/>
              <a:t>bao</a:t>
            </a:r>
            <a:r>
              <a:rPr lang="en-US" sz="1600" smtClean="0"/>
              <a:t> </a:t>
            </a:r>
            <a:r>
              <a:rPr lang="en-US" sz="1600" err="1" smtClean="0"/>
              <a:t>gồm</a:t>
            </a:r>
            <a:r>
              <a:rPr lang="en-US" sz="1600" smtClean="0"/>
              <a:t> </a:t>
            </a:r>
            <a:r>
              <a:rPr lang="en-US" sz="1600" err="1" smtClean="0"/>
              <a:t>số</a:t>
            </a:r>
            <a:r>
              <a:rPr lang="en-US" sz="1600" smtClean="0"/>
              <a:t> </a:t>
            </a:r>
            <a:r>
              <a:rPr lang="en-US" sz="1600" err="1" smtClean="0"/>
              <a:t>lượng</a:t>
            </a:r>
            <a:r>
              <a:rPr lang="en-US" sz="1600" smtClean="0"/>
              <a:t>, quy cách yêu cầu…) </a:t>
            </a:r>
            <a:r>
              <a:rPr lang="en-US" sz="1600" err="1" smtClean="0"/>
              <a:t>và</a:t>
            </a:r>
            <a:r>
              <a:rPr lang="en-US" sz="1600" smtClean="0"/>
              <a:t> </a:t>
            </a:r>
            <a:r>
              <a:rPr lang="en-US" sz="1600" err="1" smtClean="0"/>
              <a:t>cung</a:t>
            </a:r>
            <a:r>
              <a:rPr lang="en-US" sz="1600" smtClean="0"/>
              <a:t> </a:t>
            </a:r>
            <a:r>
              <a:rPr lang="en-US" sz="1600" err="1" smtClean="0"/>
              <a:t>cấp</a:t>
            </a:r>
            <a:r>
              <a:rPr lang="en-US" sz="1600" smtClean="0"/>
              <a:t> </a:t>
            </a:r>
            <a:r>
              <a:rPr lang="en-US" sz="1600" err="1" smtClean="0"/>
              <a:t>cho</a:t>
            </a:r>
            <a:r>
              <a:rPr lang="en-US" sz="1600" smtClean="0"/>
              <a:t> FII IT qua email. </a:t>
            </a:r>
            <a:r>
              <a:rPr lang="en-US" sz="1600" err="1" smtClean="0"/>
              <a:t>Sau</a:t>
            </a:r>
            <a:r>
              <a:rPr lang="en-US" sz="1600" smtClean="0"/>
              <a:t> </a:t>
            </a:r>
            <a:r>
              <a:rPr lang="en-US" sz="1600" err="1" smtClean="0"/>
              <a:t>khi</a:t>
            </a:r>
            <a:r>
              <a:rPr lang="en-US" sz="1600" smtClean="0"/>
              <a:t> FII IT </a:t>
            </a:r>
            <a:r>
              <a:rPr lang="en-US" sz="1600" err="1" smtClean="0"/>
              <a:t>nhận</a:t>
            </a:r>
            <a:r>
              <a:rPr lang="en-US" sz="1600" smtClean="0"/>
              <a:t> </a:t>
            </a:r>
            <a:r>
              <a:rPr lang="en-US" sz="1600" err="1" smtClean="0"/>
              <a:t>được</a:t>
            </a:r>
            <a:r>
              <a:rPr lang="en-US" sz="1600" smtClean="0"/>
              <a:t> </a:t>
            </a:r>
            <a:r>
              <a:rPr lang="en-US" sz="1600" err="1" smtClean="0"/>
              <a:t>yêu</a:t>
            </a:r>
            <a:r>
              <a:rPr lang="en-US" sz="1600" smtClean="0"/>
              <a:t> </a:t>
            </a:r>
            <a:r>
              <a:rPr lang="en-US" sz="1600" err="1" smtClean="0"/>
              <a:t>cầu</a:t>
            </a:r>
            <a:r>
              <a:rPr lang="en-US" sz="1600" smtClean="0"/>
              <a:t> </a:t>
            </a:r>
            <a:r>
              <a:rPr lang="en-US" sz="1600" err="1" smtClean="0"/>
              <a:t>sẽ</a:t>
            </a:r>
            <a:r>
              <a:rPr lang="en-US" sz="1600" smtClean="0"/>
              <a:t> </a:t>
            </a:r>
            <a:r>
              <a:rPr lang="en-US" sz="1600" err="1" smtClean="0"/>
              <a:t>xác</a:t>
            </a:r>
            <a:r>
              <a:rPr lang="en-US" sz="1600" smtClean="0"/>
              <a:t> </a:t>
            </a:r>
            <a:r>
              <a:rPr lang="en-US" sz="1600" err="1" smtClean="0"/>
              <a:t>nhận</a:t>
            </a:r>
            <a:r>
              <a:rPr lang="en-US" sz="1600" smtClean="0"/>
              <a:t> </a:t>
            </a:r>
            <a:r>
              <a:rPr lang="en-US" sz="1600" err="1" smtClean="0"/>
              <a:t>báo</a:t>
            </a:r>
            <a:r>
              <a:rPr lang="en-US" sz="1600" smtClean="0"/>
              <a:t> </a:t>
            </a:r>
            <a:r>
              <a:rPr lang="en-US" sz="1600" err="1" smtClean="0"/>
              <a:t>giá</a:t>
            </a:r>
            <a:r>
              <a:rPr lang="en-US" sz="1600" smtClean="0"/>
              <a:t> </a:t>
            </a:r>
            <a:r>
              <a:rPr lang="en-US" sz="1600" err="1" smtClean="0"/>
              <a:t>với</a:t>
            </a:r>
            <a:r>
              <a:rPr lang="en-US" sz="1600" smtClean="0"/>
              <a:t> FII Thu </a:t>
            </a:r>
            <a:r>
              <a:rPr lang="en-US" sz="1600" err="1"/>
              <a:t>M</a:t>
            </a:r>
            <a:r>
              <a:rPr lang="en-US" sz="1600" smtClean="0"/>
              <a:t>ua </a:t>
            </a:r>
            <a:r>
              <a:rPr lang="en-US" sz="1600" err="1" smtClean="0"/>
              <a:t>và</a:t>
            </a:r>
            <a:r>
              <a:rPr lang="en-US" sz="1600" smtClean="0"/>
              <a:t> </a:t>
            </a:r>
            <a:r>
              <a:rPr lang="en-US" sz="1600" err="1" smtClean="0"/>
              <a:t>phản</a:t>
            </a:r>
            <a:r>
              <a:rPr lang="en-US" sz="1600" smtClean="0"/>
              <a:t> </a:t>
            </a:r>
            <a:r>
              <a:rPr lang="en-US" sz="1600" err="1" smtClean="0"/>
              <a:t>hồi</a:t>
            </a:r>
            <a:r>
              <a:rPr lang="en-US" sz="1600" smtClean="0"/>
              <a:t> </a:t>
            </a:r>
            <a:r>
              <a:rPr lang="en-US" sz="1600" err="1" smtClean="0"/>
              <a:t>dự</a:t>
            </a:r>
            <a:r>
              <a:rPr lang="en-US" sz="1600" smtClean="0"/>
              <a:t> </a:t>
            </a:r>
            <a:r>
              <a:rPr lang="en-US" sz="1600" err="1" smtClean="0"/>
              <a:t>toán</a:t>
            </a:r>
            <a:r>
              <a:rPr lang="en-US" sz="1600" smtClean="0"/>
              <a:t> </a:t>
            </a:r>
            <a:r>
              <a:rPr lang="en-US" sz="1600" err="1" smtClean="0"/>
              <a:t>cho</a:t>
            </a:r>
            <a:r>
              <a:rPr lang="en-US" sz="1600" smtClean="0"/>
              <a:t> </a:t>
            </a:r>
            <a:r>
              <a:rPr lang="en-US" sz="1600" err="1" smtClean="0"/>
              <a:t>đơn</a:t>
            </a:r>
            <a:r>
              <a:rPr lang="en-US" sz="1600" smtClean="0"/>
              <a:t> </a:t>
            </a:r>
            <a:r>
              <a:rPr lang="en-US" sz="1600" err="1" smtClean="0"/>
              <a:t>vị</a:t>
            </a:r>
            <a:r>
              <a:rPr lang="en-US" sz="1600" smtClean="0"/>
              <a:t> </a:t>
            </a:r>
            <a:r>
              <a:rPr lang="en-US" sz="1600" err="1" smtClean="0"/>
              <a:t>yêu</a:t>
            </a:r>
            <a:r>
              <a:rPr lang="en-US" sz="1600" smtClean="0"/>
              <a:t> </a:t>
            </a:r>
            <a:r>
              <a:rPr lang="en-US" sz="1600" err="1" smtClean="0"/>
              <a:t>cầu</a:t>
            </a:r>
            <a:r>
              <a:rPr lang="en-US" sz="1600" smtClean="0"/>
              <a:t>. Đơn vị có nhu cầu căn cứ theo dự toán, gửi ra các yêu cầu chính thức trên hệ thống đơn liên lạc FII. Các yêu cầu này phải được ký duyệt </a:t>
            </a:r>
            <a:r>
              <a:rPr lang="en-US" sz="1600" smtClean="0">
                <a:solidFill>
                  <a:srgbClr val="FF0000"/>
                </a:solidFill>
              </a:rPr>
              <a:t>10 ngày </a:t>
            </a:r>
            <a:r>
              <a:rPr lang="en-US" sz="1600" smtClean="0"/>
              <a:t>trước ngày chỉ tiêu hoàn thành xây dựng (theo kinh nghiệm của FII: kiến nghị nên yêu cầu trước </a:t>
            </a:r>
            <a:r>
              <a:rPr lang="en-US" altLang="zh-CN" sz="1600" smtClean="0"/>
              <a:t>khoảng </a:t>
            </a:r>
            <a:r>
              <a:rPr lang="en-US" sz="1600" smtClean="0"/>
              <a:t>50 ngày)</a:t>
            </a:r>
          </a:p>
          <a:p>
            <a:r>
              <a:rPr lang="en-US" sz="1600" b="1" u="sng" smtClean="0"/>
              <a:t>Lưu trình ký duyệt</a:t>
            </a:r>
            <a:r>
              <a:rPr lang="en-US" sz="1600" smtClean="0"/>
              <a:t>: Người làm đơn-&gt;chủ quản bộ phận-&gt; CNSBG IT-</a:t>
            </a:r>
            <a:r>
              <a:rPr lang="en-US" sz="1600"/>
              <a:t>&gt;chủ quản kinh tế và quản lý-&gt;FII </a:t>
            </a:r>
            <a:r>
              <a:rPr lang="en-US" sz="1600" smtClean="0"/>
              <a:t>IT-&gt;FII thu mua</a:t>
            </a:r>
            <a:r>
              <a:rPr lang="en-US" altLang="zh-CN" sz="1600" smtClean="0"/>
              <a:t>-&gt;Phó tổng ZhuangZuYI phê duyệt.</a:t>
            </a:r>
          </a:p>
          <a:p>
            <a:r>
              <a:rPr lang="en-US" sz="1600" b="1" smtClean="0"/>
              <a:t>C. </a:t>
            </a:r>
            <a:r>
              <a:rPr lang="en-US" altLang="zh-CN" sz="1600" b="1" smtClean="0"/>
              <a:t>Quyền mạng</a:t>
            </a:r>
          </a:p>
          <a:p>
            <a:r>
              <a:rPr lang="en-US" sz="1600" smtClean="0"/>
              <a:t>C.1 Quyền mạng không dây: Mạng Hồng Hải ban đầu là </a:t>
            </a:r>
            <a:r>
              <a:rPr lang="en-US" sz="1600" smtClean="0">
                <a:solidFill>
                  <a:srgbClr val="FF0000"/>
                </a:solidFill>
              </a:rPr>
              <a:t>300301 và 300302</a:t>
            </a:r>
            <a:r>
              <a:rPr lang="en-US" sz="1600" smtClean="0"/>
              <a:t>, còn của FII FULIAN là </a:t>
            </a:r>
            <a:r>
              <a:rPr lang="en-US" sz="1600" smtClean="0">
                <a:solidFill>
                  <a:srgbClr val="FF0000"/>
                </a:solidFill>
              </a:rPr>
              <a:t>FII300301 và FII300302</a:t>
            </a:r>
            <a:r>
              <a:rPr lang="en-US" sz="1600" smtClean="0"/>
              <a:t>, cần đăng ký quyền hạn trên 2.0 trước.</a:t>
            </a:r>
          </a:p>
          <a:p>
            <a:r>
              <a:rPr lang="en-US" sz="1600" smtClean="0"/>
              <a:t>C.2 Hệ thống mạng điện thoại: Mạng điện thoại Hồng Hải ban đầu là </a:t>
            </a:r>
            <a:r>
              <a:rPr lang="en-US" sz="1600" smtClean="0">
                <a:solidFill>
                  <a:srgbClr val="FF0000"/>
                </a:solidFill>
              </a:rPr>
              <a:t>5035+xxxxx</a:t>
            </a:r>
            <a:r>
              <a:rPr lang="en-US" sz="1600" smtClean="0"/>
              <a:t>, còn của </a:t>
            </a:r>
            <a:r>
              <a:rPr lang="en-US" altLang="zh-CN" sz="1600" smtClean="0"/>
              <a:t>FII FULIAN là </a:t>
            </a:r>
            <a:r>
              <a:rPr lang="en-US" altLang="zh-CN" sz="1600" smtClean="0">
                <a:solidFill>
                  <a:srgbClr val="FF0000"/>
                </a:solidFill>
              </a:rPr>
              <a:t>5935+70xxx</a:t>
            </a:r>
            <a:r>
              <a:rPr lang="en-US" altLang="zh-CN" sz="1600" smtClean="0"/>
              <a:t>, cần đăng ký quyền hạn trên 2.0 trước </a:t>
            </a:r>
          </a:p>
          <a:p>
            <a:r>
              <a:rPr lang="en-US" sz="1600" smtClean="0"/>
              <a:t>C.3 Khai thông quyền liên quan đến sản xuất: Các quyền mạng cần kích hoạt phải được phối hợp xác nhận trước với bộ phận IT</a:t>
            </a:r>
          </a:p>
          <a:p>
            <a:r>
              <a:rPr lang="en-US" altLang="zh-CN" sz="1600" b="1" smtClean="0"/>
              <a:t>D. Khai thông quyền hạn ứng dụng văn phòng tại CN</a:t>
            </a:r>
            <a:r>
              <a:rPr lang="en-US" altLang="zh-CN" sz="1600" smtClean="0"/>
              <a:t>. Do có sự khác biệt mạng lưới giữa FII và Hồng Hải, Nhà máy Fulian là nhà máy đầu tiên thiết lập mạng lưới, tất cả các địa chỉ mạng ngoài đều cần mở quyền hạn trước, một số trang web văn phòng đã được IT kích hoạt trước, danh sách trong File </a:t>
            </a:r>
            <a:r>
              <a:rPr lang="zh-TW" altLang="en-US" sz="1600" smtClean="0">
                <a:hlinkClick r:id="rId3" action="ppaction://hlinkfile"/>
              </a:rPr>
              <a:t>富聯廠區已開通網站清單</a:t>
            </a:r>
            <a:r>
              <a:rPr lang="en-US" altLang="zh-TW" sz="1600" smtClean="0">
                <a:hlinkClick r:id="rId3" action="ppaction://hlinkfile"/>
              </a:rPr>
              <a:t>-.</a:t>
            </a:r>
            <a:r>
              <a:rPr lang="en-US" altLang="zh-CN" sz="1600" smtClean="0">
                <a:hlinkClick r:id="rId3" action="ppaction://hlinkfile"/>
              </a:rPr>
              <a:t>da khai thong total 1126.xlsx</a:t>
            </a:r>
            <a:r>
              <a:rPr lang="en-US" altLang="zh-CN" sz="1600" smtClean="0"/>
              <a:t> Các trang web không nằm trong danh sách trên cần xin kích hoạt lại, tất cả các đơn vị đều cần xin kích hoạt trước.</a:t>
            </a:r>
            <a:endParaRPr lang="en-US" sz="1600"/>
          </a:p>
        </p:txBody>
      </p:sp>
    </p:spTree>
    <p:extLst>
      <p:ext uri="{BB962C8B-B14F-4D97-AF65-F5344CB8AC3E}">
        <p14:creationId xmlns:p14="http://schemas.microsoft.com/office/powerpoint/2010/main" val="159168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字方塊 11"/>
          <p:cNvSpPr txBox="1"/>
          <p:nvPr/>
        </p:nvSpPr>
        <p:spPr>
          <a:xfrm>
            <a:off x="984801" y="29791"/>
            <a:ext cx="5574197" cy="954107"/>
          </a:xfrm>
          <a:prstGeom prst="rect">
            <a:avLst/>
          </a:prstGeom>
          <a:noFill/>
        </p:spPr>
        <p:txBody>
          <a:bodyPr wrap="square" rtlCol="0">
            <a:spAutoFit/>
          </a:bodyPr>
          <a:lstStyle>
            <a:defPPr>
              <a:defRPr lang="zh-CN"/>
            </a:defPPr>
            <a:lvl1pPr>
              <a:defRPr sz="2800" b="1">
                <a:solidFill>
                  <a:srgbClr val="0070C0"/>
                </a:solidFill>
                <a:latin typeface="微軟正黑體" panose="020B0604030504040204" pitchFamily="34" charset="-120"/>
                <a:ea typeface="微軟正黑體" panose="020B0604030504040204" pitchFamily="34" charset="-120"/>
              </a:defRPr>
            </a:lvl1pPr>
          </a:lstStyle>
          <a:p>
            <a:r>
              <a:rPr lang="zh-CN" altLang="en-US"/>
              <a:t>網絡特殊需求申請</a:t>
            </a:r>
            <a:r>
              <a:rPr lang="zh-CN" altLang="en-US" smtClean="0"/>
              <a:t>方法</a:t>
            </a:r>
            <a:endParaRPr lang="en-US" altLang="zh-CN" smtClean="0"/>
          </a:p>
          <a:p>
            <a:r>
              <a:rPr lang="en-US" altLang="zh-TW" err="1" smtClean="0">
                <a:latin typeface="Times New Roman" panose="02020603050405020304" pitchFamily="18" charset="0"/>
                <a:cs typeface="Times New Roman" panose="02020603050405020304" pitchFamily="18" charset="0"/>
              </a:rPr>
              <a:t>Đăng</a:t>
            </a:r>
            <a:r>
              <a:rPr lang="en-US" altLang="zh-TW" smtClean="0">
                <a:latin typeface="Times New Roman" panose="02020603050405020304" pitchFamily="18" charset="0"/>
                <a:cs typeface="Times New Roman" panose="02020603050405020304" pitchFamily="18" charset="0"/>
              </a:rPr>
              <a:t> </a:t>
            </a:r>
            <a:r>
              <a:rPr lang="en-US" altLang="zh-TW" err="1" smtClean="0">
                <a:latin typeface="Times New Roman" panose="02020603050405020304" pitchFamily="18" charset="0"/>
                <a:cs typeface="Times New Roman" panose="02020603050405020304" pitchFamily="18" charset="0"/>
              </a:rPr>
              <a:t>ký</a:t>
            </a:r>
            <a:r>
              <a:rPr lang="en-US" altLang="zh-TW" smtClean="0">
                <a:latin typeface="Times New Roman" panose="02020603050405020304" pitchFamily="18" charset="0"/>
                <a:cs typeface="Times New Roman" panose="02020603050405020304" pitchFamily="18" charset="0"/>
              </a:rPr>
              <a:t> </a:t>
            </a:r>
            <a:r>
              <a:rPr lang="en-US" altLang="zh-TW" err="1" smtClean="0">
                <a:latin typeface="Times New Roman" panose="02020603050405020304" pitchFamily="18" charset="0"/>
                <a:cs typeface="Times New Roman" panose="02020603050405020304" pitchFamily="18" charset="0"/>
              </a:rPr>
              <a:t>sử</a:t>
            </a:r>
            <a:r>
              <a:rPr lang="en-US" altLang="zh-TW" smtClean="0">
                <a:latin typeface="Times New Roman" panose="02020603050405020304" pitchFamily="18" charset="0"/>
                <a:cs typeface="Times New Roman" panose="02020603050405020304" pitchFamily="18" charset="0"/>
              </a:rPr>
              <a:t> </a:t>
            </a:r>
            <a:r>
              <a:rPr lang="en-US" altLang="zh-TW" err="1" smtClean="0">
                <a:latin typeface="Times New Roman" panose="02020603050405020304" pitchFamily="18" charset="0"/>
                <a:cs typeface="Times New Roman" panose="02020603050405020304" pitchFamily="18" charset="0"/>
              </a:rPr>
              <a:t>dụng</a:t>
            </a:r>
            <a:r>
              <a:rPr lang="en-US" altLang="zh-TW" smtClean="0">
                <a:latin typeface="Times New Roman" panose="02020603050405020304" pitchFamily="18" charset="0"/>
                <a:cs typeface="Times New Roman" panose="02020603050405020304" pitchFamily="18" charset="0"/>
              </a:rPr>
              <a:t> </a:t>
            </a:r>
            <a:r>
              <a:rPr lang="en-US" altLang="zh-TW" err="1" smtClean="0">
                <a:latin typeface="Times New Roman" panose="02020603050405020304" pitchFamily="18" charset="0"/>
                <a:cs typeface="Times New Roman" panose="02020603050405020304" pitchFamily="18" charset="0"/>
              </a:rPr>
              <a:t>mạng</a:t>
            </a:r>
            <a:r>
              <a:rPr lang="en-US" altLang="zh-TW" smtClean="0">
                <a:latin typeface="Times New Roman" panose="02020603050405020304" pitchFamily="18" charset="0"/>
                <a:cs typeface="Times New Roman" panose="02020603050405020304" pitchFamily="18" charset="0"/>
              </a:rPr>
              <a:t> </a:t>
            </a:r>
            <a:r>
              <a:rPr lang="en-US" altLang="zh-TW" err="1" smtClean="0">
                <a:latin typeface="Times New Roman" panose="02020603050405020304" pitchFamily="18" charset="0"/>
                <a:cs typeface="Times New Roman" panose="02020603050405020304" pitchFamily="18" charset="0"/>
              </a:rPr>
              <a:t>đặc</a:t>
            </a:r>
            <a:r>
              <a:rPr lang="en-US" altLang="zh-TW" smtClean="0">
                <a:latin typeface="Times New Roman" panose="02020603050405020304" pitchFamily="18" charset="0"/>
                <a:cs typeface="Times New Roman" panose="02020603050405020304" pitchFamily="18" charset="0"/>
              </a:rPr>
              <a:t> thù</a:t>
            </a:r>
            <a:endParaRPr lang="zh-TW" altLang="en-US">
              <a:latin typeface="Times New Roman" panose="02020603050405020304" pitchFamily="18" charset="0"/>
              <a:cs typeface="Times New Roman" panose="02020603050405020304" pitchFamily="18" charset="0"/>
            </a:endParaRPr>
          </a:p>
        </p:txBody>
      </p:sp>
      <p:pic>
        <p:nvPicPr>
          <p:cNvPr id="57" name="圖片 56"/>
          <p:cNvPicPr>
            <a:picLocks noChangeAspect="1"/>
          </p:cNvPicPr>
          <p:nvPr/>
        </p:nvPicPr>
        <p:blipFill>
          <a:blip r:embed="rId2"/>
          <a:stretch>
            <a:fillRect/>
          </a:stretch>
        </p:blipFill>
        <p:spPr>
          <a:xfrm>
            <a:off x="3481863" y="1017027"/>
            <a:ext cx="8586189" cy="5479902"/>
          </a:xfrm>
          <a:prstGeom prst="rect">
            <a:avLst/>
          </a:prstGeom>
        </p:spPr>
      </p:pic>
      <p:sp>
        <p:nvSpPr>
          <p:cNvPr id="5" name="矩形 4"/>
          <p:cNvSpPr/>
          <p:nvPr/>
        </p:nvSpPr>
        <p:spPr>
          <a:xfrm>
            <a:off x="4800598" y="3194612"/>
            <a:ext cx="448408" cy="28936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5410198" y="3691422"/>
            <a:ext cx="691662" cy="28936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4800598" y="4186722"/>
            <a:ext cx="691662" cy="28936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4923692" y="4591836"/>
            <a:ext cx="1178168" cy="28936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 name="圖片 1"/>
          <p:cNvPicPr>
            <a:picLocks noChangeAspect="1"/>
          </p:cNvPicPr>
          <p:nvPr/>
        </p:nvPicPr>
        <p:blipFill>
          <a:blip r:embed="rId3"/>
          <a:stretch>
            <a:fillRect/>
          </a:stretch>
        </p:blipFill>
        <p:spPr>
          <a:xfrm>
            <a:off x="92449" y="1125948"/>
            <a:ext cx="3679451" cy="2068664"/>
          </a:xfrm>
          <a:prstGeom prst="rect">
            <a:avLst/>
          </a:prstGeom>
        </p:spPr>
      </p:pic>
      <p:cxnSp>
        <p:nvCxnSpPr>
          <p:cNvPr id="9" name="直線單箭頭接點 8"/>
          <p:cNvCxnSpPr/>
          <p:nvPr/>
        </p:nvCxnSpPr>
        <p:spPr>
          <a:xfrm>
            <a:off x="2127738" y="2373923"/>
            <a:ext cx="1853710" cy="1563996"/>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08881" y="3273878"/>
            <a:ext cx="3563018" cy="584775"/>
          </a:xfrm>
          <a:prstGeom prst="rect">
            <a:avLst/>
          </a:prstGeom>
        </p:spPr>
        <p:txBody>
          <a:bodyPr wrap="square">
            <a:spAutoFit/>
          </a:bodyPr>
          <a:lstStyle/>
          <a:p>
            <a:r>
              <a:rPr lang="en-US" altLang="zh-TW" sz="1600" b="1" smtClean="0">
                <a:hlinkClick r:id="rId4"/>
              </a:rPr>
              <a:t>Đăng nhập hệ thống: 112</a:t>
            </a:r>
            <a:r>
              <a:rPr lang="zh-TW" altLang="en-US" sz="1600" b="1">
                <a:hlinkClick r:id="rId4"/>
              </a:rPr>
              <a:t>電子</a:t>
            </a:r>
            <a:r>
              <a:rPr lang="zh-TW" altLang="en-US" sz="1600" b="1" smtClean="0">
                <a:hlinkClick r:id="rId4"/>
              </a:rPr>
              <a:t>作業系統</a:t>
            </a:r>
            <a:r>
              <a:rPr lang="zh-TW" altLang="en-US" sz="1600" b="1" smtClean="0"/>
              <a:t>  </a:t>
            </a:r>
            <a:r>
              <a:rPr lang="en-GB" altLang="zh-TW" sz="1600" b="1"/>
              <a:t>https://112.efoxconn.com/Home/Index</a:t>
            </a:r>
            <a:endParaRPr lang="zh-TW" altLang="en-US" sz="1600" b="1"/>
          </a:p>
        </p:txBody>
      </p:sp>
      <p:graphicFrame>
        <p:nvGraphicFramePr>
          <p:cNvPr id="14" name="表格 13"/>
          <p:cNvGraphicFramePr>
            <a:graphicFrameLocks noGrp="1"/>
          </p:cNvGraphicFramePr>
          <p:nvPr>
            <p:extLst>
              <p:ext uri="{D42A27DB-BD31-4B8C-83A1-F6EECF244321}">
                <p14:modId xmlns:p14="http://schemas.microsoft.com/office/powerpoint/2010/main" val="589308078"/>
              </p:ext>
            </p:extLst>
          </p:nvPr>
        </p:nvGraphicFramePr>
        <p:xfrm>
          <a:off x="618991" y="3937919"/>
          <a:ext cx="2700972" cy="2590800"/>
        </p:xfrm>
        <a:graphic>
          <a:graphicData uri="http://schemas.openxmlformats.org/drawingml/2006/table">
            <a:tbl>
              <a:tblPr firstRow="1" bandRow="1">
                <a:tableStyleId>{5C22544A-7EE6-4342-B048-85BDC9FD1C3A}</a:tableStyleId>
              </a:tblPr>
              <a:tblGrid>
                <a:gridCol w="1111567">
                  <a:extLst>
                    <a:ext uri="{9D8B030D-6E8A-4147-A177-3AD203B41FA5}">
                      <a16:colId xmlns:a16="http://schemas.microsoft.com/office/drawing/2014/main" val="2840601549"/>
                    </a:ext>
                  </a:extLst>
                </a:gridCol>
                <a:gridCol w="1589405">
                  <a:extLst>
                    <a:ext uri="{9D8B030D-6E8A-4147-A177-3AD203B41FA5}">
                      <a16:colId xmlns:a16="http://schemas.microsoft.com/office/drawing/2014/main" val="2651740656"/>
                    </a:ext>
                  </a:extLst>
                </a:gridCol>
              </a:tblGrid>
              <a:tr h="125262">
                <a:tc gridSpan="2">
                  <a:txBody>
                    <a:bodyPr/>
                    <a:lstStyle/>
                    <a:p>
                      <a:pPr algn="l"/>
                      <a:r>
                        <a:rPr lang="zh-CN" altLang="en-US" sz="1000" dirty="0" smtClean="0">
                          <a:latin typeface="微軟正黑體" panose="020B0604030504040204" pitchFamily="34" charset="-120"/>
                          <a:ea typeface="微軟正黑體" panose="020B0604030504040204" pitchFamily="34" charset="-120"/>
                        </a:rPr>
                        <a:t>簽核流程</a:t>
                      </a:r>
                      <a:endParaRPr lang="zh-TW" altLang="en-US" sz="1000" dirty="0">
                        <a:latin typeface="微軟正黑體" panose="020B0604030504040204" pitchFamily="34" charset="-120"/>
                        <a:ea typeface="微軟正黑體" panose="020B0604030504040204" pitchFamily="34" charset="-120"/>
                      </a:endParaRPr>
                    </a:p>
                  </a:txBody>
                  <a:tcPr anchor="ctr"/>
                </a:tc>
                <a:tc hMerge="1">
                  <a:txBody>
                    <a:bodyPr/>
                    <a:lstStyle/>
                    <a:p>
                      <a:endParaRPr lang="zh-TW" altLang="en-US" dirty="0"/>
                    </a:p>
                  </a:txBody>
                  <a:tcPr/>
                </a:tc>
                <a:extLst>
                  <a:ext uri="{0D108BD9-81ED-4DB2-BD59-A6C34878D82A}">
                    <a16:rowId xmlns:a16="http://schemas.microsoft.com/office/drawing/2014/main" val="340014492"/>
                  </a:ext>
                </a:extLst>
              </a:tr>
              <a:tr h="125262">
                <a:tc>
                  <a:txBody>
                    <a:bodyPr/>
                    <a:lstStyle/>
                    <a:p>
                      <a:pPr algn="ctr"/>
                      <a:r>
                        <a:rPr lang="en-US" altLang="zh-TW" sz="1000" dirty="0" smtClean="0">
                          <a:latin typeface="微軟正黑體" panose="020B0604030504040204" pitchFamily="34" charset="-120"/>
                          <a:ea typeface="微軟正黑體" panose="020B0604030504040204" pitchFamily="34" charset="-120"/>
                        </a:rPr>
                        <a:t>BU</a:t>
                      </a:r>
                      <a:r>
                        <a:rPr lang="zh-CN" altLang="en-US" sz="1000" dirty="0" smtClean="0">
                          <a:latin typeface="微軟正黑體" panose="020B0604030504040204" pitchFamily="34" charset="-120"/>
                          <a:ea typeface="微軟正黑體" panose="020B0604030504040204" pitchFamily="34" charset="-120"/>
                        </a:rPr>
                        <a:t>主管簽核</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zh-CN" altLang="en-US" sz="1000" dirty="0" smtClean="0">
                          <a:latin typeface="微軟正黑體" panose="020B0604030504040204" pitchFamily="34" charset="-120"/>
                          <a:ea typeface="微軟正黑體" panose="020B0604030504040204" pitchFamily="34" charset="-120"/>
                        </a:rPr>
                        <a:t>直屬主管</a:t>
                      </a:r>
                      <a:r>
                        <a:rPr lang="en-US" altLang="zh-CN" sz="10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zh-CN"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處級主管</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12751546"/>
                  </a:ext>
                </a:extLst>
              </a:tr>
              <a:tr h="125262">
                <a:tc>
                  <a:txBody>
                    <a:bodyPr/>
                    <a:lstStyle/>
                    <a:p>
                      <a:pPr algn="ctr"/>
                      <a:r>
                        <a:rPr lang="en-US" altLang="zh-TW" sz="1000" dirty="0" smtClean="0">
                          <a:latin typeface="微軟正黑體" panose="020B0604030504040204" pitchFamily="34" charset="-120"/>
                          <a:ea typeface="微軟正黑體" panose="020B0604030504040204" pitchFamily="34" charset="-120"/>
                        </a:rPr>
                        <a:t>IT</a:t>
                      </a:r>
                      <a:r>
                        <a:rPr lang="zh-CN" altLang="en-US" sz="1000" dirty="0" smtClean="0">
                          <a:latin typeface="微軟正黑體" panose="020B0604030504040204" pitchFamily="34" charset="-120"/>
                          <a:ea typeface="微軟正黑體" panose="020B0604030504040204" pitchFamily="34" charset="-120"/>
                        </a:rPr>
                        <a:t>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G6000576</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158779301"/>
                  </a:ext>
                </a:extLst>
              </a:tr>
              <a:tr h="125262">
                <a:tc>
                  <a:txBody>
                    <a:bodyPr/>
                    <a:lstStyle/>
                    <a:p>
                      <a:pPr algn="ctr"/>
                      <a:r>
                        <a:rPr lang="en-US" altLang="zh-TW" sz="1000" dirty="0" smtClean="0">
                          <a:latin typeface="微軟正黑體" panose="020B0604030504040204" pitchFamily="34" charset="-120"/>
                          <a:ea typeface="微軟正黑體" panose="020B0604030504040204" pitchFamily="34" charset="-120"/>
                        </a:rPr>
                        <a:t>IT</a:t>
                      </a:r>
                      <a:r>
                        <a:rPr lang="zh-CN" altLang="en-US" sz="1000" dirty="0" smtClean="0">
                          <a:latin typeface="微軟正黑體" panose="020B0604030504040204" pitchFamily="34" charset="-120"/>
                          <a:ea typeface="微軟正黑體" panose="020B0604030504040204" pitchFamily="34" charset="-120"/>
                        </a:rPr>
                        <a:t>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832945</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93139062"/>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V1061480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113460060"/>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dirty="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V1079136</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991944768"/>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021987</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275470352"/>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F1338240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262095829"/>
                  </a:ext>
                </a:extLst>
              </a:tr>
              <a:tr h="125262">
                <a:tc>
                  <a:txBody>
                    <a:bodyPr/>
                    <a:lstStyle/>
                    <a:p>
                      <a:pPr algn="ctr"/>
                      <a:r>
                        <a:rPr lang="zh-CN" altLang="en-US" sz="1000" dirty="0" smtClean="0">
                          <a:latin typeface="微軟正黑體" panose="020B0604030504040204" pitchFamily="34" charset="-120"/>
                          <a:ea typeface="微軟正黑體" panose="020B0604030504040204" pitchFamily="34" charset="-120"/>
                        </a:rPr>
                        <a:t>經管主管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smtClean="0">
                          <a:latin typeface="微軟正黑體" panose="020B0604030504040204" pitchFamily="34" charset="-120"/>
                          <a:ea typeface="微軟正黑體" panose="020B0604030504040204" pitchFamily="34" charset="-120"/>
                        </a:rPr>
                        <a:t>812810</a:t>
                      </a:r>
                    </a:p>
                    <a:p>
                      <a:pPr algn="ctr"/>
                      <a:r>
                        <a:rPr lang="en-US" altLang="zh-TW" sz="1000" b="0" i="0" kern="1200" smtClean="0">
                          <a:solidFill>
                            <a:schemeClr val="dk1"/>
                          </a:solidFill>
                          <a:effectLst/>
                          <a:latin typeface="+mn-lt"/>
                          <a:ea typeface="+mn-ea"/>
                          <a:cs typeface="+mn-cs"/>
                        </a:rPr>
                        <a:t>811289(</a:t>
                      </a:r>
                      <a:r>
                        <a:rPr lang="zh-TW" altLang="en-US" sz="1000" b="0" i="0" kern="1200" smtClean="0">
                          <a:solidFill>
                            <a:schemeClr val="dk1"/>
                          </a:solidFill>
                          <a:effectLst/>
                          <a:latin typeface="+mn-lt"/>
                          <a:ea typeface="+mn-ea"/>
                          <a:cs typeface="+mn-cs"/>
                        </a:rPr>
                        <a:t>蔡志文 </a:t>
                      </a:r>
                      <a:r>
                        <a:rPr lang="en-US" altLang="zh-TW" sz="1000" b="0" i="0" kern="1200" smtClean="0">
                          <a:solidFill>
                            <a:schemeClr val="dk1"/>
                          </a:solidFill>
                          <a:effectLst/>
                          <a:latin typeface="+mn-lt"/>
                          <a:ea typeface="+mn-ea"/>
                          <a:cs typeface="+mn-cs"/>
                        </a:rPr>
                        <a:t>JBD)</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709792898"/>
                  </a:ext>
                </a:extLst>
              </a:tr>
              <a:tr h="125262">
                <a:tc>
                  <a:txBody>
                    <a:bodyPr/>
                    <a:lstStyle/>
                    <a:p>
                      <a:pPr algn="ctr"/>
                      <a:r>
                        <a:rPr lang="zh-CN" altLang="en-US" sz="1000" dirty="0" smtClean="0">
                          <a:latin typeface="微軟正黑體" panose="020B0604030504040204" pitchFamily="34" charset="-120"/>
                          <a:ea typeface="微軟正黑體" panose="020B0604030504040204" pitchFamily="34" charset="-120"/>
                        </a:rPr>
                        <a:t>群</a:t>
                      </a:r>
                      <a:r>
                        <a:rPr lang="en-US" altLang="zh-CN" sz="1000" dirty="0" smtClean="0">
                          <a:latin typeface="微軟正黑體" panose="020B0604030504040204" pitchFamily="34" charset="-120"/>
                          <a:ea typeface="微軟正黑體" panose="020B0604030504040204" pitchFamily="34" charset="-120"/>
                        </a:rPr>
                        <a:t>IT</a:t>
                      </a:r>
                      <a:r>
                        <a:rPr lang="zh-CN" altLang="en-US" sz="1000" dirty="0" smtClean="0">
                          <a:latin typeface="微軟正黑體" panose="020B0604030504040204" pitchFamily="34" charset="-120"/>
                          <a:ea typeface="微軟正黑體" panose="020B0604030504040204" pitchFamily="34" charset="-120"/>
                        </a:rPr>
                        <a:t>最高主管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016290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37783367"/>
                  </a:ext>
                </a:extLst>
              </a:tr>
            </a:tbl>
          </a:graphicData>
        </a:graphic>
      </p:graphicFrame>
    </p:spTree>
    <p:extLst>
      <p:ext uri="{BB962C8B-B14F-4D97-AF65-F5344CB8AC3E}">
        <p14:creationId xmlns:p14="http://schemas.microsoft.com/office/powerpoint/2010/main" val="37332602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3851029" y="1038866"/>
            <a:ext cx="8229981" cy="5305330"/>
          </a:xfrm>
          <a:prstGeom prst="rect">
            <a:avLst/>
          </a:prstGeom>
        </p:spPr>
      </p:pic>
      <p:sp>
        <p:nvSpPr>
          <p:cNvPr id="12" name="文字方塊 11"/>
          <p:cNvSpPr txBox="1"/>
          <p:nvPr/>
        </p:nvSpPr>
        <p:spPr>
          <a:xfrm>
            <a:off x="940804" y="0"/>
            <a:ext cx="6660117" cy="954107"/>
          </a:xfrm>
          <a:prstGeom prst="rect">
            <a:avLst/>
          </a:prstGeom>
          <a:noFill/>
        </p:spPr>
        <p:txBody>
          <a:bodyPr wrap="square" rtlCol="0">
            <a:spAutoFit/>
          </a:bodyPr>
          <a:lstStyle/>
          <a:p>
            <a:r>
              <a:rPr lang="en-GB" altLang="zh-TW" sz="2800" b="1" smtClean="0">
                <a:solidFill>
                  <a:srgbClr val="0070C0"/>
                </a:solidFill>
                <a:latin typeface="微軟正黑體" panose="020B0604030504040204" pitchFamily="34" charset="-120"/>
                <a:ea typeface="微軟正黑體" panose="020B0604030504040204" pitchFamily="34" charset="-120"/>
              </a:rPr>
              <a:t>WWW</a:t>
            </a:r>
            <a:r>
              <a:rPr lang="zh-CN" altLang="en-US" sz="2800" b="1" smtClean="0">
                <a:solidFill>
                  <a:srgbClr val="0070C0"/>
                </a:solidFill>
                <a:latin typeface="微軟正黑體" panose="020B0604030504040204" pitchFamily="34" charset="-120"/>
                <a:ea typeface="微軟正黑體" panose="020B0604030504040204" pitchFamily="34" charset="-120"/>
              </a:rPr>
              <a:t>上外網賬號申請方法</a:t>
            </a:r>
            <a:endParaRPr lang="en-US" altLang="zh-CN" sz="2800" b="1" smtClean="0">
              <a:solidFill>
                <a:srgbClr val="0070C0"/>
              </a:solidFill>
              <a:latin typeface="微軟正黑體" panose="020B0604030504040204" pitchFamily="34" charset="-120"/>
              <a:ea typeface="微軟正黑體" panose="020B0604030504040204" pitchFamily="34" charset="-120"/>
            </a:endParaRPr>
          </a:p>
          <a:p>
            <a:r>
              <a:rPr lang="en-US" altLang="zh-CN" sz="2800" b="1" smtClean="0">
                <a:solidFill>
                  <a:srgbClr val="0070C0"/>
                </a:solidFill>
                <a:latin typeface="微軟正黑體" panose="020B0604030504040204" pitchFamily="34" charset="-120"/>
                <a:ea typeface="微軟正黑體" panose="020B0604030504040204" pitchFamily="34" charset="-120"/>
              </a:rPr>
              <a:t>SOP </a:t>
            </a:r>
            <a:r>
              <a:rPr lang="en-US" altLang="zh-CN" sz="2800" b="1" err="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đăng</a:t>
            </a:r>
            <a:r>
              <a:rPr lang="en-US" altLang="zh-CN" sz="2800" b="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 </a:t>
            </a:r>
            <a:r>
              <a:rPr lang="en-US" altLang="zh-CN" sz="2800" b="1" err="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ký</a:t>
            </a:r>
            <a:r>
              <a:rPr lang="en-US" altLang="zh-CN" sz="2800" b="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 </a:t>
            </a:r>
            <a:r>
              <a:rPr lang="en-US" altLang="zh-CN" sz="2800" b="1" err="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tài</a:t>
            </a:r>
            <a:r>
              <a:rPr lang="en-US" altLang="zh-CN" sz="2800" b="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 </a:t>
            </a:r>
            <a:r>
              <a:rPr lang="en-US" altLang="zh-CN" sz="2800" b="1" err="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khoản</a:t>
            </a:r>
            <a:r>
              <a:rPr lang="en-US" altLang="zh-CN" sz="2800" b="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 </a:t>
            </a:r>
            <a:r>
              <a:rPr lang="en-US" altLang="zh-CN" sz="2800" b="1" err="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mạng</a:t>
            </a:r>
            <a:r>
              <a:rPr lang="en-US" altLang="zh-CN" sz="2800" b="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 </a:t>
            </a:r>
            <a:r>
              <a:rPr lang="en-US" altLang="zh-CN" sz="2800" b="1" err="1" smtClean="0">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rPr>
              <a:t>ngoài</a:t>
            </a:r>
            <a:endParaRPr lang="zh-TW" altLang="en-US" sz="2800" b="1">
              <a:solidFill>
                <a:srgbClr val="0070C0"/>
              </a:solidFill>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58" name="矩形 57"/>
          <p:cNvSpPr/>
          <p:nvPr/>
        </p:nvSpPr>
        <p:spPr>
          <a:xfrm>
            <a:off x="6557391" y="3808071"/>
            <a:ext cx="902826" cy="28936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60" name="圖片 59"/>
          <p:cNvPicPr>
            <a:picLocks noChangeAspect="1"/>
          </p:cNvPicPr>
          <p:nvPr/>
        </p:nvPicPr>
        <p:blipFill>
          <a:blip r:embed="rId3"/>
          <a:stretch>
            <a:fillRect/>
          </a:stretch>
        </p:blipFill>
        <p:spPr>
          <a:xfrm>
            <a:off x="0" y="967155"/>
            <a:ext cx="3981508" cy="2238487"/>
          </a:xfrm>
          <a:prstGeom prst="rect">
            <a:avLst/>
          </a:prstGeom>
        </p:spPr>
      </p:pic>
      <p:cxnSp>
        <p:nvCxnSpPr>
          <p:cNvPr id="72" name="直線單箭頭接點 71"/>
          <p:cNvCxnSpPr/>
          <p:nvPr/>
        </p:nvCxnSpPr>
        <p:spPr>
          <a:xfrm>
            <a:off x="2198077" y="2461846"/>
            <a:ext cx="4149969" cy="149090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48875" y="3267678"/>
            <a:ext cx="4098404" cy="584775"/>
          </a:xfrm>
          <a:prstGeom prst="rect">
            <a:avLst/>
          </a:prstGeom>
        </p:spPr>
        <p:txBody>
          <a:bodyPr wrap="square">
            <a:spAutoFit/>
          </a:bodyPr>
          <a:lstStyle/>
          <a:p>
            <a:r>
              <a:rPr lang="en-US" altLang="zh-TW" sz="1600" b="1">
                <a:hlinkClick r:id="rId4"/>
              </a:rPr>
              <a:t>Đăng nhập hệ thống: 112</a:t>
            </a:r>
            <a:r>
              <a:rPr lang="zh-TW" altLang="en-US" sz="1600" b="1">
                <a:hlinkClick r:id="rId4"/>
              </a:rPr>
              <a:t>電子作業系統</a:t>
            </a:r>
            <a:r>
              <a:rPr lang="zh-TW" altLang="en-US" sz="1600" b="1"/>
              <a:t>  </a:t>
            </a:r>
            <a:r>
              <a:rPr lang="en-GB" altLang="zh-TW" sz="1600" b="1"/>
              <a:t>https://112.efoxconn.com/Home/Index</a:t>
            </a:r>
            <a:endParaRPr lang="zh-TW" altLang="en-US" sz="1600" b="1"/>
          </a:p>
        </p:txBody>
      </p:sp>
      <p:graphicFrame>
        <p:nvGraphicFramePr>
          <p:cNvPr id="11" name="表格 10"/>
          <p:cNvGraphicFramePr>
            <a:graphicFrameLocks noGrp="1"/>
          </p:cNvGraphicFramePr>
          <p:nvPr>
            <p:extLst>
              <p:ext uri="{D42A27DB-BD31-4B8C-83A1-F6EECF244321}">
                <p14:modId xmlns:p14="http://schemas.microsoft.com/office/powerpoint/2010/main" val="1474950715"/>
              </p:ext>
            </p:extLst>
          </p:nvPr>
        </p:nvGraphicFramePr>
        <p:xfrm>
          <a:off x="575029" y="3952754"/>
          <a:ext cx="2700972" cy="2438400"/>
        </p:xfrm>
        <a:graphic>
          <a:graphicData uri="http://schemas.openxmlformats.org/drawingml/2006/table">
            <a:tbl>
              <a:tblPr firstRow="1" bandRow="1">
                <a:tableStyleId>{5C22544A-7EE6-4342-B048-85BDC9FD1C3A}</a:tableStyleId>
              </a:tblPr>
              <a:tblGrid>
                <a:gridCol w="1111567">
                  <a:extLst>
                    <a:ext uri="{9D8B030D-6E8A-4147-A177-3AD203B41FA5}">
                      <a16:colId xmlns:a16="http://schemas.microsoft.com/office/drawing/2014/main" val="2840601549"/>
                    </a:ext>
                  </a:extLst>
                </a:gridCol>
                <a:gridCol w="1589405">
                  <a:extLst>
                    <a:ext uri="{9D8B030D-6E8A-4147-A177-3AD203B41FA5}">
                      <a16:colId xmlns:a16="http://schemas.microsoft.com/office/drawing/2014/main" val="2651740656"/>
                    </a:ext>
                  </a:extLst>
                </a:gridCol>
              </a:tblGrid>
              <a:tr h="125262">
                <a:tc gridSpan="2">
                  <a:txBody>
                    <a:bodyPr/>
                    <a:lstStyle/>
                    <a:p>
                      <a:pPr algn="l"/>
                      <a:r>
                        <a:rPr lang="zh-CN" altLang="en-US" sz="1000" dirty="0" smtClean="0">
                          <a:latin typeface="微軟正黑體" panose="020B0604030504040204" pitchFamily="34" charset="-120"/>
                          <a:ea typeface="微軟正黑體" panose="020B0604030504040204" pitchFamily="34" charset="-120"/>
                        </a:rPr>
                        <a:t>簽核流程</a:t>
                      </a:r>
                      <a:endParaRPr lang="zh-TW" altLang="en-US" sz="1000" dirty="0">
                        <a:latin typeface="微軟正黑體" panose="020B0604030504040204" pitchFamily="34" charset="-120"/>
                        <a:ea typeface="微軟正黑體" panose="020B0604030504040204" pitchFamily="34" charset="-120"/>
                      </a:endParaRPr>
                    </a:p>
                  </a:txBody>
                  <a:tcPr anchor="ctr"/>
                </a:tc>
                <a:tc hMerge="1">
                  <a:txBody>
                    <a:bodyPr/>
                    <a:lstStyle/>
                    <a:p>
                      <a:endParaRPr lang="zh-TW" altLang="en-US" dirty="0"/>
                    </a:p>
                  </a:txBody>
                  <a:tcPr/>
                </a:tc>
                <a:extLst>
                  <a:ext uri="{0D108BD9-81ED-4DB2-BD59-A6C34878D82A}">
                    <a16:rowId xmlns:a16="http://schemas.microsoft.com/office/drawing/2014/main" val="340014492"/>
                  </a:ext>
                </a:extLst>
              </a:tr>
              <a:tr h="125262">
                <a:tc>
                  <a:txBody>
                    <a:bodyPr/>
                    <a:lstStyle/>
                    <a:p>
                      <a:pPr algn="ctr"/>
                      <a:r>
                        <a:rPr lang="en-US" altLang="zh-TW" sz="1000" dirty="0" smtClean="0">
                          <a:latin typeface="微軟正黑體" panose="020B0604030504040204" pitchFamily="34" charset="-120"/>
                          <a:ea typeface="微軟正黑體" panose="020B0604030504040204" pitchFamily="34" charset="-120"/>
                        </a:rPr>
                        <a:t>BU</a:t>
                      </a:r>
                      <a:r>
                        <a:rPr lang="zh-CN" altLang="en-US" sz="1000" dirty="0" smtClean="0">
                          <a:latin typeface="微軟正黑體" panose="020B0604030504040204" pitchFamily="34" charset="-120"/>
                          <a:ea typeface="微軟正黑體" panose="020B0604030504040204" pitchFamily="34" charset="-120"/>
                        </a:rPr>
                        <a:t>主管簽核</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zh-CN" altLang="en-US" sz="1000" dirty="0" smtClean="0">
                          <a:latin typeface="微軟正黑體" panose="020B0604030504040204" pitchFamily="34" charset="-120"/>
                          <a:ea typeface="微軟正黑體" panose="020B0604030504040204" pitchFamily="34" charset="-120"/>
                        </a:rPr>
                        <a:t>直屬主管</a:t>
                      </a:r>
                      <a:r>
                        <a:rPr lang="en-US" altLang="zh-CN" sz="1000" dirty="0" smtClean="0">
                          <a:latin typeface="微軟正黑體" panose="020B0604030504040204" pitchFamily="34" charset="-120"/>
                          <a:ea typeface="微軟正黑體" panose="020B0604030504040204" pitchFamily="34" charset="-120"/>
                          <a:sym typeface="Wingdings" panose="05000000000000000000" pitchFamily="2" charset="2"/>
                        </a:rPr>
                        <a:t></a:t>
                      </a:r>
                      <a:r>
                        <a:rPr lang="zh-CN" altLang="en-US" sz="1000" dirty="0" smtClean="0">
                          <a:latin typeface="微軟正黑體" panose="020B0604030504040204" pitchFamily="34" charset="-120"/>
                          <a:ea typeface="微軟正黑體" panose="020B0604030504040204" pitchFamily="34" charset="-120"/>
                          <a:sym typeface="Wingdings" panose="05000000000000000000" pitchFamily="2" charset="2"/>
                        </a:rPr>
                        <a:t>處級主管</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12751546"/>
                  </a:ext>
                </a:extLst>
              </a:tr>
              <a:tr h="125262">
                <a:tc>
                  <a:txBody>
                    <a:bodyPr/>
                    <a:lstStyle/>
                    <a:p>
                      <a:pPr algn="ctr"/>
                      <a:r>
                        <a:rPr lang="en-US" altLang="zh-TW" sz="1000" dirty="0" smtClean="0">
                          <a:latin typeface="微軟正黑體" panose="020B0604030504040204" pitchFamily="34" charset="-120"/>
                          <a:ea typeface="微軟正黑體" panose="020B0604030504040204" pitchFamily="34" charset="-120"/>
                        </a:rPr>
                        <a:t>IT</a:t>
                      </a:r>
                      <a:r>
                        <a:rPr lang="zh-CN" altLang="en-US" sz="1000" dirty="0" smtClean="0">
                          <a:latin typeface="微軟正黑體" panose="020B0604030504040204" pitchFamily="34" charset="-120"/>
                          <a:ea typeface="微軟正黑體" panose="020B0604030504040204" pitchFamily="34" charset="-120"/>
                        </a:rPr>
                        <a:t>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G6000576</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158779301"/>
                  </a:ext>
                </a:extLst>
              </a:tr>
              <a:tr h="125262">
                <a:tc>
                  <a:txBody>
                    <a:bodyPr/>
                    <a:lstStyle/>
                    <a:p>
                      <a:pPr algn="ctr"/>
                      <a:r>
                        <a:rPr lang="en-US" altLang="zh-TW" sz="1000" dirty="0" smtClean="0">
                          <a:latin typeface="微軟正黑體" panose="020B0604030504040204" pitchFamily="34" charset="-120"/>
                          <a:ea typeface="微軟正黑體" panose="020B0604030504040204" pitchFamily="34" charset="-120"/>
                        </a:rPr>
                        <a:t>IT</a:t>
                      </a:r>
                      <a:r>
                        <a:rPr lang="zh-CN" altLang="en-US" sz="1000" dirty="0" smtClean="0">
                          <a:latin typeface="微軟正黑體" panose="020B0604030504040204" pitchFamily="34" charset="-120"/>
                          <a:ea typeface="微軟正黑體" panose="020B0604030504040204" pitchFamily="34" charset="-120"/>
                        </a:rPr>
                        <a:t>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832945</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93139062"/>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V1061480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4113460060"/>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dirty="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V1079136</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991944768"/>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021987</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275470352"/>
                  </a:ext>
                </a:extLst>
              </a:tr>
              <a:tr h="1252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IT</a:t>
                      </a:r>
                      <a:r>
                        <a:rPr kumimoji="0" lang="zh-CN" altLang="en-US" sz="1000" b="0" i="0" u="none" strike="noStrike" kern="1200" cap="none" spc="0" normalizeH="0" baseline="0" noProof="0" smtClean="0">
                          <a:ln>
                            <a:noFill/>
                          </a:ln>
                          <a:solidFill>
                            <a:prstClr val="black"/>
                          </a:solidFill>
                          <a:effectLst/>
                          <a:uLnTx/>
                          <a:uFillTx/>
                          <a:latin typeface="微軟正黑體" panose="020B0604030504040204" pitchFamily="34" charset="-120"/>
                          <a:ea typeface="微軟正黑體" panose="020B0604030504040204" pitchFamily="34" charset="-120"/>
                          <a:cs typeface="+mn-cs"/>
                        </a:rPr>
                        <a:t>主管</a:t>
                      </a:r>
                      <a:endPar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F1338240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262095829"/>
                  </a:ext>
                </a:extLst>
              </a:tr>
              <a:tr h="125262">
                <a:tc>
                  <a:txBody>
                    <a:bodyPr/>
                    <a:lstStyle/>
                    <a:p>
                      <a:pPr algn="ctr"/>
                      <a:r>
                        <a:rPr lang="zh-CN" altLang="en-US" sz="1000" dirty="0" smtClean="0">
                          <a:latin typeface="微軟正黑體" panose="020B0604030504040204" pitchFamily="34" charset="-120"/>
                          <a:ea typeface="微軟正黑體" panose="020B0604030504040204" pitchFamily="34" charset="-120"/>
                        </a:rPr>
                        <a:t>經管主管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812810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709792898"/>
                  </a:ext>
                </a:extLst>
              </a:tr>
              <a:tr h="125262">
                <a:tc>
                  <a:txBody>
                    <a:bodyPr/>
                    <a:lstStyle/>
                    <a:p>
                      <a:pPr algn="ctr"/>
                      <a:r>
                        <a:rPr lang="zh-CN" altLang="en-US" sz="1000" dirty="0" smtClean="0">
                          <a:latin typeface="微軟正黑體" panose="020B0604030504040204" pitchFamily="34" charset="-120"/>
                          <a:ea typeface="微軟正黑體" panose="020B0604030504040204" pitchFamily="34" charset="-120"/>
                        </a:rPr>
                        <a:t>群</a:t>
                      </a:r>
                      <a:r>
                        <a:rPr lang="en-US" altLang="zh-CN" sz="1000" dirty="0" smtClean="0">
                          <a:latin typeface="微軟正黑體" panose="020B0604030504040204" pitchFamily="34" charset="-120"/>
                          <a:ea typeface="微軟正黑體" panose="020B0604030504040204" pitchFamily="34" charset="-120"/>
                        </a:rPr>
                        <a:t>IT</a:t>
                      </a:r>
                      <a:r>
                        <a:rPr lang="zh-CN" altLang="en-US" sz="1000" dirty="0" smtClean="0">
                          <a:latin typeface="微軟正黑體" panose="020B0604030504040204" pitchFamily="34" charset="-120"/>
                          <a:ea typeface="微軟正黑體" panose="020B0604030504040204" pitchFamily="34" charset="-120"/>
                        </a:rPr>
                        <a:t>最高主管</a:t>
                      </a:r>
                      <a:endParaRPr lang="zh-TW" altLang="en-US" sz="100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000" dirty="0" smtClean="0">
                          <a:latin typeface="微軟正黑體" panose="020B0604030504040204" pitchFamily="34" charset="-120"/>
                          <a:ea typeface="微軟正黑體" panose="020B0604030504040204" pitchFamily="34" charset="-120"/>
                        </a:rPr>
                        <a:t>016290</a:t>
                      </a:r>
                      <a:endParaRPr lang="zh-TW" altLang="en-US" sz="10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337783367"/>
                  </a:ext>
                </a:extLst>
              </a:tr>
            </a:tbl>
          </a:graphicData>
        </a:graphic>
      </p:graphicFrame>
    </p:spTree>
    <p:extLst>
      <p:ext uri="{BB962C8B-B14F-4D97-AF65-F5344CB8AC3E}">
        <p14:creationId xmlns:p14="http://schemas.microsoft.com/office/powerpoint/2010/main" val="25812673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4221480"/>
            <a:ext cx="12215435" cy="2636520"/>
          </a:xfrm>
          <a:prstGeom prst="rect">
            <a:avLst/>
          </a:prstGeom>
        </p:spPr>
      </p:pic>
      <p:sp>
        <p:nvSpPr>
          <p:cNvPr id="6" name="Rectangle 5"/>
          <p:cNvSpPr/>
          <p:nvPr/>
        </p:nvSpPr>
        <p:spPr>
          <a:xfrm>
            <a:off x="5963208" y="5455214"/>
            <a:ext cx="1747646" cy="40444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Rectangle 6"/>
          <p:cNvSpPr/>
          <p:nvPr/>
        </p:nvSpPr>
        <p:spPr>
          <a:xfrm>
            <a:off x="9211817" y="5455214"/>
            <a:ext cx="1696184" cy="404446"/>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TextBox 7"/>
          <p:cNvSpPr txBox="1"/>
          <p:nvPr/>
        </p:nvSpPr>
        <p:spPr>
          <a:xfrm>
            <a:off x="313007" y="2199920"/>
            <a:ext cx="9461344" cy="830997"/>
          </a:xfrm>
          <a:prstGeom prst="rect">
            <a:avLst/>
          </a:prstGeom>
          <a:noFill/>
        </p:spPr>
        <p:txBody>
          <a:bodyPr wrap="square" rtlCol="0">
            <a:spAutoFit/>
          </a:bodyPr>
          <a:lstStyle/>
          <a:p>
            <a:r>
              <a:rPr lang="en-US" sz="2400" b="1" smtClean="0">
                <a:solidFill>
                  <a:schemeClr val="accent1">
                    <a:lumMod val="75000"/>
                  </a:schemeClr>
                </a:solidFill>
              </a:rPr>
              <a:t>SOP-</a:t>
            </a:r>
            <a:r>
              <a:rPr lang="zh-CN" altLang="en-US" sz="2400" b="1" smtClean="0">
                <a:solidFill>
                  <a:schemeClr val="accent1">
                    <a:lumMod val="75000"/>
                  </a:schemeClr>
                </a:solidFill>
              </a:rPr>
              <a:t>申</a:t>
            </a:r>
            <a:r>
              <a:rPr lang="zh-CN" altLang="en-US" sz="2400" b="1">
                <a:solidFill>
                  <a:schemeClr val="accent1">
                    <a:lumMod val="75000"/>
                  </a:schemeClr>
                </a:solidFill>
              </a:rPr>
              <a:t>請</a:t>
            </a:r>
            <a:r>
              <a:rPr lang="zh-CN" altLang="en-US" sz="2400" b="1" smtClean="0">
                <a:solidFill>
                  <a:schemeClr val="accent1">
                    <a:lumMod val="75000"/>
                  </a:schemeClr>
                </a:solidFill>
              </a:rPr>
              <a:t>無</a:t>
            </a:r>
            <a:r>
              <a:rPr lang="zh-CN" altLang="en-US" sz="2400" b="1">
                <a:solidFill>
                  <a:schemeClr val="accent1">
                    <a:lumMod val="75000"/>
                  </a:schemeClr>
                </a:solidFill>
              </a:rPr>
              <a:t>線網</a:t>
            </a:r>
            <a:r>
              <a:rPr lang="zh-CN" altLang="en-US" sz="2400" b="1" smtClean="0">
                <a:solidFill>
                  <a:schemeClr val="accent1">
                    <a:lumMod val="75000"/>
                  </a:schemeClr>
                </a:solidFill>
              </a:rPr>
              <a:t>絡、電話號碼</a:t>
            </a:r>
            <a:endParaRPr lang="en-US" sz="2400" b="1" smtClean="0">
              <a:solidFill>
                <a:schemeClr val="accent1">
                  <a:lumMod val="75000"/>
                </a:schemeClr>
              </a:solidFill>
            </a:endParaRPr>
          </a:p>
          <a:p>
            <a:r>
              <a:rPr lang="en-US" sz="2400" b="1" smtClean="0">
                <a:solidFill>
                  <a:schemeClr val="accent1">
                    <a:lumMod val="75000"/>
                  </a:schemeClr>
                </a:solidFill>
              </a:rPr>
              <a:t>SOP- </a:t>
            </a:r>
            <a:r>
              <a:rPr lang="en-US" sz="2400" b="1" err="1" smtClean="0">
                <a:solidFill>
                  <a:schemeClr val="accent1">
                    <a:lumMod val="75000"/>
                  </a:schemeClr>
                </a:solidFill>
              </a:rPr>
              <a:t>đơn</a:t>
            </a:r>
            <a:r>
              <a:rPr lang="en-US" sz="2400" b="1" smtClean="0">
                <a:solidFill>
                  <a:schemeClr val="accent1">
                    <a:lumMod val="75000"/>
                  </a:schemeClr>
                </a:solidFill>
              </a:rPr>
              <a:t> </a:t>
            </a:r>
            <a:r>
              <a:rPr lang="en-US" sz="2400" b="1" err="1" smtClean="0">
                <a:solidFill>
                  <a:schemeClr val="accent1">
                    <a:lumMod val="75000"/>
                  </a:schemeClr>
                </a:solidFill>
              </a:rPr>
              <a:t>xin</a:t>
            </a:r>
            <a:r>
              <a:rPr lang="en-US" sz="2400" b="1" smtClean="0">
                <a:solidFill>
                  <a:schemeClr val="accent1">
                    <a:lumMod val="75000"/>
                  </a:schemeClr>
                </a:solidFill>
              </a:rPr>
              <a:t> </a:t>
            </a:r>
            <a:r>
              <a:rPr lang="en-US" sz="2400" b="1" err="1" smtClean="0">
                <a:solidFill>
                  <a:schemeClr val="accent1">
                    <a:lumMod val="75000"/>
                  </a:schemeClr>
                </a:solidFill>
              </a:rPr>
              <a:t>cấp</a:t>
            </a:r>
            <a:r>
              <a:rPr lang="en-US" sz="2400" b="1" smtClean="0">
                <a:solidFill>
                  <a:schemeClr val="accent1">
                    <a:lumMod val="75000"/>
                  </a:schemeClr>
                </a:solidFill>
              </a:rPr>
              <a:t> </a:t>
            </a:r>
            <a:r>
              <a:rPr lang="en-US" sz="2400" b="1" err="1" smtClean="0">
                <a:solidFill>
                  <a:schemeClr val="accent1">
                    <a:lumMod val="75000"/>
                  </a:schemeClr>
                </a:solidFill>
              </a:rPr>
              <a:t>mạng</a:t>
            </a:r>
            <a:r>
              <a:rPr lang="en-US" sz="2400" b="1" smtClean="0">
                <a:solidFill>
                  <a:schemeClr val="accent1">
                    <a:lumMod val="75000"/>
                  </a:schemeClr>
                </a:solidFill>
              </a:rPr>
              <a:t> </a:t>
            </a:r>
            <a:r>
              <a:rPr lang="en-US" sz="2400" b="1" err="1" smtClean="0">
                <a:solidFill>
                  <a:schemeClr val="accent1">
                    <a:lumMod val="75000"/>
                  </a:schemeClr>
                </a:solidFill>
              </a:rPr>
              <a:t>không</a:t>
            </a:r>
            <a:r>
              <a:rPr lang="en-US" sz="2400" b="1" smtClean="0">
                <a:solidFill>
                  <a:schemeClr val="accent1">
                    <a:lumMod val="75000"/>
                  </a:schemeClr>
                </a:solidFill>
              </a:rPr>
              <a:t> </a:t>
            </a:r>
            <a:r>
              <a:rPr lang="en-US" sz="2400" b="1" err="1" smtClean="0">
                <a:solidFill>
                  <a:schemeClr val="accent1">
                    <a:lumMod val="75000"/>
                  </a:schemeClr>
                </a:solidFill>
              </a:rPr>
              <a:t>dây</a:t>
            </a:r>
            <a:r>
              <a:rPr lang="en-US" sz="2400" b="1" smtClean="0">
                <a:solidFill>
                  <a:schemeClr val="accent1">
                    <a:lumMod val="75000"/>
                  </a:schemeClr>
                </a:solidFill>
              </a:rPr>
              <a:t>, </a:t>
            </a:r>
            <a:r>
              <a:rPr lang="en-US" sz="2400" b="1" err="1" smtClean="0">
                <a:solidFill>
                  <a:schemeClr val="accent1">
                    <a:lumMod val="75000"/>
                  </a:schemeClr>
                </a:solidFill>
              </a:rPr>
              <a:t>số</a:t>
            </a:r>
            <a:r>
              <a:rPr lang="en-US" sz="2400" b="1" smtClean="0">
                <a:solidFill>
                  <a:schemeClr val="accent1">
                    <a:lumMod val="75000"/>
                  </a:schemeClr>
                </a:solidFill>
              </a:rPr>
              <a:t> </a:t>
            </a:r>
            <a:r>
              <a:rPr lang="en-US" sz="2400" b="1" err="1" smtClean="0">
                <a:solidFill>
                  <a:schemeClr val="accent1">
                    <a:lumMod val="75000"/>
                  </a:schemeClr>
                </a:solidFill>
              </a:rPr>
              <a:t>điện</a:t>
            </a:r>
            <a:r>
              <a:rPr lang="en-US" sz="2400" b="1" smtClean="0">
                <a:solidFill>
                  <a:schemeClr val="accent1">
                    <a:lumMod val="75000"/>
                  </a:schemeClr>
                </a:solidFill>
              </a:rPr>
              <a:t> </a:t>
            </a:r>
            <a:r>
              <a:rPr lang="en-US" sz="2400" b="1" err="1" smtClean="0">
                <a:solidFill>
                  <a:schemeClr val="accent1">
                    <a:lumMod val="75000"/>
                  </a:schemeClr>
                </a:solidFill>
              </a:rPr>
              <a:t>thoại</a:t>
            </a:r>
            <a:r>
              <a:rPr lang="en-US" sz="2400" b="1" smtClean="0">
                <a:solidFill>
                  <a:schemeClr val="accent1">
                    <a:lumMod val="75000"/>
                  </a:schemeClr>
                </a:solidFill>
              </a:rPr>
              <a:t> </a:t>
            </a:r>
            <a:endParaRPr lang="en-US" sz="2400" b="1">
              <a:solidFill>
                <a:schemeClr val="accent1">
                  <a:lumMod val="75000"/>
                </a:schemeClr>
              </a:solidFill>
            </a:endParaRPr>
          </a:p>
        </p:txBody>
      </p:sp>
      <p:sp>
        <p:nvSpPr>
          <p:cNvPr id="9" name="Rectangle 8"/>
          <p:cNvSpPr/>
          <p:nvPr/>
        </p:nvSpPr>
        <p:spPr>
          <a:xfrm>
            <a:off x="87923" y="4921235"/>
            <a:ext cx="1086584" cy="213947"/>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 name="TextBox 9"/>
          <p:cNvSpPr txBox="1"/>
          <p:nvPr/>
        </p:nvSpPr>
        <p:spPr>
          <a:xfrm>
            <a:off x="313007" y="3298288"/>
            <a:ext cx="5650201" cy="646331"/>
          </a:xfrm>
          <a:prstGeom prst="rect">
            <a:avLst/>
          </a:prstGeom>
          <a:noFill/>
        </p:spPr>
        <p:txBody>
          <a:bodyPr wrap="square" rtlCol="0">
            <a:spAutoFit/>
          </a:bodyPr>
          <a:lstStyle/>
          <a:p>
            <a:r>
              <a:rPr lang="zh-CN" altLang="en-US" b="1" smtClean="0"/>
              <a:t>登</a:t>
            </a:r>
            <a:r>
              <a:rPr lang="zh-CN" altLang="en-US" b="1"/>
              <a:t>入</a:t>
            </a:r>
            <a:r>
              <a:rPr lang="en-US" altLang="zh-CN" b="1" smtClean="0"/>
              <a:t>2.0</a:t>
            </a:r>
            <a:r>
              <a:rPr lang="zh-CN" altLang="en-US" b="1" smtClean="0"/>
              <a:t>系統 </a:t>
            </a:r>
            <a:r>
              <a:rPr lang="en-US" altLang="zh-CN" b="1" smtClean="0"/>
              <a:t>: </a:t>
            </a:r>
            <a:r>
              <a:rPr lang="en-US" altLang="zh-CN" b="1" smtClean="0">
                <a:hlinkClick r:id="rId3"/>
              </a:rPr>
              <a:t>https://appvn3-cns.myfiinet.com/</a:t>
            </a:r>
            <a:endParaRPr lang="en-US" altLang="zh-CN" b="1" smtClean="0"/>
          </a:p>
          <a:p>
            <a:r>
              <a:rPr lang="en-US" b="1" err="1" smtClean="0"/>
              <a:t>Đăng</a:t>
            </a:r>
            <a:r>
              <a:rPr lang="en-US" b="1" smtClean="0"/>
              <a:t> </a:t>
            </a:r>
            <a:r>
              <a:rPr lang="en-US" b="1" err="1" smtClean="0"/>
              <a:t>nhập</a:t>
            </a:r>
            <a:r>
              <a:rPr lang="en-US" b="1" smtClean="0"/>
              <a:t> </a:t>
            </a:r>
            <a:r>
              <a:rPr lang="en-US" b="1" err="1" smtClean="0"/>
              <a:t>hệ</a:t>
            </a:r>
            <a:r>
              <a:rPr lang="en-US" b="1" smtClean="0"/>
              <a:t> </a:t>
            </a:r>
            <a:r>
              <a:rPr lang="en-US" b="1" err="1" smtClean="0"/>
              <a:t>thống</a:t>
            </a:r>
            <a:r>
              <a:rPr lang="en-US" b="1" smtClean="0"/>
              <a:t> </a:t>
            </a:r>
            <a:r>
              <a:rPr lang="en-US" b="1" err="1" smtClean="0"/>
              <a:t>esign</a:t>
            </a:r>
            <a:r>
              <a:rPr lang="en-US" b="1" smtClean="0"/>
              <a:t> 2.0 </a:t>
            </a:r>
            <a:endParaRPr lang="en-US" b="1"/>
          </a:p>
        </p:txBody>
      </p:sp>
      <p:sp>
        <p:nvSpPr>
          <p:cNvPr id="11" name="TextBox 10"/>
          <p:cNvSpPr txBox="1"/>
          <p:nvPr/>
        </p:nvSpPr>
        <p:spPr>
          <a:xfrm>
            <a:off x="313007" y="7742"/>
            <a:ext cx="5952159" cy="1384995"/>
          </a:xfrm>
          <a:prstGeom prst="rect">
            <a:avLst/>
          </a:prstGeom>
          <a:noFill/>
        </p:spPr>
        <p:txBody>
          <a:bodyPr wrap="square" rtlCol="0">
            <a:spAutoFit/>
          </a:bodyPr>
          <a:lstStyle/>
          <a:p>
            <a:r>
              <a:rPr lang="zh-CN" altLang="en-US" sz="2000" b="1" smtClean="0">
                <a:solidFill>
                  <a:schemeClr val="accent1">
                    <a:lumMod val="75000"/>
                  </a:schemeClr>
                </a:solidFill>
              </a:rPr>
              <a:t> 富聯</a:t>
            </a:r>
            <a:r>
              <a:rPr lang="en-US" altLang="zh-CN" sz="2000" b="1" smtClean="0">
                <a:solidFill>
                  <a:schemeClr val="accent1">
                    <a:lumMod val="75000"/>
                  </a:schemeClr>
                </a:solidFill>
              </a:rPr>
              <a:t>CN2 IT</a:t>
            </a:r>
            <a:r>
              <a:rPr lang="zh-CN" altLang="en-US" sz="2000" b="1" smtClean="0">
                <a:solidFill>
                  <a:schemeClr val="accent1">
                    <a:lumMod val="75000"/>
                  </a:schemeClr>
                </a:solidFill>
              </a:rPr>
              <a:t>維修中心地址：</a:t>
            </a:r>
            <a:r>
              <a:rPr lang="en-US" altLang="zh-CN" sz="2000" b="1" smtClean="0">
                <a:solidFill>
                  <a:schemeClr val="accent1">
                    <a:lumMod val="75000"/>
                  </a:schemeClr>
                </a:solidFill>
              </a:rPr>
              <a:t>B09-3F-C08</a:t>
            </a:r>
            <a:r>
              <a:rPr lang="zh-CN" altLang="en-US" sz="2000" b="1" smtClean="0">
                <a:solidFill>
                  <a:schemeClr val="accent1">
                    <a:lumMod val="75000"/>
                  </a:schemeClr>
                </a:solidFill>
              </a:rPr>
              <a:t>柱位</a:t>
            </a:r>
            <a:endParaRPr lang="en-US" altLang="zh-CN" sz="2000" b="1" smtClean="0">
              <a:solidFill>
                <a:schemeClr val="accent1">
                  <a:lumMod val="75000"/>
                </a:schemeClr>
              </a:solidFill>
            </a:endParaRPr>
          </a:p>
          <a:p>
            <a:r>
              <a:rPr lang="en-US" altLang="zh-CN" sz="2000" b="1">
                <a:solidFill>
                  <a:schemeClr val="accent1">
                    <a:lumMod val="75000"/>
                  </a:schemeClr>
                </a:solidFill>
              </a:rPr>
              <a:t> </a:t>
            </a:r>
            <a:r>
              <a:rPr lang="en-US" altLang="zh-CN" sz="2000" b="1" smtClean="0">
                <a:solidFill>
                  <a:schemeClr val="accent1">
                    <a:lumMod val="75000"/>
                  </a:schemeClr>
                </a:solidFill>
              </a:rPr>
              <a:t>                            </a:t>
            </a:r>
            <a:r>
              <a:rPr lang="zh-CN" altLang="en-US" sz="2000" b="1" smtClean="0">
                <a:solidFill>
                  <a:schemeClr val="accent1">
                    <a:lumMod val="75000"/>
                  </a:schemeClr>
                </a:solidFill>
              </a:rPr>
              <a:t>值班電話：</a:t>
            </a:r>
            <a:r>
              <a:rPr lang="en-US" altLang="zh-CN" sz="2000" b="1" smtClean="0">
                <a:solidFill>
                  <a:schemeClr val="accent1">
                    <a:lumMod val="75000"/>
                  </a:schemeClr>
                </a:solidFill>
              </a:rPr>
              <a:t>593570677</a:t>
            </a:r>
          </a:p>
          <a:p>
            <a:r>
              <a:rPr lang="en-US" altLang="zh-CN" sz="2000" b="1">
                <a:solidFill>
                  <a:schemeClr val="accent1">
                    <a:lumMod val="75000"/>
                  </a:schemeClr>
                </a:solidFill>
              </a:rPr>
              <a:t> </a:t>
            </a:r>
            <a:r>
              <a:rPr lang="en-US" altLang="zh-CN" sz="2000" b="1" smtClean="0">
                <a:solidFill>
                  <a:schemeClr val="accent1">
                    <a:lumMod val="75000"/>
                  </a:schemeClr>
                </a:solidFill>
              </a:rPr>
              <a:t>                         IT</a:t>
            </a:r>
            <a:r>
              <a:rPr lang="zh-CN" altLang="en-US" sz="2000" b="1" smtClean="0">
                <a:solidFill>
                  <a:schemeClr val="accent1">
                    <a:lumMod val="75000"/>
                  </a:schemeClr>
                </a:solidFill>
              </a:rPr>
              <a:t>助理分機：</a:t>
            </a:r>
            <a:r>
              <a:rPr lang="en-US" altLang="zh-CN" sz="2000" b="1" smtClean="0">
                <a:solidFill>
                  <a:schemeClr val="accent1">
                    <a:lumMod val="75000"/>
                  </a:schemeClr>
                </a:solidFill>
              </a:rPr>
              <a:t>593570772</a:t>
            </a:r>
          </a:p>
          <a:p>
            <a:endParaRPr lang="en-US" sz="2400" b="1">
              <a:solidFill>
                <a:schemeClr val="accent1">
                  <a:lumMod val="75000"/>
                </a:schemeClr>
              </a:solidFill>
            </a:endParaRPr>
          </a:p>
        </p:txBody>
      </p:sp>
      <p:sp>
        <p:nvSpPr>
          <p:cNvPr id="2" name="TextBox 1"/>
          <p:cNvSpPr txBox="1"/>
          <p:nvPr/>
        </p:nvSpPr>
        <p:spPr>
          <a:xfrm>
            <a:off x="5395224" y="77663"/>
            <a:ext cx="7045891" cy="923330"/>
          </a:xfrm>
          <a:prstGeom prst="rect">
            <a:avLst/>
          </a:prstGeom>
          <a:noFill/>
        </p:spPr>
        <p:txBody>
          <a:bodyPr wrap="square" rtlCol="0">
            <a:spAutoFit/>
          </a:bodyPr>
          <a:lstStyle/>
          <a:p>
            <a:r>
              <a:rPr lang="en-US" b="1" err="1" smtClean="0">
                <a:solidFill>
                  <a:schemeClr val="accent1">
                    <a:lumMod val="75000"/>
                  </a:schemeClr>
                </a:solidFill>
                <a:latin typeface="Times New Roman" panose="02020603050405020304" pitchFamily="18" charset="0"/>
                <a:cs typeface="Times New Roman" panose="02020603050405020304" pitchFamily="18" charset="0"/>
              </a:rPr>
              <a:t>Địa</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chỉ</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trung</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tâm</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sửa</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chữa</a:t>
            </a:r>
            <a:r>
              <a:rPr lang="en-US" b="1" smtClean="0">
                <a:solidFill>
                  <a:schemeClr val="accent1">
                    <a:lumMod val="75000"/>
                  </a:schemeClr>
                </a:solidFill>
                <a:latin typeface="Times New Roman" panose="02020603050405020304" pitchFamily="18" charset="0"/>
                <a:cs typeface="Times New Roman" panose="02020603050405020304" pitchFamily="18" charset="0"/>
              </a:rPr>
              <a:t> FULIAN CN2 IT: B09-3F-Cột C08</a:t>
            </a:r>
          </a:p>
          <a:p>
            <a:r>
              <a:rPr lang="en-US" b="1" err="1" smtClean="0">
                <a:solidFill>
                  <a:schemeClr val="accent1">
                    <a:lumMod val="75000"/>
                  </a:schemeClr>
                </a:solidFill>
                <a:latin typeface="Times New Roman" panose="02020603050405020304" pitchFamily="18" charset="0"/>
                <a:cs typeface="Times New Roman" panose="02020603050405020304" pitchFamily="18" charset="0"/>
              </a:rPr>
              <a:t>Điện</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thoại</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trực</a:t>
            </a:r>
            <a:r>
              <a:rPr lang="en-US" b="1" smtClean="0">
                <a:solidFill>
                  <a:schemeClr val="accent1">
                    <a:lumMod val="75000"/>
                  </a:schemeClr>
                </a:solidFill>
                <a:latin typeface="Times New Roman" panose="02020603050405020304" pitchFamily="18" charset="0"/>
                <a:cs typeface="Times New Roman" panose="02020603050405020304" pitchFamily="18" charset="0"/>
              </a:rPr>
              <a:t> ban: 593570677</a:t>
            </a:r>
          </a:p>
          <a:p>
            <a:r>
              <a:rPr lang="en-US" b="1" err="1" smtClean="0">
                <a:solidFill>
                  <a:schemeClr val="accent1">
                    <a:lumMod val="75000"/>
                  </a:schemeClr>
                </a:solidFill>
                <a:latin typeface="Times New Roman" panose="02020603050405020304" pitchFamily="18" charset="0"/>
                <a:cs typeface="Times New Roman" panose="02020603050405020304" pitchFamily="18" charset="0"/>
              </a:rPr>
              <a:t>Điện</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thoại</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trợ</a:t>
            </a:r>
            <a:r>
              <a:rPr lang="en-US" b="1" smtClean="0">
                <a:solidFill>
                  <a:schemeClr val="accent1">
                    <a:lumMod val="75000"/>
                  </a:schemeClr>
                </a:solidFill>
                <a:latin typeface="Times New Roman" panose="02020603050405020304" pitchFamily="18" charset="0"/>
                <a:cs typeface="Times New Roman" panose="02020603050405020304" pitchFamily="18" charset="0"/>
              </a:rPr>
              <a:t> </a:t>
            </a:r>
            <a:r>
              <a:rPr lang="en-US" b="1" err="1" smtClean="0">
                <a:solidFill>
                  <a:schemeClr val="accent1">
                    <a:lumMod val="75000"/>
                  </a:schemeClr>
                </a:solidFill>
                <a:latin typeface="Times New Roman" panose="02020603050405020304" pitchFamily="18" charset="0"/>
                <a:cs typeface="Times New Roman" panose="02020603050405020304" pitchFamily="18" charset="0"/>
              </a:rPr>
              <a:t>lý</a:t>
            </a:r>
            <a:r>
              <a:rPr lang="en-US" b="1" smtClean="0">
                <a:solidFill>
                  <a:schemeClr val="accent1">
                    <a:lumMod val="75000"/>
                  </a:schemeClr>
                </a:solidFill>
                <a:latin typeface="Times New Roman" panose="02020603050405020304" pitchFamily="18" charset="0"/>
                <a:cs typeface="Times New Roman" panose="02020603050405020304" pitchFamily="18" charset="0"/>
              </a:rPr>
              <a:t> IT: 593570772</a:t>
            </a:r>
            <a:endParaRPr lang="en-US" b="1">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193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79230" y="15868"/>
            <a:ext cx="9460524" cy="830997"/>
          </a:xfrm>
          <a:prstGeom prst="rect">
            <a:avLst/>
          </a:prstGeom>
          <a:noFill/>
        </p:spPr>
        <p:txBody>
          <a:bodyPr wrap="square" rtlCol="0">
            <a:spAutoFit/>
          </a:bodyPr>
          <a:lstStyle/>
          <a:p>
            <a:r>
              <a:rPr lang="en-US" altLang="zh-CN" sz="2400" b="1" smtClean="0">
                <a:solidFill>
                  <a:schemeClr val="accent1">
                    <a:lumMod val="75000"/>
                  </a:schemeClr>
                </a:solidFill>
              </a:rPr>
              <a:t>SOP </a:t>
            </a:r>
            <a:r>
              <a:rPr lang="zh-CN" altLang="en-US" sz="2400" b="1">
                <a:solidFill>
                  <a:schemeClr val="accent1">
                    <a:lumMod val="75000"/>
                  </a:schemeClr>
                </a:solidFill>
              </a:rPr>
              <a:t>申</a:t>
            </a:r>
            <a:r>
              <a:rPr lang="zh-CN" altLang="en-US" sz="2400" b="1" smtClean="0">
                <a:solidFill>
                  <a:schemeClr val="accent1">
                    <a:lumMod val="75000"/>
                  </a:schemeClr>
                </a:solidFill>
              </a:rPr>
              <a:t>請無線賬號</a:t>
            </a:r>
            <a:endParaRPr lang="en-US" altLang="zh-CN" sz="2400" b="1" smtClean="0">
              <a:solidFill>
                <a:schemeClr val="accent1">
                  <a:lumMod val="75000"/>
                </a:schemeClr>
              </a:solidFill>
            </a:endParaRPr>
          </a:p>
          <a:p>
            <a:r>
              <a:rPr lang="en-US" altLang="zh-CN" sz="2400" b="1" smtClean="0">
                <a:solidFill>
                  <a:schemeClr val="accent1">
                    <a:lumMod val="75000"/>
                  </a:schemeClr>
                </a:solidFill>
              </a:rPr>
              <a:t>SOP đơn xin cấp mạng tài khoản mạng không dây trên hệ thống esign 2.0</a:t>
            </a:r>
          </a:p>
        </p:txBody>
      </p:sp>
      <p:grpSp>
        <p:nvGrpSpPr>
          <p:cNvPr id="2" name="Group 1"/>
          <p:cNvGrpSpPr/>
          <p:nvPr/>
        </p:nvGrpSpPr>
        <p:grpSpPr>
          <a:xfrm>
            <a:off x="703385" y="754532"/>
            <a:ext cx="9636369" cy="3386645"/>
            <a:chOff x="703385" y="754532"/>
            <a:chExt cx="9311053" cy="4866373"/>
          </a:xfrm>
        </p:grpSpPr>
        <p:pic>
          <p:nvPicPr>
            <p:cNvPr id="6" name="Picture 5"/>
            <p:cNvPicPr>
              <a:picLocks noChangeAspect="1"/>
            </p:cNvPicPr>
            <p:nvPr/>
          </p:nvPicPr>
          <p:blipFill>
            <a:blip r:embed="rId3"/>
            <a:stretch>
              <a:fillRect/>
            </a:stretch>
          </p:blipFill>
          <p:spPr>
            <a:xfrm>
              <a:off x="703385" y="754532"/>
              <a:ext cx="9311053" cy="4866373"/>
            </a:xfrm>
            <a:prstGeom prst="rect">
              <a:avLst/>
            </a:prstGeom>
          </p:spPr>
        </p:pic>
        <p:sp>
          <p:nvSpPr>
            <p:cNvPr id="8" name="Rectangle 7"/>
            <p:cNvSpPr/>
            <p:nvPr/>
          </p:nvSpPr>
          <p:spPr>
            <a:xfrm>
              <a:off x="3722399" y="2750433"/>
              <a:ext cx="1086584" cy="205154"/>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11" name="TextBox 10"/>
          <p:cNvSpPr txBox="1"/>
          <p:nvPr/>
        </p:nvSpPr>
        <p:spPr>
          <a:xfrm>
            <a:off x="703385" y="5393115"/>
            <a:ext cx="2549770" cy="923330"/>
          </a:xfrm>
          <a:prstGeom prst="rect">
            <a:avLst/>
          </a:prstGeom>
          <a:ln w="19050">
            <a:solidFill>
              <a:srgbClr val="FF000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mtClean="0">
                <a:solidFill>
                  <a:schemeClr val="tx1"/>
                </a:solidFill>
              </a:rPr>
              <a:t>無線賬號審核流程</a:t>
            </a:r>
            <a:endParaRPr lang="en-US" altLang="zh-CN" smtClean="0">
              <a:solidFill>
                <a:schemeClr val="tx1"/>
              </a:solidFill>
            </a:endParaRPr>
          </a:p>
          <a:p>
            <a:r>
              <a:rPr lang="en-US" smtClean="0">
                <a:solidFill>
                  <a:schemeClr val="tx1"/>
                </a:solidFill>
              </a:rPr>
              <a:t>Lưu trình ký duyệt đơn cấp mạng không dây</a:t>
            </a:r>
            <a:endParaRPr lang="en-US">
              <a:solidFill>
                <a:schemeClr val="tx1"/>
              </a:solidFill>
            </a:endParaRPr>
          </a:p>
        </p:txBody>
      </p:sp>
      <p:sp>
        <p:nvSpPr>
          <p:cNvPr id="14" name="Rectangle 13"/>
          <p:cNvSpPr/>
          <p:nvPr/>
        </p:nvSpPr>
        <p:spPr>
          <a:xfrm>
            <a:off x="703385" y="3635521"/>
            <a:ext cx="3261946" cy="767082"/>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5" name="Rectangle 14"/>
          <p:cNvSpPr/>
          <p:nvPr/>
        </p:nvSpPr>
        <p:spPr>
          <a:xfrm>
            <a:off x="703385" y="4402603"/>
            <a:ext cx="2843299" cy="646331"/>
          </a:xfrm>
          <a:prstGeom prst="rect">
            <a:avLst/>
          </a:prstGeom>
          <a:ln w="19050">
            <a:solidFill>
              <a:srgbClr val="FF0000"/>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a:t>附</a:t>
            </a:r>
            <a:r>
              <a:rPr lang="zh-CN" altLang="en-US" smtClean="0"/>
              <a:t>檔上傳</a:t>
            </a:r>
            <a:r>
              <a:rPr lang="en-US" altLang="zh-CN" smtClean="0"/>
              <a:t>《</a:t>
            </a:r>
            <a:r>
              <a:rPr lang="zh-CN" altLang="en-US" b="1"/>
              <a:t>電腦安全截圖</a:t>
            </a:r>
            <a:r>
              <a:rPr lang="en-US" altLang="zh-CN" smtClean="0"/>
              <a:t>》</a:t>
            </a:r>
            <a:endParaRPr lang="en-US" altLang="zh-CN"/>
          </a:p>
          <a:p>
            <a:r>
              <a:rPr lang="en-US"/>
              <a:t>Up file theo mẫu</a:t>
            </a:r>
          </a:p>
        </p:txBody>
      </p:sp>
      <p:cxnSp>
        <p:nvCxnSpPr>
          <p:cNvPr id="12" name="直線單箭頭接點 11"/>
          <p:cNvCxnSpPr>
            <a:stCxn id="11" idx="3"/>
          </p:cNvCxnSpPr>
          <p:nvPr/>
        </p:nvCxnSpPr>
        <p:spPr>
          <a:xfrm flipV="1">
            <a:off x="3253155" y="5245508"/>
            <a:ext cx="855463" cy="609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圖片 2"/>
          <p:cNvPicPr>
            <a:picLocks noChangeAspect="1"/>
          </p:cNvPicPr>
          <p:nvPr/>
        </p:nvPicPr>
        <p:blipFill>
          <a:blip r:embed="rId4"/>
          <a:stretch>
            <a:fillRect/>
          </a:stretch>
        </p:blipFill>
        <p:spPr>
          <a:xfrm>
            <a:off x="4108618" y="3661338"/>
            <a:ext cx="6552099" cy="3151172"/>
          </a:xfrm>
          <a:prstGeom prst="rect">
            <a:avLst/>
          </a:prstGeom>
        </p:spPr>
      </p:pic>
    </p:spTree>
    <p:extLst>
      <p:ext uri="{BB962C8B-B14F-4D97-AF65-F5344CB8AC3E}">
        <p14:creationId xmlns:p14="http://schemas.microsoft.com/office/powerpoint/2010/main" val="1193455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zh-CN"/>
              <a:t>《</a:t>
            </a:r>
            <a:r>
              <a:rPr lang="zh-CN" altLang="en-US"/>
              <a:t>電腦安全截圖</a:t>
            </a:r>
            <a:r>
              <a:rPr lang="en-US" altLang="zh-CN" smtClean="0"/>
              <a:t>》</a:t>
            </a:r>
            <a:endParaRPr lang="en-US"/>
          </a:p>
        </p:txBody>
      </p:sp>
      <p:pic>
        <p:nvPicPr>
          <p:cNvPr id="3" name="圖片 1"/>
          <p:cNvPicPr/>
          <p:nvPr/>
        </p:nvPicPr>
        <p:blipFill>
          <a:blip r:embed="rId2"/>
          <a:stretch>
            <a:fillRect/>
          </a:stretch>
        </p:blipFill>
        <p:spPr>
          <a:xfrm>
            <a:off x="954112" y="1285802"/>
            <a:ext cx="9104288" cy="5220506"/>
          </a:xfrm>
          <a:prstGeom prst="rect">
            <a:avLst/>
          </a:prstGeom>
        </p:spPr>
      </p:pic>
      <p:sp>
        <p:nvSpPr>
          <p:cNvPr id="5" name="Rectangular Callout 4"/>
          <p:cNvSpPr/>
          <p:nvPr/>
        </p:nvSpPr>
        <p:spPr>
          <a:xfrm>
            <a:off x="9027942" y="401462"/>
            <a:ext cx="3164058" cy="587912"/>
          </a:xfrm>
          <a:prstGeom prst="wedgeRectCallout">
            <a:avLst>
              <a:gd name="adj1" fmla="val -54901"/>
              <a:gd name="adj2" fmla="val 1620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3.最新電腦系統補丁</a:t>
            </a:r>
          </a:p>
          <a:p>
            <a:pPr algn="ctr"/>
            <a:r>
              <a:rPr lang="en-US" smtClean="0"/>
              <a:t>Bản vá hệ thống máy mới nhất</a:t>
            </a:r>
            <a:endParaRPr lang="en-US"/>
          </a:p>
        </p:txBody>
      </p:sp>
      <p:sp>
        <p:nvSpPr>
          <p:cNvPr id="6" name="Rectangular Callout 5"/>
          <p:cNvSpPr/>
          <p:nvPr/>
        </p:nvSpPr>
        <p:spPr>
          <a:xfrm>
            <a:off x="0" y="2643640"/>
            <a:ext cx="2690446" cy="612648"/>
          </a:xfrm>
          <a:prstGeom prst="wedgeRectCallout">
            <a:avLst>
              <a:gd name="adj1" fmla="val -9362"/>
              <a:gd name="adj2" fmla="val 1769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r>
              <a:rPr lang="en-US" smtClean="0"/>
              <a:t>病毒全盤掃描記錄</a:t>
            </a:r>
          </a:p>
          <a:p>
            <a:pPr algn="ctr"/>
            <a:r>
              <a:rPr lang="en-US" smtClean="0"/>
              <a:t>Bản ghi quét virus toàn bộ</a:t>
            </a:r>
            <a:endParaRPr lang="en-US"/>
          </a:p>
        </p:txBody>
      </p:sp>
      <p:sp>
        <p:nvSpPr>
          <p:cNvPr id="7" name="Rectangular Callout 6"/>
          <p:cNvSpPr/>
          <p:nvPr/>
        </p:nvSpPr>
        <p:spPr>
          <a:xfrm>
            <a:off x="9464040" y="4662146"/>
            <a:ext cx="2545080" cy="612648"/>
          </a:xfrm>
          <a:prstGeom prst="wedgeRectCallout">
            <a:avLst>
              <a:gd name="adj1" fmla="val -63947"/>
              <a:gd name="adj2" fmla="val 1321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4.Woodpecker安裝</a:t>
            </a:r>
          </a:p>
          <a:p>
            <a:pPr algn="ctr"/>
            <a:r>
              <a:rPr lang="en-US" smtClean="0"/>
              <a:t>Cài đặt Wo</a:t>
            </a:r>
            <a:r>
              <a:rPr lang="en-US" altLang="zh-CN" smtClean="0"/>
              <a:t>odpecker</a:t>
            </a:r>
            <a:endParaRPr lang="en-US"/>
          </a:p>
        </p:txBody>
      </p:sp>
      <p:sp>
        <p:nvSpPr>
          <p:cNvPr id="8" name="Rectangular Callout 7"/>
          <p:cNvSpPr/>
          <p:nvPr/>
        </p:nvSpPr>
        <p:spPr>
          <a:xfrm>
            <a:off x="0" y="613063"/>
            <a:ext cx="3631223" cy="632118"/>
          </a:xfrm>
          <a:prstGeom prst="wedgeRectCallout">
            <a:avLst>
              <a:gd name="adj1" fmla="val 38031"/>
              <a:gd name="adj2" fmla="val 83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mtClean="0"/>
              <a:t>1.</a:t>
            </a:r>
            <a:r>
              <a:rPr lang="en-US"/>
              <a:t>電腦名稱、Mac</a:t>
            </a:r>
            <a:r>
              <a:rPr lang="en-US" smtClean="0"/>
              <a:t>地址信息</a:t>
            </a:r>
          </a:p>
          <a:p>
            <a:r>
              <a:rPr lang="en-US" altLang="zh-CN" smtClean="0"/>
              <a:t>Tên máy tính, thông tin địa chỉ MAC</a:t>
            </a:r>
            <a:endParaRPr lang="en-US"/>
          </a:p>
        </p:txBody>
      </p:sp>
      <p:sp>
        <p:nvSpPr>
          <p:cNvPr id="9" name="Rectangle 8"/>
          <p:cNvSpPr/>
          <p:nvPr/>
        </p:nvSpPr>
        <p:spPr>
          <a:xfrm>
            <a:off x="954112" y="1498048"/>
            <a:ext cx="3998888" cy="1123231"/>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13326" y="3260816"/>
            <a:ext cx="3275794" cy="283518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288682" y="1498048"/>
            <a:ext cx="3768493" cy="377674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985760" y="5274794"/>
            <a:ext cx="1071415" cy="1236042"/>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3098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34881" y="60487"/>
            <a:ext cx="9071217" cy="4932213"/>
          </a:xfrm>
          <a:prstGeom prst="rect">
            <a:avLst/>
          </a:prstGeom>
        </p:spPr>
      </p:pic>
      <p:sp>
        <p:nvSpPr>
          <p:cNvPr id="6" name="Rectangle 5"/>
          <p:cNvSpPr/>
          <p:nvPr/>
        </p:nvSpPr>
        <p:spPr>
          <a:xfrm>
            <a:off x="2078238" y="2321439"/>
            <a:ext cx="1086584" cy="205154"/>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Rectangle 10"/>
          <p:cNvSpPr/>
          <p:nvPr/>
        </p:nvSpPr>
        <p:spPr>
          <a:xfrm>
            <a:off x="1184352" y="4378570"/>
            <a:ext cx="3405233" cy="767082"/>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3" name="Rectangle 12"/>
          <p:cNvSpPr/>
          <p:nvPr/>
        </p:nvSpPr>
        <p:spPr>
          <a:xfrm>
            <a:off x="1782069" y="5550097"/>
            <a:ext cx="1858106" cy="646331"/>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a:t>按照</a:t>
            </a:r>
            <a:r>
              <a:rPr lang="zh-CN" altLang="en-US" smtClean="0"/>
              <a:t>這</a:t>
            </a:r>
            <a:r>
              <a:rPr lang="zh-CN" altLang="en-US"/>
              <a:t>模板</a:t>
            </a:r>
            <a:r>
              <a:rPr lang="zh-CN" altLang="en-US" smtClean="0"/>
              <a:t>填</a:t>
            </a:r>
            <a:r>
              <a:rPr lang="zh-CN" altLang="en-US"/>
              <a:t>寫</a:t>
            </a:r>
            <a:endParaRPr lang="en-US" altLang="zh-CN"/>
          </a:p>
          <a:p>
            <a:r>
              <a:rPr lang="en-US"/>
              <a:t>Up file theo mẫu</a:t>
            </a:r>
          </a:p>
        </p:txBody>
      </p:sp>
      <p:cxnSp>
        <p:nvCxnSpPr>
          <p:cNvPr id="15" name="Straight Arrow Connector 14"/>
          <p:cNvCxnSpPr>
            <a:stCxn id="13" idx="3"/>
          </p:cNvCxnSpPr>
          <p:nvPr/>
        </p:nvCxnSpPr>
        <p:spPr>
          <a:xfrm flipV="1">
            <a:off x="3640175" y="5873262"/>
            <a:ext cx="119559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p:cNvCxnSpPr/>
          <p:nvPr/>
        </p:nvCxnSpPr>
        <p:spPr>
          <a:xfrm>
            <a:off x="4589585" y="5145651"/>
            <a:ext cx="175846" cy="40444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20" name="Picture 19"/>
          <p:cNvPicPr>
            <a:picLocks noChangeAspect="1"/>
          </p:cNvPicPr>
          <p:nvPr/>
        </p:nvPicPr>
        <p:blipFill>
          <a:blip r:embed="rId3"/>
          <a:stretch>
            <a:fillRect/>
          </a:stretch>
        </p:blipFill>
        <p:spPr>
          <a:xfrm>
            <a:off x="4835769" y="5108331"/>
            <a:ext cx="7244862" cy="964296"/>
          </a:xfrm>
          <a:prstGeom prst="rect">
            <a:avLst/>
          </a:prstGeom>
        </p:spPr>
      </p:pic>
    </p:spTree>
    <p:extLst>
      <p:ext uri="{BB962C8B-B14F-4D97-AF65-F5344CB8AC3E}">
        <p14:creationId xmlns:p14="http://schemas.microsoft.com/office/powerpoint/2010/main" val="2547125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810626" y="1914598"/>
            <a:ext cx="9381374" cy="3299240"/>
          </a:xfrm>
          <a:prstGeom prst="rect">
            <a:avLst/>
          </a:prstGeom>
        </p:spPr>
      </p:pic>
      <p:sp>
        <p:nvSpPr>
          <p:cNvPr id="6" name="TextBox 5"/>
          <p:cNvSpPr txBox="1"/>
          <p:nvPr/>
        </p:nvSpPr>
        <p:spPr>
          <a:xfrm>
            <a:off x="184406" y="3238875"/>
            <a:ext cx="2549770" cy="923330"/>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mtClean="0"/>
              <a:t>電話號碼審核流程</a:t>
            </a:r>
            <a:endParaRPr lang="en-US" altLang="zh-CN" smtClean="0"/>
          </a:p>
          <a:p>
            <a:r>
              <a:rPr lang="en-US" smtClean="0"/>
              <a:t>Lưu trình ký duyệt đơn cấp số điện thoại</a:t>
            </a:r>
            <a:endParaRPr lang="en-US"/>
          </a:p>
        </p:txBody>
      </p:sp>
    </p:spTree>
    <p:extLst>
      <p:ext uri="{BB962C8B-B14F-4D97-AF65-F5344CB8AC3E}">
        <p14:creationId xmlns:p14="http://schemas.microsoft.com/office/powerpoint/2010/main" val="10190008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02879" y="403796"/>
            <a:ext cx="9460524" cy="461665"/>
          </a:xfrm>
          <a:prstGeom prst="rect">
            <a:avLst/>
          </a:prstGeom>
          <a:noFill/>
        </p:spPr>
        <p:txBody>
          <a:bodyPr wrap="square" rtlCol="0">
            <a:spAutoFit/>
          </a:bodyPr>
          <a:lstStyle/>
          <a:p>
            <a:r>
              <a:rPr lang="en-US" altLang="zh-CN" sz="2400" b="1" smtClean="0">
                <a:solidFill>
                  <a:srgbClr val="0000FF"/>
                </a:solidFill>
                <a:latin typeface="Arial" panose="020B0604020202020204" pitchFamily="34" charset="0"/>
                <a:cs typeface="Arial" panose="020B0604020202020204" pitchFamily="34" charset="0"/>
              </a:rPr>
              <a:t>XIN CÀI SERVER</a:t>
            </a:r>
            <a:endParaRPr lang="en-US" altLang="zh-CN" sz="2400" b="1" smtClean="0">
              <a:solidFill>
                <a:srgbClr val="0000FF"/>
              </a:solidFill>
              <a:latin typeface="Arial" panose="020B0604020202020204" pitchFamily="34" charset="0"/>
              <a:cs typeface="Arial" panose="020B0604020202020204" pitchFamily="34" charset="0"/>
            </a:endParaRPr>
          </a:p>
        </p:txBody>
      </p:sp>
      <p:graphicFrame>
        <p:nvGraphicFramePr>
          <p:cNvPr id="15" name="表格 14"/>
          <p:cNvGraphicFramePr>
            <a:graphicFrameLocks noGrp="1"/>
          </p:cNvGraphicFramePr>
          <p:nvPr>
            <p:extLst>
              <p:ext uri="{D42A27DB-BD31-4B8C-83A1-F6EECF244321}">
                <p14:modId xmlns:p14="http://schemas.microsoft.com/office/powerpoint/2010/main" val="265428614"/>
              </p:ext>
            </p:extLst>
          </p:nvPr>
        </p:nvGraphicFramePr>
        <p:xfrm>
          <a:off x="1727759" y="1311562"/>
          <a:ext cx="8186554" cy="4276439"/>
        </p:xfrm>
        <a:graphic>
          <a:graphicData uri="http://schemas.openxmlformats.org/drawingml/2006/table">
            <a:tbl>
              <a:tblPr/>
              <a:tblGrid>
                <a:gridCol w="375738">
                  <a:extLst>
                    <a:ext uri="{9D8B030D-6E8A-4147-A177-3AD203B41FA5}">
                      <a16:colId xmlns:a16="http://schemas.microsoft.com/office/drawing/2014/main" val="3699253516"/>
                    </a:ext>
                  </a:extLst>
                </a:gridCol>
                <a:gridCol w="1952704">
                  <a:extLst>
                    <a:ext uri="{9D8B030D-6E8A-4147-A177-3AD203B41FA5}">
                      <a16:colId xmlns:a16="http://schemas.microsoft.com/office/drawing/2014/main" val="1673246551"/>
                    </a:ext>
                  </a:extLst>
                </a:gridCol>
                <a:gridCol w="1952704">
                  <a:extLst>
                    <a:ext uri="{9D8B030D-6E8A-4147-A177-3AD203B41FA5}">
                      <a16:colId xmlns:a16="http://schemas.microsoft.com/office/drawing/2014/main" val="447576743"/>
                    </a:ext>
                  </a:extLst>
                </a:gridCol>
                <a:gridCol w="1952704">
                  <a:extLst>
                    <a:ext uri="{9D8B030D-6E8A-4147-A177-3AD203B41FA5}">
                      <a16:colId xmlns:a16="http://schemas.microsoft.com/office/drawing/2014/main" val="2638926919"/>
                    </a:ext>
                  </a:extLst>
                </a:gridCol>
                <a:gridCol w="1952704">
                  <a:extLst>
                    <a:ext uri="{9D8B030D-6E8A-4147-A177-3AD203B41FA5}">
                      <a16:colId xmlns:a16="http://schemas.microsoft.com/office/drawing/2014/main" val="103794301"/>
                    </a:ext>
                  </a:extLst>
                </a:gridCol>
              </a:tblGrid>
              <a:tr h="532981">
                <a:tc>
                  <a:txBody>
                    <a:bodyPr/>
                    <a:lstStyle/>
                    <a:p>
                      <a:pPr algn="ctr" fontAlgn="ctr"/>
                      <a:r>
                        <a:rPr lang="en-US" altLang="zh-TW" sz="1400" b="0" i="0" u="none" strike="noStrike">
                          <a:solidFill>
                            <a:srgbClr val="000000"/>
                          </a:solidFill>
                          <a:effectLst/>
                          <a:latin typeface="Arial" panose="020B0604020202020204" pitchFamily="34" charset="0"/>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Arial" panose="020B0604020202020204" pitchFamily="34" charset="0"/>
                        </a:rPr>
                        <a:t>申請人 </a:t>
                      </a:r>
                      <a:r>
                        <a:rPr lang="en-US" altLang="zh-TW" sz="1400" b="0" i="0" u="none" strike="noStrike">
                          <a:solidFill>
                            <a:srgbClr val="000000"/>
                          </a:solidFill>
                          <a:effectLst/>
                          <a:latin typeface="Arial" panose="020B0604020202020204" pitchFamily="34" charset="0"/>
                        </a:rPr>
                        <a:t>/ </a:t>
                      </a:r>
                      <a:r>
                        <a:rPr lang="vi-VN" sz="1400" b="0" i="0" u="none" strike="noStrike">
                          <a:solidFill>
                            <a:srgbClr val="000000"/>
                          </a:solidFill>
                          <a:effectLst/>
                          <a:latin typeface="Arial" panose="020B0604020202020204" pitchFamily="34" charset="0"/>
                        </a:rPr>
                        <a:t>Người xin đơn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smtClean="0">
                          <a:solidFill>
                            <a:srgbClr val="000000"/>
                          </a:solidFill>
                          <a:effectLst/>
                          <a:latin typeface="Arial" panose="020B0604020202020204" pitchFamily="34" charset="0"/>
                        </a:rPr>
                        <a:t>/</a:t>
                      </a:r>
                      <a:endParaRPr lang="vi-VN"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smtClean="0">
                          <a:solidFill>
                            <a:srgbClr val="000000"/>
                          </a:solidFill>
                          <a:effectLst/>
                          <a:latin typeface="Arial" panose="020B0604020202020204" pitchFamily="34" charset="0"/>
                        </a:rPr>
                        <a:t>/</a:t>
                      </a:r>
                      <a:endParaRPr lang="vi-VN"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vi-VN"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5871198"/>
                  </a:ext>
                </a:extLst>
              </a:tr>
              <a:tr h="532981">
                <a:tc>
                  <a:txBody>
                    <a:bodyPr/>
                    <a:lstStyle/>
                    <a:p>
                      <a:pPr algn="ctr" fontAlgn="ctr"/>
                      <a:r>
                        <a:rPr lang="en-US" altLang="zh-TW" sz="1400" b="0" i="0" u="none" strike="noStrike">
                          <a:solidFill>
                            <a:srgbClr val="000000"/>
                          </a:solidFill>
                          <a:effectLst/>
                          <a:latin typeface="Arial" panose="020B0604020202020204" pitchFamily="34" charset="0"/>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Arial" panose="020B0604020202020204" pitchFamily="34" charset="0"/>
                        </a:rPr>
                        <a:t>一级主管</a:t>
                      </a:r>
                      <a:r>
                        <a:rPr lang="en-US" altLang="zh-TW" sz="1400" b="0" i="0" u="none" strike="noStrike">
                          <a:solidFill>
                            <a:srgbClr val="000000"/>
                          </a:solidFill>
                          <a:effectLst/>
                          <a:latin typeface="Arial" panose="020B0604020202020204" pitchFamily="34" charset="0"/>
                        </a:rPr>
                        <a:t>/</a:t>
                      </a:r>
                      <a:r>
                        <a:rPr lang="en-US" sz="1400" b="0" i="0" u="none" strike="noStrike">
                          <a:solidFill>
                            <a:srgbClr val="000000"/>
                          </a:solidFill>
                          <a:effectLst/>
                          <a:latin typeface="Arial" panose="020B0604020202020204" pitchFamily="34" charset="0"/>
                        </a:rPr>
                        <a:t>Chủ quản cấp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800" b="0" i="0" kern="1200" smtClean="0">
                          <a:solidFill>
                            <a:schemeClr val="tx1"/>
                          </a:solidFill>
                          <a:effectLst/>
                          <a:latin typeface="+mn-lt"/>
                          <a:ea typeface="+mn-ea"/>
                          <a:cs typeface="+mn-cs"/>
                        </a:rPr>
                        <a:t>張愛萍</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F1337979</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095706"/>
                  </a:ext>
                </a:extLst>
              </a:tr>
              <a:tr h="545572">
                <a:tc>
                  <a:txBody>
                    <a:bodyPr/>
                    <a:lstStyle/>
                    <a:p>
                      <a:pPr algn="ctr" fontAlgn="ctr"/>
                      <a:r>
                        <a:rPr lang="en-US" altLang="zh-TW" sz="1400" b="0" i="0" u="none" strike="noStrike">
                          <a:solidFill>
                            <a:srgbClr val="000000"/>
                          </a:solidFill>
                          <a:effectLst/>
                          <a:latin typeface="Arial" panose="020B0604020202020204" pitchFamily="34" charset="0"/>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Arial" panose="020B0604020202020204" pitchFamily="34" charset="0"/>
                        </a:rPr>
                        <a:t>二级主管</a:t>
                      </a:r>
                      <a:r>
                        <a:rPr lang="en-US" altLang="zh-TW" sz="1400" b="0" i="0" u="none" strike="noStrike">
                          <a:solidFill>
                            <a:srgbClr val="000000"/>
                          </a:solidFill>
                          <a:effectLst/>
                          <a:latin typeface="Arial" panose="020B0604020202020204" pitchFamily="34" charset="0"/>
                        </a:rPr>
                        <a:t>/</a:t>
                      </a:r>
                      <a:r>
                        <a:rPr lang="en-US" sz="1400" b="0" i="0" u="none" strike="noStrike">
                          <a:solidFill>
                            <a:srgbClr val="000000"/>
                          </a:solidFill>
                          <a:effectLst/>
                          <a:latin typeface="Arial" panose="020B0604020202020204" pitchFamily="34" charset="0"/>
                        </a:rPr>
                        <a:t>Chủ quản cấp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800" b="0" i="0" kern="1200" smtClean="0">
                          <a:solidFill>
                            <a:schemeClr val="tx1"/>
                          </a:solidFill>
                          <a:effectLst/>
                          <a:latin typeface="+mn-lt"/>
                          <a:ea typeface="+mn-ea"/>
                          <a:cs typeface="+mn-cs"/>
                        </a:rPr>
                        <a:t>張愛萍</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F1337979</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532939"/>
                  </a:ext>
                </a:extLst>
              </a:tr>
              <a:tr h="532981">
                <a:tc>
                  <a:txBody>
                    <a:bodyPr/>
                    <a:lstStyle/>
                    <a:p>
                      <a:pPr algn="ctr" fontAlgn="ctr"/>
                      <a:r>
                        <a:rPr lang="en-US" altLang="zh-TW" sz="1400" b="0" i="0" u="none" strike="noStrike">
                          <a:solidFill>
                            <a:srgbClr val="000000"/>
                          </a:solidFill>
                          <a:effectLst/>
                          <a:latin typeface="Arial" panose="020B0604020202020204" pitchFamily="34" charset="0"/>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vi-VN" sz="1400" b="0" i="0" u="none" strike="noStrike">
                          <a:solidFill>
                            <a:srgbClr val="000000"/>
                          </a:solidFill>
                          <a:effectLst/>
                          <a:latin typeface="Arial" panose="020B0604020202020204" pitchFamily="34" charset="0"/>
                        </a:rPr>
                        <a:t>IT</a:t>
                      </a:r>
                      <a:r>
                        <a:rPr lang="zh-TW" altLang="en-US" sz="1400" b="0" i="0" u="none" strike="noStrike">
                          <a:solidFill>
                            <a:srgbClr val="000000"/>
                          </a:solidFill>
                          <a:effectLst/>
                          <a:latin typeface="Arial" panose="020B0604020202020204" pitchFamily="34" charset="0"/>
                        </a:rPr>
                        <a:t>负责车间</a:t>
                      </a:r>
                      <a:r>
                        <a:rPr lang="en-US" altLang="zh-TW" sz="1400" b="0" i="0" u="none" strike="noStrike">
                          <a:solidFill>
                            <a:srgbClr val="000000"/>
                          </a:solidFill>
                          <a:effectLst/>
                          <a:latin typeface="Arial" panose="020B0604020202020204" pitchFamily="34" charset="0"/>
                        </a:rPr>
                        <a:t>/</a:t>
                      </a:r>
                      <a:r>
                        <a:rPr lang="vi-VN" sz="1400" b="0" i="0" u="none" strike="noStrike">
                          <a:solidFill>
                            <a:srgbClr val="000000"/>
                          </a:solidFill>
                          <a:effectLst/>
                          <a:latin typeface="Arial" panose="020B0604020202020204" pitchFamily="34" charset="0"/>
                        </a:rPr>
                        <a:t>IT phụ trách Xưởng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TW" altLang="en-US" sz="1800" b="0" i="0" kern="1200" smtClean="0">
                          <a:solidFill>
                            <a:schemeClr val="tx1"/>
                          </a:solidFill>
                          <a:effectLst/>
                          <a:latin typeface="+mn-lt"/>
                          <a:ea typeface="+mn-ea"/>
                          <a:cs typeface="+mn-cs"/>
                        </a:rPr>
                        <a:t>阮光輝</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V3214639</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3891613"/>
                  </a:ext>
                </a:extLst>
              </a:tr>
              <a:tr h="532981">
                <a:tc>
                  <a:txBody>
                    <a:bodyPr/>
                    <a:lstStyle/>
                    <a:p>
                      <a:pPr algn="ctr" fontAlgn="ctr"/>
                      <a:r>
                        <a:rPr lang="en-US" altLang="zh-TW" sz="1400" b="0" i="0" u="none" strike="noStrike">
                          <a:solidFill>
                            <a:srgbClr val="000000"/>
                          </a:solidFill>
                          <a:effectLst/>
                          <a:latin typeface="Arial" panose="020B0604020202020204" pitchFamily="34" charset="0"/>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Arial" panose="020B0604020202020204" pitchFamily="34" charset="0"/>
                        </a:rPr>
                        <a:t>會簽</a:t>
                      </a:r>
                      <a:r>
                        <a:rPr lang="en-US" sz="1400" b="0" i="0" u="none" strike="noStrike">
                          <a:solidFill>
                            <a:srgbClr val="000000"/>
                          </a:solidFill>
                          <a:effectLst/>
                          <a:latin typeface="Arial" panose="020B0604020202020204" pitchFamily="34" charset="0"/>
                        </a:rPr>
                        <a:t>IT</a:t>
                      </a:r>
                      <a:r>
                        <a:rPr lang="zh-TW" altLang="en-US" sz="1400" b="0" i="0" u="none" strike="noStrike">
                          <a:solidFill>
                            <a:srgbClr val="000000"/>
                          </a:solidFill>
                          <a:effectLst/>
                          <a:latin typeface="Arial" panose="020B0604020202020204" pitchFamily="34" charset="0"/>
                        </a:rPr>
                        <a:t>課長</a:t>
                      </a:r>
                      <a:r>
                        <a:rPr lang="en-US" altLang="zh-TW" sz="1400" b="0" i="0" u="none" strike="noStrike">
                          <a:solidFill>
                            <a:srgbClr val="000000"/>
                          </a:solidFill>
                          <a:effectLst/>
                          <a:latin typeface="Arial" panose="020B0604020202020204" pitchFamily="34" charset="0"/>
                        </a:rPr>
                        <a:t>/</a:t>
                      </a:r>
                      <a:r>
                        <a:rPr lang="en-US" sz="1400" b="0" i="0" u="none" strike="noStrike">
                          <a:solidFill>
                            <a:srgbClr val="000000"/>
                          </a:solidFill>
                          <a:effectLst/>
                          <a:latin typeface="Arial" panose="020B0604020202020204" pitchFamily="34" charset="0"/>
                        </a:rPr>
                        <a:t>Hội ký cấp phòng IT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TW" altLang="en-US" sz="1400" b="0" i="0" u="none" strike="noStrike" smtClean="0">
                          <a:solidFill>
                            <a:srgbClr val="000000"/>
                          </a:solidFill>
                          <a:effectLst/>
                          <a:latin typeface="Arial" panose="020B0604020202020204" pitchFamily="34" charset="0"/>
                        </a:rPr>
                        <a:t>阮德康</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V0939917</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2376864"/>
                  </a:ext>
                </a:extLst>
              </a:tr>
              <a:tr h="532981">
                <a:tc>
                  <a:txBody>
                    <a:bodyPr/>
                    <a:lstStyle/>
                    <a:p>
                      <a:pPr algn="ctr" fontAlgn="ctr"/>
                      <a:r>
                        <a:rPr lang="en-US" altLang="zh-TW" sz="1400" b="0" i="0" u="none" strike="noStrike">
                          <a:solidFill>
                            <a:srgbClr val="000000"/>
                          </a:solidFill>
                          <a:effectLst/>
                          <a:latin typeface="Arial" panose="020B0604020202020204" pitchFamily="34" charset="0"/>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Arial" panose="020B0604020202020204" pitchFamily="34" charset="0"/>
                        </a:rPr>
                        <a:t>一级主管</a:t>
                      </a:r>
                      <a:r>
                        <a:rPr lang="en-US" altLang="zh-TW" sz="1400" b="0" i="0" u="none" strike="noStrike">
                          <a:solidFill>
                            <a:srgbClr val="000000"/>
                          </a:solidFill>
                          <a:effectLst/>
                          <a:latin typeface="Arial" panose="020B0604020202020204" pitchFamily="34" charset="0"/>
                        </a:rPr>
                        <a:t>/</a:t>
                      </a:r>
                      <a:r>
                        <a:rPr lang="en-US" sz="1400" b="0" i="0" u="none" strike="noStrike">
                          <a:solidFill>
                            <a:srgbClr val="000000"/>
                          </a:solidFill>
                          <a:effectLst/>
                          <a:latin typeface="Arial" panose="020B0604020202020204" pitchFamily="34" charset="0"/>
                        </a:rPr>
                        <a:t>Chủ quản cấp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TW" altLang="en-US" sz="1400" b="0" i="0" u="none" strike="noStrike" smtClean="0">
                          <a:solidFill>
                            <a:srgbClr val="000000"/>
                          </a:solidFill>
                          <a:effectLst/>
                          <a:latin typeface="Arial" panose="020B0604020202020204" pitchFamily="34" charset="0"/>
                        </a:rPr>
                        <a:t>伸文獻</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V0934940</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smtClean="0">
                          <a:solidFill>
                            <a:srgbClr val="000000"/>
                          </a:solidFill>
                          <a:effectLst/>
                          <a:latin typeface="Arial" panose="020B0604020202020204" pitchFamily="34" charset="0"/>
                        </a:rPr>
                        <a:t>Thêm</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950463"/>
                  </a:ext>
                </a:extLst>
              </a:tr>
              <a:tr h="532981">
                <a:tc>
                  <a:txBody>
                    <a:bodyPr/>
                    <a:lstStyle/>
                    <a:p>
                      <a:pPr algn="ctr" fontAlgn="ctr"/>
                      <a:r>
                        <a:rPr lang="en-US" altLang="zh-TW" sz="1400" b="0" i="0" u="none" strike="noStrike">
                          <a:solidFill>
                            <a:srgbClr val="000000"/>
                          </a:solidFill>
                          <a:effectLst/>
                          <a:latin typeface="Arial" panose="020B0604020202020204" pitchFamily="34" charset="0"/>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400" b="0" i="0" u="none" strike="noStrike">
                          <a:solidFill>
                            <a:srgbClr val="000000"/>
                          </a:solidFill>
                          <a:effectLst/>
                          <a:latin typeface="Arial" panose="020B0604020202020204" pitchFamily="34" charset="0"/>
                        </a:rPr>
                        <a:t>IT</a:t>
                      </a:r>
                      <a:r>
                        <a:rPr lang="zh-TW" altLang="en-US" sz="1400" b="0" i="0" u="none" strike="noStrike">
                          <a:solidFill>
                            <a:srgbClr val="000000"/>
                          </a:solidFill>
                          <a:effectLst/>
                          <a:latin typeface="Arial" panose="020B0604020202020204" pitchFamily="34" charset="0"/>
                        </a:rPr>
                        <a:t>主管</a:t>
                      </a:r>
                      <a:r>
                        <a:rPr lang="en-US" altLang="zh-TW" sz="1400" b="0" i="0" u="none" strike="noStrike">
                          <a:solidFill>
                            <a:srgbClr val="000000"/>
                          </a:solidFill>
                          <a:effectLst/>
                          <a:latin typeface="Arial" panose="020B0604020202020204" pitchFamily="34" charset="0"/>
                        </a:rPr>
                        <a:t>/</a:t>
                      </a:r>
                      <a:r>
                        <a:rPr lang="en-US" sz="1400" b="0" i="0" u="none" strike="noStrike">
                          <a:solidFill>
                            <a:srgbClr val="000000"/>
                          </a:solidFill>
                          <a:effectLst/>
                          <a:latin typeface="Arial" panose="020B0604020202020204" pitchFamily="34" charset="0"/>
                        </a:rPr>
                        <a:t>Chủ quản bộ phận IT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TW" altLang="en-US" sz="1400" b="0" i="0" u="none" strike="noStrike" smtClean="0">
                          <a:solidFill>
                            <a:srgbClr val="000000"/>
                          </a:solidFill>
                          <a:effectLst/>
                          <a:latin typeface="Arial" panose="020B0604020202020204" pitchFamily="34" charset="0"/>
                        </a:rPr>
                        <a:t>陳志芳</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832945</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6426907"/>
                  </a:ext>
                </a:extLst>
              </a:tr>
              <a:tr h="532981">
                <a:tc>
                  <a:txBody>
                    <a:bodyPr/>
                    <a:lstStyle/>
                    <a:p>
                      <a:pPr algn="ctr" fontAlgn="ctr"/>
                      <a:r>
                        <a:rPr lang="en-US" altLang="zh-TW" sz="1400" b="0" i="0" u="none" strike="noStrike">
                          <a:solidFill>
                            <a:srgbClr val="000000"/>
                          </a:solidFill>
                          <a:effectLst/>
                          <a:latin typeface="Arial" panose="020B0604020202020204" pitchFamily="34" charset="0"/>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zh-TW" altLang="en-US" sz="1400" b="0" i="0" u="none" strike="noStrike">
                          <a:solidFill>
                            <a:srgbClr val="000000"/>
                          </a:solidFill>
                          <a:effectLst/>
                          <a:latin typeface="Arial" panose="020B0604020202020204" pitchFamily="34" charset="0"/>
                        </a:rPr>
                        <a:t>結案單位 </a:t>
                      </a:r>
                      <a:r>
                        <a:rPr lang="vi-VN" sz="1400" b="0" i="0" u="none" strike="noStrike">
                          <a:solidFill>
                            <a:srgbClr val="000000"/>
                          </a:solidFill>
                          <a:effectLst/>
                          <a:latin typeface="Arial" panose="020B0604020202020204" pitchFamily="34" charset="0"/>
                        </a:rPr>
                        <a:t>IT/Đơn vị IT kết án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TW" altLang="en-US" sz="1800" b="0" i="0" kern="1200" smtClean="0">
                          <a:solidFill>
                            <a:schemeClr val="tx1"/>
                          </a:solidFill>
                          <a:effectLst/>
                          <a:latin typeface="+mn-lt"/>
                          <a:ea typeface="+mn-ea"/>
                          <a:cs typeface="+mn-cs"/>
                        </a:rPr>
                        <a:t>阮光輝</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TW" sz="1800" b="0" i="0" kern="1200" smtClean="0">
                          <a:solidFill>
                            <a:schemeClr val="tx1"/>
                          </a:solidFill>
                          <a:effectLst/>
                          <a:latin typeface="+mn-lt"/>
                          <a:ea typeface="+mn-ea"/>
                          <a:cs typeface="+mn-cs"/>
                        </a:rPr>
                        <a:t>V3214639</a:t>
                      </a: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8529695"/>
                  </a:ext>
                </a:extLst>
              </a:tr>
            </a:tbl>
          </a:graphicData>
        </a:graphic>
      </p:graphicFrame>
      <p:sp>
        <p:nvSpPr>
          <p:cNvPr id="16" name="文字方塊 15"/>
          <p:cNvSpPr txBox="1"/>
          <p:nvPr/>
        </p:nvSpPr>
        <p:spPr>
          <a:xfrm>
            <a:off x="507315" y="5849436"/>
            <a:ext cx="3637534" cy="369332"/>
          </a:xfrm>
          <a:prstGeom prst="rect">
            <a:avLst/>
          </a:prstGeom>
          <a:noFill/>
        </p:spPr>
        <p:txBody>
          <a:bodyPr wrap="none" rtlCol="0">
            <a:spAutoFit/>
          </a:bodyPr>
          <a:lstStyle/>
          <a:p>
            <a:r>
              <a:rPr lang="en-US" altLang="zh-TW" smtClean="0"/>
              <a:t>Đơn tham khảo: </a:t>
            </a:r>
            <a:r>
              <a:rPr lang="en-US" altLang="zh-TW" b="1"/>
              <a:t>2025110309364550</a:t>
            </a:r>
            <a:endParaRPr lang="zh-TW" altLang="en-US"/>
          </a:p>
        </p:txBody>
      </p:sp>
    </p:spTree>
    <p:extLst>
      <p:ext uri="{BB962C8B-B14F-4D97-AF65-F5344CB8AC3E}">
        <p14:creationId xmlns:p14="http://schemas.microsoft.com/office/powerpoint/2010/main" val="453183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19627</TotalTime>
  <Words>1019</Words>
  <Application>Microsoft Office PowerPoint</Application>
  <PresentationFormat>寬螢幕</PresentationFormat>
  <Paragraphs>125</Paragraphs>
  <Slides>10</Slides>
  <Notes>3</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10</vt:i4>
      </vt:variant>
    </vt:vector>
  </HeadingPairs>
  <TitlesOfParts>
    <vt:vector size="24" baseType="lpstr">
      <vt:lpstr>等线</vt:lpstr>
      <vt:lpstr>等线 Light</vt:lpstr>
      <vt:lpstr>Microsoft YaHei</vt:lpstr>
      <vt:lpstr>微軟正黑體</vt:lpstr>
      <vt:lpstr>思源黑体 CN Heavy</vt:lpstr>
      <vt:lpstr>思源黑体 CN Normal</vt:lpstr>
      <vt:lpstr>思源黑体 CN Regular</vt:lpstr>
      <vt:lpstr>新細明體</vt:lpstr>
      <vt:lpstr>Arial</vt:lpstr>
      <vt:lpstr>Calibri</vt:lpstr>
      <vt:lpstr>Calibri Light</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《電腦安全截圖》</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伸文獻</dc:creator>
  <cp:lastModifiedBy>Lanying</cp:lastModifiedBy>
  <cp:revision>100</cp:revision>
  <dcterms:created xsi:type="dcterms:W3CDTF">2024-11-13T08:42:53Z</dcterms:created>
  <dcterms:modified xsi:type="dcterms:W3CDTF">2025-11-03T02:36:51Z</dcterms:modified>
</cp:coreProperties>
</file>